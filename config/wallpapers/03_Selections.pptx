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wmf" ContentType="image/x-wmf"/>
  <Default Extension="emf" ContentType="image/x-emf"/>
  <Default Extension="rels" ContentType="application/vnd.openxmlformats-package.relationships+xml"/>
  <Default Extension="xml" ContentType="application/xml"/>
  <Default Extension="fntdata" ContentType="application/x-fontdata"/>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68"/>
  </p:notesMasterIdLst>
  <p:handoutMasterIdLst>
    <p:handoutMasterId r:id="rId69"/>
  </p:handoutMasterIdLst>
  <p:sldIdLst>
    <p:sldId id="330" r:id="rId6"/>
    <p:sldId id="408" r:id="rId7"/>
    <p:sldId id="409" r:id="rId8"/>
    <p:sldId id="410" r:id="rId9"/>
    <p:sldId id="411" r:id="rId10"/>
    <p:sldId id="412" r:id="rId11"/>
    <p:sldId id="413" r:id="rId12"/>
    <p:sldId id="414" r:id="rId13"/>
    <p:sldId id="415" r:id="rId14"/>
    <p:sldId id="416" r:id="rId15"/>
    <p:sldId id="417" r:id="rId16"/>
    <p:sldId id="418" r:id="rId17"/>
    <p:sldId id="419" r:id="rId18"/>
    <p:sldId id="420" r:id="rId19"/>
    <p:sldId id="421" r:id="rId20"/>
    <p:sldId id="422" r:id="rId21"/>
    <p:sldId id="423" r:id="rId22"/>
    <p:sldId id="424" r:id="rId23"/>
    <p:sldId id="425" r:id="rId24"/>
    <p:sldId id="426" r:id="rId25"/>
    <p:sldId id="427" r:id="rId26"/>
    <p:sldId id="428" r:id="rId27"/>
    <p:sldId id="429" r:id="rId28"/>
    <p:sldId id="430" r:id="rId29"/>
    <p:sldId id="431" r:id="rId30"/>
    <p:sldId id="432" r:id="rId31"/>
    <p:sldId id="433" r:id="rId32"/>
    <p:sldId id="434" r:id="rId33"/>
    <p:sldId id="435" r:id="rId34"/>
    <p:sldId id="436" r:id="rId35"/>
    <p:sldId id="437" r:id="rId36"/>
    <p:sldId id="438" r:id="rId37"/>
    <p:sldId id="439" r:id="rId38"/>
    <p:sldId id="440" r:id="rId39"/>
    <p:sldId id="441" r:id="rId40"/>
    <p:sldId id="442" r:id="rId41"/>
    <p:sldId id="443" r:id="rId42"/>
    <p:sldId id="444" r:id="rId43"/>
    <p:sldId id="446" r:id="rId44"/>
    <p:sldId id="447" r:id="rId45"/>
    <p:sldId id="473" r:id="rId46"/>
    <p:sldId id="449" r:id="rId47"/>
    <p:sldId id="474" r:id="rId48"/>
    <p:sldId id="451" r:id="rId49"/>
    <p:sldId id="452" r:id="rId50"/>
    <p:sldId id="453" r:id="rId51"/>
    <p:sldId id="454" r:id="rId52"/>
    <p:sldId id="455" r:id="rId53"/>
    <p:sldId id="456" r:id="rId54"/>
    <p:sldId id="458" r:id="rId55"/>
    <p:sldId id="459" r:id="rId56"/>
    <p:sldId id="460" r:id="rId57"/>
    <p:sldId id="472" r:id="rId58"/>
    <p:sldId id="463" r:id="rId59"/>
    <p:sldId id="464" r:id="rId60"/>
    <p:sldId id="465" r:id="rId61"/>
    <p:sldId id="466" r:id="rId62"/>
    <p:sldId id="467" r:id="rId63"/>
    <p:sldId id="468" r:id="rId64"/>
    <p:sldId id="470" r:id="rId65"/>
    <p:sldId id="471" r:id="rId66"/>
    <p:sldId id="298" r:id="rId67"/>
  </p:sldIdLst>
  <p:sldSz cx="9144000" cy="6858000" type="screen4x3"/>
  <p:notesSz cx="6858000" cy="9144000"/>
  <p:embeddedFontLst>
    <p:embeddedFont>
      <p:font typeface="Noto Sans Symbols" panose="020B0604020202020204" charset="0"/>
      <p:regular r:id="rId70"/>
    </p:embeddedFont>
    <p:embeddedFont>
      <p:font typeface="Verdana" panose="020B0604030504040204" pitchFamily="3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42"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guide id="8" pos="272" userDrawn="1">
          <p15:clr>
            <a:srgbClr val="A4A3A4"/>
          </p15:clr>
        </p15:guide>
        <p15:guide id="9" pos="5465" userDrawn="1">
          <p15:clr>
            <a:srgbClr val="A4A3A4"/>
          </p15:clr>
        </p15:guide>
        <p15:guide id="10" orient="horz" pos="98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3A3A"/>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90834" autoAdjust="0"/>
  </p:normalViewPr>
  <p:slideViewPr>
    <p:cSldViewPr snapToGrid="0" snapToObjects="1">
      <p:cViewPr varScale="1">
        <p:scale>
          <a:sx n="104" d="100"/>
          <a:sy n="104" d="100"/>
        </p:scale>
        <p:origin x="1962" y="114"/>
      </p:cViewPr>
      <p:guideLst>
        <p:guide orient="horz" pos="4042"/>
        <p:guide orient="horz" pos="4178"/>
        <p:guide orient="horz" pos="119"/>
        <p:guide orient="horz" pos="709"/>
        <p:guide orient="horz" pos="1071"/>
        <p:guide pos="635"/>
        <p:guide pos="272"/>
        <p:guide pos="5465"/>
        <p:guide orient="horz" pos="981"/>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notesMaster" Target="notesMasters/notesMaster1.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font" Target="fonts/font5.fntdata"/><Relationship Id="rId79" Type="http://schemas.openxmlformats.org/officeDocument/2006/relationships/tableStyles" Target="tableStyle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handoutMaster" Target="handoutMasters/handoutMaster1.xml"/><Relationship Id="rId77"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font" Target="fonts/font1.fntdata"/><Relationship Id="rId7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font" Target="fonts/font4.fntdata"/><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presProps" Target="presProps.xml"/><Relationship Id="rId7" Type="http://schemas.openxmlformats.org/officeDocument/2006/relationships/slide" Target="slides/slide2.xml"/><Relationship Id="rId71" Type="http://schemas.openxmlformats.org/officeDocument/2006/relationships/font" Target="fonts/font2.fntdata"/><Relationship Id="rId2" Type="http://schemas.openxmlformats.org/officeDocument/2006/relationships/customXml" Target="../customXml/item2.xml"/><Relationship Id="rId29" Type="http://schemas.openxmlformats.org/officeDocument/2006/relationships/slide" Target="slides/slide2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4" Type="http://schemas.openxmlformats.org/officeDocument/2006/relationships/image" Target="../media/image3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12/10/2023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liveexample.pearsoncmg.com/html/AdditionQuiz.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liveexample.pearsoncmg.com/html/SimpleIfDemo.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iveexample.pearsoncmg.com/html/SubtractionQuiz.html"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liveexample.pearsoncmg.com/html/LeapYear.html"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AdditionQuiz</a:t>
            </a:r>
            <a:r>
              <a:rPr lang="en-US" dirty="0"/>
              <a:t>: </a:t>
            </a:r>
            <a:r>
              <a:rPr lang="en-US" dirty="0">
                <a:hlinkClick r:id="rId3"/>
              </a:rPr>
              <a:t>https://liveexample.pearsoncmg.com/html/AdditionQuiz.html</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659957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box is labeled as left parenthesis radius greater than equal to 0 right parenthesis. If true, then compute area = radius times radius times P I; </a:t>
            </a:r>
            <a:r>
              <a:rPr lang="en-US" dirty="0" err="1"/>
              <a:t>System.out.printIn</a:t>
            </a:r>
            <a:r>
              <a:rPr lang="en-US" dirty="0"/>
              <a:t> left parenthesis double quotes open The area for the circle of double quotes close + double quotes open radius double quotes close + radius + double quotes open is double quotes close + area right parenthesis;. If false, then go to the step after the compute box.</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994911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if </a:t>
            </a:r>
            <a:r>
              <a:rPr lang="en-US" dirty="0" err="1"/>
              <a:t>i</a:t>
            </a:r>
            <a:r>
              <a:rPr lang="en-US" dirty="0"/>
              <a:t> is greater than 0 open curly bracket </a:t>
            </a:r>
            <a:r>
              <a:rPr lang="en-US" dirty="0" err="1"/>
              <a:t>System.out.printIn</a:t>
            </a:r>
            <a:r>
              <a:rPr lang="en-US" dirty="0"/>
              <a:t> left parenthesis double quotes open </a:t>
            </a:r>
            <a:r>
              <a:rPr lang="en-US" dirty="0" err="1"/>
              <a:t>i</a:t>
            </a:r>
            <a:r>
              <a:rPr lang="en-US" dirty="0"/>
              <a:t> is positive double quotes close right parenthesis; close curly bracket.</a:t>
            </a:r>
          </a:p>
          <a:p>
            <a:r>
              <a:rPr lang="en-US" dirty="0"/>
              <a:t>b. Correct. If left parenthesis </a:t>
            </a:r>
            <a:r>
              <a:rPr lang="en-US" dirty="0" err="1"/>
              <a:t>i</a:t>
            </a:r>
            <a:r>
              <a:rPr lang="en-US" dirty="0"/>
              <a:t> greater than 0 right parenthesis. The parentheses are highlighted. Open curly parenthesis </a:t>
            </a:r>
            <a:r>
              <a:rPr lang="en-US" dirty="0" err="1"/>
              <a:t>System.out.printIn</a:t>
            </a:r>
            <a:r>
              <a:rPr lang="en-US" dirty="0"/>
              <a:t> left parenthesis double quotes open </a:t>
            </a:r>
            <a:r>
              <a:rPr lang="en-US" dirty="0" err="1"/>
              <a:t>i</a:t>
            </a:r>
            <a:r>
              <a:rPr lang="en-US" dirty="0"/>
              <a:t> is positive double quotes close right parenthesis; close curly bracket.</a:t>
            </a:r>
          </a:p>
          <a:p>
            <a:endParaRPr lang="en-IN" dirty="0"/>
          </a:p>
          <a:p>
            <a:r>
              <a:rPr lang="en-US" dirty="0"/>
              <a:t>a. if left parenthesis </a:t>
            </a:r>
            <a:r>
              <a:rPr lang="en-US" dirty="0" err="1"/>
              <a:t>i</a:t>
            </a:r>
            <a:r>
              <a:rPr lang="en-US" dirty="0"/>
              <a:t> is greater than 0 right parenthesis. Open curly bracket </a:t>
            </a:r>
            <a:r>
              <a:rPr lang="en-US" dirty="0" err="1"/>
              <a:t>System.out.printIn</a:t>
            </a:r>
            <a:r>
              <a:rPr lang="en-US" dirty="0"/>
              <a:t> left parenthesis double quotes open </a:t>
            </a:r>
            <a:r>
              <a:rPr lang="en-US" dirty="0" err="1"/>
              <a:t>i</a:t>
            </a:r>
            <a:r>
              <a:rPr lang="en-US" dirty="0"/>
              <a:t> is positive double quotes close right parenthesis; close curly bracket. The curly brackets are highlighted.</a:t>
            </a:r>
          </a:p>
          <a:p>
            <a:r>
              <a:rPr lang="en-US" dirty="0"/>
              <a:t>b. If left parenthesis </a:t>
            </a:r>
            <a:r>
              <a:rPr lang="en-US" dirty="0" err="1"/>
              <a:t>i</a:t>
            </a:r>
            <a:r>
              <a:rPr lang="en-US" dirty="0"/>
              <a:t> greater than 0 right parenthesis. </a:t>
            </a:r>
            <a:r>
              <a:rPr lang="en-US" dirty="0" err="1"/>
              <a:t>System.out.printIn</a:t>
            </a:r>
            <a:r>
              <a:rPr lang="en-US" dirty="0"/>
              <a:t> left parenthesis double quotes open </a:t>
            </a:r>
            <a:r>
              <a:rPr lang="en-US" dirty="0" err="1"/>
              <a:t>i</a:t>
            </a:r>
            <a:r>
              <a:rPr lang="en-US" dirty="0"/>
              <a:t> is positive double quotes close right parenthesis; close curly bracket.</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15450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SimpleIfDemo</a:t>
            </a:r>
            <a:r>
              <a:rPr lang="en-US" dirty="0"/>
              <a:t>: </a:t>
            </a:r>
            <a:r>
              <a:rPr lang="en-US" dirty="0">
                <a:hlinkClick r:id="rId3"/>
              </a:rPr>
              <a:t>https://liveexample.pearsoncmg.com/html/SimpleIfDemo.html</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03424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left parenthesis score greater than equal to 90.0 right parenthesis</a:t>
            </a:r>
          </a:p>
          <a:p>
            <a:r>
              <a:rPr lang="en-US" dirty="0" err="1"/>
              <a:t>System.out.print</a:t>
            </a:r>
            <a:r>
              <a:rPr lang="en-US" dirty="0"/>
              <a:t> left parenthesis double quotes open A double quotes close right parenthesis;</a:t>
            </a:r>
          </a:p>
          <a:p>
            <a:r>
              <a:rPr lang="en-US" dirty="0"/>
              <a:t>else</a:t>
            </a:r>
          </a:p>
          <a:p>
            <a:r>
              <a:rPr lang="en-US" dirty="0"/>
              <a:t>if left parenthesis score greater than equal to 80.0 right parenthesis </a:t>
            </a:r>
            <a:r>
              <a:rPr lang="en-US" dirty="0" err="1"/>
              <a:t>System.out.print</a:t>
            </a:r>
            <a:r>
              <a:rPr lang="en-US" dirty="0"/>
              <a:t> left parenthesis double quotes open B double quotes close right parenthesis;</a:t>
            </a:r>
          </a:p>
          <a:p>
            <a:r>
              <a:rPr lang="en-US" dirty="0"/>
              <a:t>else</a:t>
            </a:r>
          </a:p>
          <a:p>
            <a:r>
              <a:rPr lang="en-US" dirty="0"/>
              <a:t>if left parenthesis score greater than equal to 70.0 right parenthesis </a:t>
            </a:r>
            <a:r>
              <a:rPr lang="en-US" dirty="0" err="1"/>
              <a:t>System.out.print</a:t>
            </a:r>
            <a:r>
              <a:rPr lang="en-US" dirty="0"/>
              <a:t> left parenthesis double quotes open C double quotes close right parenthesis;</a:t>
            </a:r>
          </a:p>
          <a:p>
            <a:r>
              <a:rPr lang="en-US" dirty="0"/>
              <a:t>else</a:t>
            </a:r>
          </a:p>
          <a:p>
            <a:r>
              <a:rPr lang="en-US" dirty="0"/>
              <a:t>if left parenthesis score greater than equal to 60.0 right parenthesis </a:t>
            </a:r>
            <a:r>
              <a:rPr lang="en-US" dirty="0" err="1"/>
              <a:t>System.out.print</a:t>
            </a:r>
            <a:r>
              <a:rPr lang="en-US" dirty="0"/>
              <a:t> left parenthesis double quotes open D double quotes close right parenthesis;</a:t>
            </a:r>
          </a:p>
          <a:p>
            <a:r>
              <a:rPr lang="en-US" dirty="0"/>
              <a:t>else</a:t>
            </a:r>
          </a:p>
          <a:p>
            <a:r>
              <a:rPr lang="en-US" dirty="0" err="1"/>
              <a:t>System.out.print</a:t>
            </a:r>
            <a:r>
              <a:rPr lang="en-US" dirty="0"/>
              <a:t> left parenthesis double quotes open F double quotes close right parenthesis;</a:t>
            </a:r>
          </a:p>
          <a:p>
            <a:r>
              <a:rPr lang="en-US" dirty="0"/>
              <a:t>It is equivalent to the following:</a:t>
            </a:r>
          </a:p>
          <a:p>
            <a:r>
              <a:rPr lang="en-US" dirty="0"/>
              <a:t>if left parenthesis score greater than equal to 90.0 right parenthesis </a:t>
            </a:r>
            <a:r>
              <a:rPr lang="en-US" dirty="0" err="1"/>
              <a:t>System.out.print</a:t>
            </a:r>
            <a:r>
              <a:rPr lang="en-US" dirty="0"/>
              <a:t> left parenthesis double quotes open A double quotes close right parenthesis;</a:t>
            </a:r>
          </a:p>
          <a:p>
            <a:r>
              <a:rPr lang="en-US" dirty="0"/>
              <a:t>else if left parenthesis score greater than equal to 80.0 right parenthesis </a:t>
            </a:r>
            <a:r>
              <a:rPr lang="en-US" dirty="0" err="1"/>
              <a:t>System.out.print</a:t>
            </a:r>
            <a:r>
              <a:rPr lang="en-US" dirty="0"/>
              <a:t> left parenthesis double quotes open B double quotes close right parenthesis;</a:t>
            </a:r>
          </a:p>
          <a:p>
            <a:r>
              <a:rPr lang="en-US" dirty="0"/>
              <a:t>else if left parenthesis score greater than equal to 70.0 right parenthesis </a:t>
            </a:r>
            <a:r>
              <a:rPr lang="en-US" dirty="0" err="1"/>
              <a:t>System.out.print</a:t>
            </a:r>
            <a:r>
              <a:rPr lang="en-US" dirty="0"/>
              <a:t> left parenthesis double quotes open C double quotes close right parenthesis;</a:t>
            </a:r>
          </a:p>
          <a:p>
            <a:r>
              <a:rPr lang="en-US" dirty="0"/>
              <a:t>else if left parenthesis score greater than equal to 60.0 right parenthesis </a:t>
            </a:r>
            <a:r>
              <a:rPr lang="en-US" dirty="0" err="1"/>
              <a:t>System.out.print</a:t>
            </a:r>
            <a:r>
              <a:rPr lang="en-US" dirty="0"/>
              <a:t> left parenthesis double quotes open D double quotes close right parenthesis;</a:t>
            </a:r>
          </a:p>
          <a:p>
            <a:r>
              <a:rPr lang="en-US" dirty="0"/>
              <a:t>else </a:t>
            </a:r>
          </a:p>
          <a:p>
            <a:r>
              <a:rPr lang="en-US" dirty="0" err="1"/>
              <a:t>System.out.print</a:t>
            </a:r>
            <a:r>
              <a:rPr lang="en-US" dirty="0"/>
              <a:t> left parenthesis double quotes open F double quotes close right parenthesis;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021100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chart starts from a point and moves to a decision box labeled, score greater than equal to 90. If true, grade is A. If false, score greater than equal to 80. If true, grade is B. If false, score greater than equal to 70. If true, grade is C. If false, score greater than equal to 60. If true, grade is D. If false, grade is F. </a:t>
            </a:r>
          </a:p>
          <a:p>
            <a:r>
              <a:rPr lang="en-US" dirty="0"/>
              <a:t>All the compute boxes merge with the compute box labeled grade is A and all of them together reach the ending point.</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70579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left parenthesis </a:t>
            </a:r>
            <a:r>
              <a:rPr lang="en-US" dirty="0" err="1"/>
              <a:t>i</a:t>
            </a:r>
            <a:r>
              <a:rPr lang="en-US" dirty="0"/>
              <a:t> greater than j right parenthesis</a:t>
            </a:r>
          </a:p>
          <a:p>
            <a:r>
              <a:rPr lang="en-US" dirty="0"/>
              <a:t>if left parenthesis </a:t>
            </a:r>
            <a:r>
              <a:rPr lang="en-US" dirty="0" err="1"/>
              <a:t>i</a:t>
            </a:r>
            <a:r>
              <a:rPr lang="en-US" dirty="0"/>
              <a:t> greater than k right parenthesis </a:t>
            </a:r>
            <a:r>
              <a:rPr lang="en-US" dirty="0" err="1"/>
              <a:t>System.out.printIn</a:t>
            </a:r>
            <a:r>
              <a:rPr lang="en-US" dirty="0"/>
              <a:t> left parenthesis double quotes open A double quotes close right parenthesis;</a:t>
            </a:r>
          </a:p>
          <a:p>
            <a:r>
              <a:rPr lang="en-US" dirty="0"/>
              <a:t>else</a:t>
            </a:r>
          </a:p>
          <a:p>
            <a:r>
              <a:rPr lang="en-US" dirty="0" err="1"/>
              <a:t>System.out.printIn</a:t>
            </a:r>
            <a:r>
              <a:rPr lang="en-US" dirty="0"/>
              <a:t> left parenthesis double quotes open A double quotes close right parenthesis;</a:t>
            </a:r>
          </a:p>
          <a:p>
            <a:r>
              <a:rPr lang="en-US" dirty="0"/>
              <a:t>It is equivalent to the following:</a:t>
            </a:r>
          </a:p>
          <a:p>
            <a:r>
              <a:rPr lang="en-US" dirty="0"/>
              <a:t>int </a:t>
            </a:r>
            <a:r>
              <a:rPr lang="en-US" dirty="0" err="1"/>
              <a:t>i</a:t>
            </a:r>
            <a:r>
              <a:rPr lang="en-US" dirty="0"/>
              <a:t> = 1, j = 2, k = 3; </a:t>
            </a:r>
          </a:p>
          <a:p>
            <a:r>
              <a:rPr lang="en-US" dirty="0"/>
              <a:t>if left parenthesis </a:t>
            </a:r>
            <a:r>
              <a:rPr lang="en-US" dirty="0" err="1"/>
              <a:t>i</a:t>
            </a:r>
            <a:r>
              <a:rPr lang="en-US" dirty="0"/>
              <a:t> greater than j right parenthesis</a:t>
            </a:r>
          </a:p>
          <a:p>
            <a:r>
              <a:rPr lang="en-US" dirty="0"/>
              <a:t>if left parenthesis </a:t>
            </a:r>
            <a:r>
              <a:rPr lang="en-US" dirty="0" err="1"/>
              <a:t>i</a:t>
            </a:r>
            <a:r>
              <a:rPr lang="en-US" dirty="0"/>
              <a:t> greater than k right parenthesis </a:t>
            </a:r>
            <a:r>
              <a:rPr lang="en-US" dirty="0" err="1"/>
              <a:t>System.out.printIn</a:t>
            </a:r>
            <a:r>
              <a:rPr lang="en-US" dirty="0"/>
              <a:t> left parenthesis double quotes open A double quotes close right parenthesis;</a:t>
            </a:r>
          </a:p>
          <a:p>
            <a:r>
              <a:rPr lang="en-US" dirty="0"/>
              <a:t>else</a:t>
            </a:r>
          </a:p>
          <a:p>
            <a:r>
              <a:rPr lang="en-US" dirty="0" err="1"/>
              <a:t>System.out.printIn</a:t>
            </a:r>
            <a:r>
              <a:rPr lang="en-US" dirty="0"/>
              <a:t> left parenthesis double quotes open double quotes close right parenthesis;</a:t>
            </a:r>
          </a:p>
          <a:p>
            <a:r>
              <a:rPr lang="en-US" dirty="0"/>
              <a:t>An arrow points to the second case. The arrow is labeled This is better with correct indentation.</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181719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left brace</a:t>
            </a:r>
          </a:p>
          <a:p>
            <a:r>
              <a:rPr lang="en-IN" dirty="0"/>
              <a:t>area = radius times radius time pi semi colon</a:t>
            </a:r>
          </a:p>
          <a:p>
            <a:r>
              <a:rPr lang="en-IN" dirty="0" err="1"/>
              <a:t>System.out.println</a:t>
            </a:r>
            <a:r>
              <a:rPr lang="en-IN" dirty="0"/>
              <a:t> left parenthesis</a:t>
            </a:r>
          </a:p>
          <a:p>
            <a:r>
              <a:rPr lang="en-IN" dirty="0"/>
              <a:t>start quotation marks The area for the circle of radius end quotation marks + radius + start quotation marks is end quotation marks + area right parenthesis semi colon</a:t>
            </a:r>
          </a:p>
          <a:p>
            <a:r>
              <a:rPr lang="en-IN" dirty="0"/>
              <a:t>right brace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4326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a</a:t>
            </a:r>
          </a:p>
          <a:p>
            <a:r>
              <a:rPr lang="en-US" dirty="0"/>
              <a:t>if left parenthesis even is equal to true right parenthesis. </a:t>
            </a:r>
          </a:p>
          <a:p>
            <a:r>
              <a:rPr lang="en-US" dirty="0" err="1"/>
              <a:t>System.out.printIn</a:t>
            </a:r>
            <a:r>
              <a:rPr lang="en-US" dirty="0"/>
              <a:t> left parenthesis double quotes It is even. Double quotes right parenthesis;</a:t>
            </a:r>
          </a:p>
          <a:p>
            <a:r>
              <a:rPr lang="en-US" dirty="0"/>
              <a:t>Image b</a:t>
            </a:r>
          </a:p>
          <a:p>
            <a:r>
              <a:rPr lang="en-US" dirty="0"/>
              <a:t>if left parenthesis even right parenthesis</a:t>
            </a:r>
          </a:p>
          <a:p>
            <a:r>
              <a:rPr lang="en-US" dirty="0" err="1"/>
              <a:t>System.out.printIn</a:t>
            </a:r>
            <a:r>
              <a:rPr lang="en-US" dirty="0"/>
              <a:t> left parenthesis double quotes It is even. double quotes right parenthesis;</a:t>
            </a:r>
          </a:p>
          <a:p>
            <a:r>
              <a:rPr lang="en-US" dirty="0"/>
              <a:t>A double line between both the images is labeled, Equivalent.</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33174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B M I: B M I less than 18.5. Interpretation: Underweight.</a:t>
            </a:r>
          </a:p>
          <a:p>
            <a:r>
              <a:rPr lang="en-US" dirty="0"/>
              <a:t>Row 2. B M I: 18.5 less than equal to B M I less than 25.0. Interpretation: Normal.</a:t>
            </a:r>
          </a:p>
          <a:p>
            <a:r>
              <a:rPr lang="en-US" dirty="0"/>
              <a:t>Row 3. B M I: 25.0 less than equal to B M I less than 30.0. Interpretation: Overweight.</a:t>
            </a:r>
          </a:p>
          <a:p>
            <a:r>
              <a:rPr lang="en-US" dirty="0"/>
              <a:t>Row 2. B M I: B M I is greater than equal to 30.0. Interpretation: Obese.</a:t>
            </a:r>
          </a:p>
          <a:p>
            <a:r>
              <a:rPr lang="en-US" dirty="0"/>
              <a:t>Compute And Interpret B M I are written together without any gaps between the words.</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00314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SubtractionQuiz</a:t>
            </a:r>
            <a:r>
              <a:rPr lang="en-US" dirty="0"/>
              <a:t>: </a:t>
            </a:r>
            <a:r>
              <a:rPr lang="en-US" dirty="0">
                <a:hlinkClick r:id="rId3"/>
              </a:rPr>
              <a:t>https://liveexample.pearsoncmg.com/html/SubtractionQuiz.html</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20324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ComputeAndInterpretBMI</a:t>
            </a:r>
            <a:r>
              <a:rPr lang="en-US" dirty="0"/>
              <a: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51850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ComputeTax</a:t>
            </a:r>
            <a:r>
              <a:rPr lang="en-US" dirty="0"/>
              <a: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592436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TestBooleanOperators</a:t>
            </a:r>
            <a:r>
              <a:rPr lang="en-US" dirty="0"/>
              <a:t>:</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51385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LeapYear</a:t>
            </a:r>
            <a:r>
              <a:rPr lang="en-US" dirty="0"/>
              <a:t>: </a:t>
            </a:r>
            <a:r>
              <a:rPr lang="en-US" dirty="0">
                <a:hlinkClick r:id="rId3"/>
              </a:rPr>
              <a:t>https://liveexample.pearsoncmg.com/html/LeapYear.html</a:t>
            </a:r>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291372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arrow starts from a point and moves to a decision box. If the status is 0, Compute tax for single filers, that leads to break.</a:t>
            </a:r>
          </a:p>
          <a:p>
            <a:r>
              <a:rPr lang="en-US" dirty="0"/>
              <a:t>If not, then move to status 1. If status is 1, Compute tax for married jointly or qualifying widow or widower, that leads to break.</a:t>
            </a:r>
          </a:p>
          <a:p>
            <a:r>
              <a:rPr lang="en-US" dirty="0"/>
              <a:t>If not, then move to status 2. If status is 2, Compute tax for married filing separately, that leads to break.</a:t>
            </a:r>
          </a:p>
          <a:p>
            <a:r>
              <a:rPr lang="en-US" dirty="0"/>
              <a:t>If not, then move to status 3. If status is 3, Compute tax for head of household, that leads to break.</a:t>
            </a:r>
          </a:p>
          <a:p>
            <a:r>
              <a:rPr lang="en-US" dirty="0"/>
              <a:t>if not, then move to default. If default, it leads to Default actions, that leads to the end point.</a:t>
            </a:r>
          </a:p>
          <a:p>
            <a:r>
              <a:rPr lang="en-US" dirty="0"/>
              <a:t>All the break points lead to the end point.</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587696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 expression is connected to switch left parenthesis switch expression right parenthesis open curly brackets.</a:t>
            </a:r>
          </a:p>
          <a:p>
            <a:r>
              <a:rPr lang="en-US" dirty="0"/>
              <a:t>The value1, ..., and value N must have the same data type as the value of the switch-expression. The resulting statements in the case statement are executed when the value in the case statement matches the value of the switch-expression. Note that value 1, ..., and value N are constant expressions, meaning that they cannot contain variables in the expression, such as 1 + x. </a:t>
            </a:r>
          </a:p>
          <a:p>
            <a:r>
              <a:rPr lang="en-US" dirty="0"/>
              <a:t>Value N is connected to case value 1: statement or statements 1; break.</a:t>
            </a:r>
          </a:p>
          <a:p>
            <a:r>
              <a:rPr lang="en-US" dirty="0"/>
              <a:t>It is also connected to case value 2: statement or statements 2; break.</a:t>
            </a:r>
          </a:p>
          <a:p>
            <a:r>
              <a:rPr lang="en-US" dirty="0"/>
              <a:t>it is also connected to case value N: statement or statements N; break; default: statement or statements for default; close curly bracket.</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0404726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keyword break is optional, but it should be used at the end of each case in order to terminate the remainder of the switch statement. If the break statement is not present, the next case statement will be executed. It is connected to switch left parenthesis switch-expression right parenthesis open curly bracket case value 1: statement or statement 1; break; case value 2: statement or statements 2; break; ... case value N: statement or statements N; break;</a:t>
            </a:r>
          </a:p>
          <a:p>
            <a:r>
              <a:rPr lang="en-US" dirty="0"/>
              <a:t>The default case, which is optional, can be used to perform actions when none of the specified cases matches the switch-expression is connected to default: statement or statements -for-default; close curly bracket.</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170065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1. 3 + 4 times 4 greater than 5 times left parenthesis 4 + 3 right parenthesis minus 1. The plus sign in the brackets is labeled, 1. inside parenthesis first.</a:t>
            </a:r>
          </a:p>
          <a:p>
            <a:r>
              <a:rPr lang="en-US" dirty="0"/>
              <a:t>Row 2. 3 + 4 times 4 greater than 5 times 7 minus 1. The multiplication symbol between the two 4s is labeled as, 2. multiplication.</a:t>
            </a:r>
          </a:p>
          <a:p>
            <a:r>
              <a:rPr lang="en-US" dirty="0"/>
              <a:t>Row 3. 3 + 16 greater than 5 times 7 minus 1. The multiplication symbol between 5 and 7 is labeled as, 3. multiplication.</a:t>
            </a:r>
          </a:p>
          <a:p>
            <a:r>
              <a:rPr lang="en-US" dirty="0"/>
              <a:t>Row 4. 3 + 16 greater than 35 minus 1. The plus sign between 3 and 16 is labeled, 4. addition.</a:t>
            </a:r>
          </a:p>
          <a:p>
            <a:r>
              <a:rPr lang="en-US" dirty="0"/>
              <a:t>Row 5. 19 greater than 35 minus 1. The minus sign between 35 and 1 is labeled as, 5. Subtraction.</a:t>
            </a:r>
          </a:p>
          <a:p>
            <a:r>
              <a:rPr lang="en-US" dirty="0"/>
              <a:t>Row 6. 19 greater than 34. The greater than symbol between 19 and 34 is labeled as, 6. greater than.</a:t>
            </a:r>
          </a:p>
          <a:p>
            <a:r>
              <a:rPr lang="en-US" dirty="0"/>
              <a:t>Row 7. false.</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81767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62</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7.xml.rels><?xml version="1.0" encoding="UTF-8" standalone="yes"?>
<Relationships xmlns="http://schemas.openxmlformats.org/package/2006/relationships"><Relationship Id="rId3" Type="http://schemas.openxmlformats.org/officeDocument/2006/relationships/hyperlink" Target="https://liveexample.pearsoncmg.com/html/AdditionQuiz.html" TargetMode="External"/><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hyperlink" Target="https://liveexample.pearsoncmg.com/html/SimpleIfDemo.html" TargetMode="External"/><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0.xml"/><Relationship Id="rId1" Type="http://schemas.openxmlformats.org/officeDocument/2006/relationships/vmlDrawing" Target="../drawings/vmlDrawing2.vml"/><Relationship Id="rId6" Type="http://schemas.openxmlformats.org/officeDocument/2006/relationships/hyperlink" Target="https://liveexample.pearsoncmg.com/html/SubtractionQuiz.html" TargetMode="External"/><Relationship Id="rId5" Type="http://schemas.openxmlformats.org/officeDocument/2006/relationships/image" Target="../media/image22.wmf"/><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3" Type="http://schemas.openxmlformats.org/officeDocument/2006/relationships/hyperlink" Target="https://liveexample.pearsoncmg.com/html/SubtractionQuiz.html"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hyperlink" Target="https://liveexample.pearsoncmg.com/html/SubtractionQuiz.html" TargetMode="External"/><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liveexample.pearsoncmg.com/html/SubtractionQuiz.html" TargetMode="External"/><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hyperlink" Target="https://liveexample.pearsoncmg.com/html/SubtractionQuiz.html" TargetMode="Externa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liveexample.pearsoncmg.com/html/LeapYear.html" TargetMode="External"/><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9.xml"/><Relationship Id="rId1" Type="http://schemas.openxmlformats.org/officeDocument/2006/relationships/vmlDrawing" Target="../drawings/vmlDrawing3.vml"/><Relationship Id="rId6" Type="http://schemas.openxmlformats.org/officeDocument/2006/relationships/image" Target="../media/image34.wmf"/><Relationship Id="rId5" Type="http://schemas.openxmlformats.org/officeDocument/2006/relationships/oleObject" Target="../embeddings/oleObject6.bin"/><Relationship Id="rId10" Type="http://schemas.openxmlformats.org/officeDocument/2006/relationships/image" Target="../media/image36.wmf"/><Relationship Id="rId4" Type="http://schemas.openxmlformats.org/officeDocument/2006/relationships/image" Target="../media/image33.wmf"/><Relationship Id="rId9" Type="http://schemas.openxmlformats.org/officeDocument/2006/relationships/oleObject" Target="../embeddings/oleObject8.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9.xml"/><Relationship Id="rId1" Type="http://schemas.openxmlformats.org/officeDocument/2006/relationships/vmlDrawing" Target="../drawings/vmlDrawing4.vml"/><Relationship Id="rId6" Type="http://schemas.openxmlformats.org/officeDocument/2006/relationships/image" Target="../media/image38.emf"/><Relationship Id="rId5" Type="http://schemas.openxmlformats.org/officeDocument/2006/relationships/image" Target="../media/image37.wmf"/><Relationship Id="rId4" Type="http://schemas.openxmlformats.org/officeDocument/2006/relationships/oleObject" Target="../embeddings/oleObject9.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xmlns="" val="1"/>
              </a:ext>
            </a:extLst>
          </p:cNvPr>
          <p:cNvSpPr>
            <a:spLocks noGrp="1"/>
          </p:cNvSpPr>
          <p:nvPr>
            <p:ph type="title"/>
          </p:nvPr>
        </p:nvSpPr>
        <p:spPr>
          <a:xfrm>
            <a:off x="457199" y="143692"/>
            <a:ext cx="8055205" cy="987333"/>
          </a:xfrm>
        </p:spPr>
        <p:txBody>
          <a:bodyPr anchor="ctr"/>
          <a:lstStyle/>
          <a:p>
            <a:r>
              <a:rPr lang="en-US" sz="3000" dirty="0"/>
              <a:t>Introduction to Java Programming and Data Structures</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xmlns="" val="1"/>
              </a:ext>
            </a:extLst>
          </p:cNvPr>
          <p:cNvSpPr>
            <a:spLocks noGrp="1"/>
          </p:cNvSpPr>
          <p:nvPr>
            <p:ph type="body" idx="1"/>
          </p:nvPr>
        </p:nvSpPr>
        <p:spPr>
          <a:xfrm>
            <a:off x="457200" y="1212419"/>
            <a:ext cx="8229600" cy="413524"/>
          </a:xfrm>
        </p:spPr>
        <p:txBody>
          <a:bodyPr anchor="ctr"/>
          <a:lstStyle/>
          <a:p>
            <a:r>
              <a:rPr lang="en-US" dirty="0">
                <a:solidFill>
                  <a:schemeClr val="tx2"/>
                </a:solidFill>
              </a:rPr>
              <a:t>Thirteenth Edition</a:t>
            </a:r>
          </a:p>
        </p:txBody>
      </p:sp>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xmlns="" val="1"/>
              </a:ext>
            </a:extLst>
          </p:cNvPr>
          <p:cNvSpPr>
            <a:spLocks noGrp="1"/>
          </p:cNvSpPr>
          <p:nvPr>
            <p:ph sz="quarter" idx="14"/>
          </p:nvPr>
        </p:nvSpPr>
        <p:spPr>
          <a:xfrm>
            <a:off x="5029200" y="1906104"/>
            <a:ext cx="3657600" cy="1186345"/>
          </a:xfrm>
        </p:spPr>
        <p:txBody>
          <a:bodyPr/>
          <a:lstStyle/>
          <a:p>
            <a:pPr marL="0" algn="ctr"/>
            <a:r>
              <a:rPr lang="en-US" b="1" dirty="0">
                <a:latin typeface="+mn-lt"/>
              </a:rPr>
              <a:t>Chapter 3</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xmlns="" val="1"/>
              </a:ext>
            </a:extLst>
          </p:cNvPr>
          <p:cNvSpPr>
            <a:spLocks noGrp="1"/>
          </p:cNvSpPr>
          <p:nvPr>
            <p:ph sz="quarter" idx="15"/>
          </p:nvPr>
        </p:nvSpPr>
        <p:spPr>
          <a:xfrm>
            <a:off x="5029200" y="3252789"/>
            <a:ext cx="3657600" cy="1589177"/>
          </a:xfrm>
        </p:spPr>
        <p:txBody>
          <a:bodyPr/>
          <a:lstStyle/>
          <a:p>
            <a:r>
              <a:rPr lang="en-US" dirty="0"/>
              <a:t>Selections</a:t>
            </a:r>
          </a:p>
        </p:txBody>
      </p:sp>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xmlns=""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IN" dirty="0"/>
              <a:t>2024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3"/>
          <a:srcRect t="22152" b="22152"/>
          <a:stretch>
            <a:fillRect/>
          </a:stretch>
        </p:blipFill>
        <p:spPr>
          <a:xfrm>
            <a:off x="315677" y="6420639"/>
            <a:ext cx="1176574" cy="296443"/>
          </a:xfrm>
        </p:spPr>
      </p:pic>
      <p:pic>
        <p:nvPicPr>
          <p:cNvPr id="10" name="Picture 9" descr="Graphical user interface&#10;&#10;Description automatically generated">
            <a:extLst>
              <a:ext uri="{FF2B5EF4-FFF2-40B4-BE49-F238E27FC236}">
                <a16:creationId xmlns:a16="http://schemas.microsoft.com/office/drawing/2014/main" id="{A7FCB3B4-1337-40E3-B8A4-1DDFF7EC6D7A}"/>
              </a:ext>
            </a:extLst>
          </p:cNvPr>
          <p:cNvPicPr>
            <a:picLocks noChangeAspect="1"/>
          </p:cNvPicPr>
          <p:nvPr/>
        </p:nvPicPr>
        <p:blipFill>
          <a:blip r:embed="rId4"/>
          <a:stretch>
            <a:fillRect/>
          </a:stretch>
        </p:blipFill>
        <p:spPr>
          <a:xfrm>
            <a:off x="581108" y="1707337"/>
            <a:ext cx="3797134" cy="4523213"/>
          </a:xfrm>
          <a:prstGeom prst="rect">
            <a:avLst/>
          </a:prstGeom>
        </p:spPr>
      </p:pic>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Motivations</a:t>
            </a:r>
          </a:p>
        </p:txBody>
      </p:sp>
      <p:sp>
        <p:nvSpPr>
          <p:cNvPr id="3" name="Content Placeholder 2"/>
          <p:cNvSpPr>
            <a:spLocks noGrp="1"/>
          </p:cNvSpPr>
          <p:nvPr>
            <p:ph sz="quarter" idx="13"/>
          </p:nvPr>
        </p:nvSpPr>
        <p:spPr/>
        <p:txBody>
          <a:bodyPr/>
          <a:lstStyle/>
          <a:p>
            <a:pPr marL="432" indent="0">
              <a:buNone/>
            </a:pPr>
            <a:r>
              <a:rPr lang="en-IN" dirty="0"/>
              <a:t>If you assigned a negative value for </a:t>
            </a:r>
            <a:r>
              <a:rPr lang="en-IN" u="sng" dirty="0"/>
              <a:t>radius</a:t>
            </a:r>
            <a:r>
              <a:rPr lang="en-IN" dirty="0"/>
              <a:t> in Listing 2.2, ComputeAreaWithConsoleInput.java, the program would print an invalid result. If the radius is negative, you don't want the program to compute the area. How can you deal with this situation?</a:t>
            </a:r>
          </a:p>
        </p:txBody>
      </p:sp>
    </p:spTree>
    <p:extLst>
      <p:ext uri="{BB962C8B-B14F-4D97-AF65-F5344CB8AC3E}">
        <p14:creationId xmlns:p14="http://schemas.microsoft.com/office/powerpoint/2010/main" val="345209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63FD0-79D5-45AD-8C91-B982718C539A}"/>
              </a:ext>
            </a:extLst>
          </p:cNvPr>
          <p:cNvSpPr>
            <a:spLocks noGrp="1"/>
          </p:cNvSpPr>
          <p:nvPr>
            <p:ph type="title"/>
          </p:nvPr>
        </p:nvSpPr>
        <p:spPr/>
        <p:txBody>
          <a:bodyPr/>
          <a:lstStyle/>
          <a:p>
            <a:r>
              <a:rPr lang="en-IN" dirty="0"/>
              <a:t>Objectives </a:t>
            </a:r>
            <a:r>
              <a:rPr lang="en-IN" sz="2000" b="0" dirty="0"/>
              <a:t>(1 of 2)</a:t>
            </a:r>
            <a:endParaRPr lang="en-IN" b="0" dirty="0"/>
          </a:p>
        </p:txBody>
      </p:sp>
      <p:sp>
        <p:nvSpPr>
          <p:cNvPr id="3" name="Content Placeholder 2">
            <a:extLst>
              <a:ext uri="{FF2B5EF4-FFF2-40B4-BE49-F238E27FC236}">
                <a16:creationId xmlns:a16="http://schemas.microsoft.com/office/drawing/2014/main" id="{4C71A423-E640-44EB-8260-1919DC0CB4CA}"/>
              </a:ext>
            </a:extLst>
          </p:cNvPr>
          <p:cNvSpPr>
            <a:spLocks noGrp="1"/>
          </p:cNvSpPr>
          <p:nvPr>
            <p:ph sz="quarter" idx="13"/>
          </p:nvPr>
        </p:nvSpPr>
        <p:spPr>
          <a:xfrm>
            <a:off x="457200" y="1554920"/>
            <a:ext cx="8092911" cy="4663335"/>
          </a:xfrm>
        </p:spPr>
        <p:txBody>
          <a:bodyPr/>
          <a:lstStyle/>
          <a:p>
            <a:pPr marL="432" indent="0">
              <a:spcBef>
                <a:spcPts val="600"/>
              </a:spcBef>
              <a:buNone/>
            </a:pPr>
            <a:r>
              <a:rPr lang="en-IN" sz="2200" b="1" dirty="0">
                <a:solidFill>
                  <a:srgbClr val="007FA3"/>
                </a:solidFill>
              </a:rPr>
              <a:t>3.1</a:t>
            </a:r>
            <a:r>
              <a:rPr lang="en-IN" sz="2200" dirty="0"/>
              <a:t> To declare </a:t>
            </a:r>
            <a:r>
              <a:rPr lang="en-IN" sz="2200" b="1" dirty="0" err="1"/>
              <a:t>boolean</a:t>
            </a:r>
            <a:r>
              <a:rPr lang="en-IN" sz="2200" dirty="0"/>
              <a:t> variables and write Boolean expressions using relational operators (§3.2).</a:t>
            </a:r>
          </a:p>
          <a:p>
            <a:pPr marL="432" indent="0">
              <a:spcBef>
                <a:spcPts val="600"/>
              </a:spcBef>
              <a:buNone/>
            </a:pPr>
            <a:r>
              <a:rPr lang="en-IN" sz="2200" b="1" dirty="0">
                <a:solidFill>
                  <a:srgbClr val="007FA3"/>
                </a:solidFill>
              </a:rPr>
              <a:t>3.2</a:t>
            </a:r>
            <a:r>
              <a:rPr lang="en-IN" sz="2200" dirty="0"/>
              <a:t> To implement selection control using one-way </a:t>
            </a:r>
            <a:r>
              <a:rPr lang="en-IN" sz="2200" b="1" dirty="0"/>
              <a:t>if</a:t>
            </a:r>
            <a:r>
              <a:rPr lang="en-IN" sz="2200" dirty="0"/>
              <a:t> statements (§3.3).</a:t>
            </a:r>
          </a:p>
          <a:p>
            <a:pPr marL="432" indent="0">
              <a:spcBef>
                <a:spcPts val="600"/>
              </a:spcBef>
              <a:buNone/>
            </a:pPr>
            <a:r>
              <a:rPr lang="en-IN" sz="2200" b="1" dirty="0">
                <a:solidFill>
                  <a:srgbClr val="007FA3"/>
                </a:solidFill>
              </a:rPr>
              <a:t>3.3</a:t>
            </a:r>
            <a:r>
              <a:rPr lang="en-IN" sz="2200" dirty="0"/>
              <a:t> To implement selection control using two-way </a:t>
            </a:r>
            <a:r>
              <a:rPr lang="en-IN" sz="2200" b="1" dirty="0"/>
              <a:t>if-else</a:t>
            </a:r>
            <a:r>
              <a:rPr lang="en-IN" sz="2200" dirty="0"/>
              <a:t> statements (§3.4).</a:t>
            </a:r>
          </a:p>
          <a:p>
            <a:pPr marL="432" indent="0">
              <a:spcBef>
                <a:spcPts val="600"/>
              </a:spcBef>
              <a:buNone/>
            </a:pPr>
            <a:r>
              <a:rPr lang="en-IN" sz="2200" b="1" dirty="0">
                <a:solidFill>
                  <a:srgbClr val="007FA3"/>
                </a:solidFill>
              </a:rPr>
              <a:t>3.4</a:t>
            </a:r>
            <a:r>
              <a:rPr lang="en-IN" sz="2200" dirty="0"/>
              <a:t> To implement selection control using nested </a:t>
            </a:r>
            <a:r>
              <a:rPr lang="en-IN" sz="2200" b="1" dirty="0"/>
              <a:t>if</a:t>
            </a:r>
            <a:r>
              <a:rPr lang="en-IN" sz="2200" dirty="0"/>
              <a:t> and multi-way </a:t>
            </a:r>
            <a:r>
              <a:rPr lang="en-IN" sz="2200" b="1" dirty="0"/>
              <a:t>if</a:t>
            </a:r>
            <a:r>
              <a:rPr lang="en-IN" sz="2200" dirty="0"/>
              <a:t> statements (§3.5).</a:t>
            </a:r>
          </a:p>
          <a:p>
            <a:pPr marL="432" indent="0">
              <a:spcBef>
                <a:spcPts val="600"/>
              </a:spcBef>
              <a:buNone/>
            </a:pPr>
            <a:r>
              <a:rPr lang="en-IN" sz="2200" b="1" dirty="0">
                <a:solidFill>
                  <a:srgbClr val="007FA3"/>
                </a:solidFill>
              </a:rPr>
              <a:t>3.5</a:t>
            </a:r>
            <a:r>
              <a:rPr lang="en-IN" sz="2200" dirty="0"/>
              <a:t> To avoid common errors and pitfalls in </a:t>
            </a:r>
            <a:r>
              <a:rPr lang="en-IN" sz="2200" b="1" dirty="0"/>
              <a:t>if</a:t>
            </a:r>
            <a:r>
              <a:rPr lang="en-IN" sz="2200" dirty="0"/>
              <a:t> statements (§3.6).</a:t>
            </a:r>
          </a:p>
          <a:p>
            <a:pPr marL="432" indent="0">
              <a:spcBef>
                <a:spcPts val="600"/>
              </a:spcBef>
              <a:buNone/>
            </a:pPr>
            <a:r>
              <a:rPr lang="en-IN" sz="2200" b="1" dirty="0">
                <a:solidFill>
                  <a:srgbClr val="007FA3"/>
                </a:solidFill>
              </a:rPr>
              <a:t>3.6</a:t>
            </a:r>
            <a:r>
              <a:rPr lang="en-IN" sz="2200" dirty="0"/>
              <a:t> To generate random numbers using the </a:t>
            </a:r>
            <a:r>
              <a:rPr lang="en-IN" sz="2200" b="1" dirty="0" err="1"/>
              <a:t>Math.random</a:t>
            </a:r>
            <a:r>
              <a:rPr lang="en-IN" sz="2200" b="1" dirty="0"/>
              <a:t>() </a:t>
            </a:r>
            <a:r>
              <a:rPr lang="en-IN" sz="2200" dirty="0"/>
              <a:t>method (§3.7).</a:t>
            </a:r>
          </a:p>
        </p:txBody>
      </p:sp>
    </p:spTree>
    <p:extLst>
      <p:ext uri="{BB962C8B-B14F-4D97-AF65-F5344CB8AC3E}">
        <p14:creationId xmlns:p14="http://schemas.microsoft.com/office/powerpoint/2010/main" val="815067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63FD0-79D5-45AD-8C91-B982718C539A}"/>
              </a:ext>
            </a:extLst>
          </p:cNvPr>
          <p:cNvSpPr>
            <a:spLocks noGrp="1"/>
          </p:cNvSpPr>
          <p:nvPr>
            <p:ph type="title"/>
          </p:nvPr>
        </p:nvSpPr>
        <p:spPr/>
        <p:txBody>
          <a:bodyPr/>
          <a:lstStyle/>
          <a:p>
            <a:r>
              <a:rPr lang="en-IN" dirty="0"/>
              <a:t>Objectives </a:t>
            </a:r>
            <a:r>
              <a:rPr lang="en-IN" sz="2000" b="0" dirty="0"/>
              <a:t>(2 of 2)</a:t>
            </a:r>
            <a:endParaRPr lang="en-IN" b="0" dirty="0"/>
          </a:p>
        </p:txBody>
      </p:sp>
      <p:sp>
        <p:nvSpPr>
          <p:cNvPr id="3" name="Content Placeholder 2">
            <a:extLst>
              <a:ext uri="{FF2B5EF4-FFF2-40B4-BE49-F238E27FC236}">
                <a16:creationId xmlns:a16="http://schemas.microsoft.com/office/drawing/2014/main" id="{4C71A423-E640-44EB-8260-1919DC0CB4CA}"/>
              </a:ext>
            </a:extLst>
          </p:cNvPr>
          <p:cNvSpPr>
            <a:spLocks noGrp="1"/>
          </p:cNvSpPr>
          <p:nvPr>
            <p:ph sz="quarter" idx="13"/>
          </p:nvPr>
        </p:nvSpPr>
        <p:spPr>
          <a:xfrm>
            <a:off x="457200" y="1554920"/>
            <a:ext cx="8519160" cy="4663335"/>
          </a:xfrm>
        </p:spPr>
        <p:txBody>
          <a:bodyPr/>
          <a:lstStyle/>
          <a:p>
            <a:pPr marL="432" indent="0">
              <a:spcBef>
                <a:spcPts val="600"/>
              </a:spcBef>
              <a:buNone/>
            </a:pPr>
            <a:r>
              <a:rPr lang="en-IN" sz="2200" b="1" dirty="0">
                <a:solidFill>
                  <a:srgbClr val="007FA3"/>
                </a:solidFill>
              </a:rPr>
              <a:t>3.7</a:t>
            </a:r>
            <a:r>
              <a:rPr lang="en-IN" sz="2200" dirty="0"/>
              <a:t> To program using selection statements for a variety of examples (</a:t>
            </a:r>
            <a:r>
              <a:rPr lang="en-IN" sz="2200" b="1" dirty="0"/>
              <a:t>SubtractionQuiz</a:t>
            </a:r>
            <a:r>
              <a:rPr lang="en-IN" sz="2200" dirty="0"/>
              <a:t>, </a:t>
            </a:r>
            <a:r>
              <a:rPr lang="en-IN" sz="2200" b="1" dirty="0"/>
              <a:t>B</a:t>
            </a:r>
            <a:r>
              <a:rPr lang="en-IN" sz="100" b="1" dirty="0"/>
              <a:t> </a:t>
            </a:r>
            <a:r>
              <a:rPr lang="en-IN" sz="2200" b="1" dirty="0"/>
              <a:t>M</a:t>
            </a:r>
            <a:r>
              <a:rPr lang="en-IN" sz="100" b="1" dirty="0"/>
              <a:t> </a:t>
            </a:r>
            <a:r>
              <a:rPr lang="en-IN" sz="2200" b="1" dirty="0"/>
              <a:t>I</a:t>
            </a:r>
            <a:r>
              <a:rPr lang="en-IN" sz="2200" dirty="0"/>
              <a:t>, </a:t>
            </a:r>
            <a:r>
              <a:rPr lang="en-IN" sz="2200" b="1" dirty="0" err="1"/>
              <a:t>ComputeTax</a:t>
            </a:r>
            <a:r>
              <a:rPr lang="en-IN" sz="2200" dirty="0"/>
              <a:t>) (§§3.7–3.9).</a:t>
            </a:r>
          </a:p>
          <a:p>
            <a:pPr marL="432" indent="0">
              <a:spcBef>
                <a:spcPts val="600"/>
              </a:spcBef>
              <a:buNone/>
            </a:pPr>
            <a:r>
              <a:rPr lang="en-IN" sz="2200" b="1" dirty="0">
                <a:solidFill>
                  <a:srgbClr val="007FA3"/>
                </a:solidFill>
              </a:rPr>
              <a:t>3.8</a:t>
            </a:r>
            <a:r>
              <a:rPr lang="en-IN" sz="2200" dirty="0"/>
              <a:t> To combine conditions using logical operators (</a:t>
            </a:r>
            <a:r>
              <a:rPr lang="en-IN" sz="2200" b="1" dirty="0"/>
              <a:t>&amp;&amp;</a:t>
            </a:r>
            <a:r>
              <a:rPr lang="en-IN" sz="2200" dirty="0"/>
              <a:t>, </a:t>
            </a:r>
            <a:r>
              <a:rPr lang="en-IN" sz="2200" b="1" dirty="0"/>
              <a:t>||</a:t>
            </a:r>
            <a:r>
              <a:rPr lang="en-IN" sz="2200" dirty="0"/>
              <a:t>, and </a:t>
            </a:r>
            <a:r>
              <a:rPr lang="en-IN" sz="2200" b="1" dirty="0"/>
              <a:t>!</a:t>
            </a:r>
            <a:r>
              <a:rPr lang="en-IN" sz="2200" dirty="0"/>
              <a:t>) (§3.10).</a:t>
            </a:r>
          </a:p>
          <a:p>
            <a:pPr marL="432" indent="0">
              <a:spcBef>
                <a:spcPts val="600"/>
              </a:spcBef>
              <a:buNone/>
            </a:pPr>
            <a:r>
              <a:rPr lang="en-IN" sz="2200" b="1" dirty="0">
                <a:solidFill>
                  <a:srgbClr val="007FA3"/>
                </a:solidFill>
              </a:rPr>
              <a:t>3.9</a:t>
            </a:r>
            <a:r>
              <a:rPr lang="en-IN" sz="2200" dirty="0"/>
              <a:t> To program using selection statements with combined conditions (</a:t>
            </a:r>
            <a:r>
              <a:rPr lang="en-IN" sz="2200" b="1" dirty="0" err="1" smtClean="0"/>
              <a:t>LeapYear</a:t>
            </a:r>
            <a:r>
              <a:rPr lang="en-IN" sz="2200" dirty="0" smtClean="0"/>
              <a:t>) </a:t>
            </a:r>
            <a:r>
              <a:rPr lang="en-IN" sz="2200" dirty="0"/>
              <a:t>(§§3.11–3.12).</a:t>
            </a:r>
          </a:p>
          <a:p>
            <a:pPr marL="432" indent="0">
              <a:spcBef>
                <a:spcPts val="600"/>
              </a:spcBef>
              <a:buNone/>
            </a:pPr>
            <a:r>
              <a:rPr lang="en-IN" sz="2200" b="1" dirty="0">
                <a:solidFill>
                  <a:srgbClr val="007FA3"/>
                </a:solidFill>
              </a:rPr>
              <a:t>3.10</a:t>
            </a:r>
            <a:r>
              <a:rPr lang="en-IN" sz="2200" dirty="0"/>
              <a:t> To implement selection control using </a:t>
            </a:r>
            <a:r>
              <a:rPr lang="en-IN" sz="2200" b="1" dirty="0"/>
              <a:t>switch</a:t>
            </a:r>
            <a:r>
              <a:rPr lang="en-IN" sz="2200" dirty="0"/>
              <a:t> statements and expressions (§3.13).</a:t>
            </a:r>
          </a:p>
          <a:p>
            <a:pPr marL="432" indent="0">
              <a:spcBef>
                <a:spcPts val="600"/>
              </a:spcBef>
              <a:buNone/>
            </a:pPr>
            <a:r>
              <a:rPr lang="en-IN" sz="2200" b="1" dirty="0">
                <a:solidFill>
                  <a:srgbClr val="007FA3"/>
                </a:solidFill>
              </a:rPr>
              <a:t>3.11</a:t>
            </a:r>
            <a:r>
              <a:rPr lang="en-IN" sz="2200" dirty="0"/>
              <a:t> To write expressions using the conditional expression (§3.14).</a:t>
            </a:r>
          </a:p>
          <a:p>
            <a:pPr marL="432" indent="0">
              <a:spcBef>
                <a:spcPts val="600"/>
              </a:spcBef>
              <a:buNone/>
            </a:pPr>
            <a:r>
              <a:rPr lang="en-IN" sz="2200" b="1" dirty="0">
                <a:solidFill>
                  <a:srgbClr val="007FA3"/>
                </a:solidFill>
              </a:rPr>
              <a:t>3.12</a:t>
            </a:r>
            <a:r>
              <a:rPr lang="en-IN" sz="2200" dirty="0"/>
              <a:t> To examine the rules governing operator precedence and associativity (§3.15).</a:t>
            </a:r>
          </a:p>
          <a:p>
            <a:pPr marL="432" indent="0">
              <a:spcBef>
                <a:spcPts val="600"/>
              </a:spcBef>
              <a:buNone/>
            </a:pPr>
            <a:r>
              <a:rPr lang="en-IN" sz="2200" b="1" dirty="0">
                <a:solidFill>
                  <a:srgbClr val="007FA3"/>
                </a:solidFill>
              </a:rPr>
              <a:t>3.13</a:t>
            </a:r>
            <a:r>
              <a:rPr lang="en-IN" sz="2200" dirty="0"/>
              <a:t> To apply common techniques to debug errors (§3.16).</a:t>
            </a:r>
          </a:p>
        </p:txBody>
      </p:sp>
    </p:spTree>
    <p:extLst>
      <p:ext uri="{BB962C8B-B14F-4D97-AF65-F5344CB8AC3E}">
        <p14:creationId xmlns:p14="http://schemas.microsoft.com/office/powerpoint/2010/main" val="1900983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CE61-402F-4ED1-A47B-77EFDE481D4F}"/>
              </a:ext>
            </a:extLst>
          </p:cNvPr>
          <p:cNvSpPr>
            <a:spLocks noGrp="1"/>
          </p:cNvSpPr>
          <p:nvPr>
            <p:ph type="title"/>
          </p:nvPr>
        </p:nvSpPr>
        <p:spPr/>
        <p:txBody>
          <a:bodyPr/>
          <a:lstStyle/>
          <a:p>
            <a:r>
              <a:rPr lang="en-IN" dirty="0"/>
              <a:t>The </a:t>
            </a:r>
            <a:r>
              <a:rPr lang="en-IN" dirty="0" err="1">
                <a:latin typeface="Courier New" panose="02070309020205020404" pitchFamily="49" charset="0"/>
                <a:cs typeface="Courier New" panose="02070309020205020404" pitchFamily="49" charset="0"/>
              </a:rPr>
              <a:t>boolean</a:t>
            </a:r>
            <a:r>
              <a:rPr lang="en-IN" dirty="0"/>
              <a:t> Type and Operators</a:t>
            </a:r>
          </a:p>
        </p:txBody>
      </p:sp>
      <p:sp>
        <p:nvSpPr>
          <p:cNvPr id="3" name="Content Placeholder 2">
            <a:extLst>
              <a:ext uri="{FF2B5EF4-FFF2-40B4-BE49-F238E27FC236}">
                <a16:creationId xmlns:a16="http://schemas.microsoft.com/office/drawing/2014/main" id="{28F9E142-F3DD-4006-95EE-9145998B1531}"/>
              </a:ext>
            </a:extLst>
          </p:cNvPr>
          <p:cNvSpPr>
            <a:spLocks noGrp="1"/>
          </p:cNvSpPr>
          <p:nvPr>
            <p:ph sz="quarter" idx="13"/>
          </p:nvPr>
        </p:nvSpPr>
        <p:spPr>
          <a:xfrm>
            <a:off x="457200" y="1556327"/>
            <a:ext cx="8305800" cy="2009833"/>
          </a:xfrm>
        </p:spPr>
        <p:txBody>
          <a:bodyPr/>
          <a:lstStyle/>
          <a:p>
            <a:pPr marL="432" indent="0">
              <a:buNone/>
            </a:pPr>
            <a:r>
              <a:rPr lang="en-IN" dirty="0"/>
              <a:t>Often in a program you need to compare two values, such as whether </a:t>
            </a:r>
            <a:r>
              <a:rPr lang="en-IN" dirty="0" err="1"/>
              <a:t>i</a:t>
            </a:r>
            <a:r>
              <a:rPr lang="en-IN" dirty="0"/>
              <a:t> is greater than j. Java provides six comparison operators (also known as relational operators) that can be used to compare two values. The result of the comparison is a Boolean value: true or false.</a:t>
            </a:r>
          </a:p>
        </p:txBody>
      </p:sp>
      <p:sp>
        <p:nvSpPr>
          <p:cNvPr id="4" name="Content Placeholder 3">
            <a:extLst>
              <a:ext uri="{FF2B5EF4-FFF2-40B4-BE49-F238E27FC236}">
                <a16:creationId xmlns:a16="http://schemas.microsoft.com/office/drawing/2014/main" id="{86EF57BA-9BFA-4B13-B1D6-DDD82DD06CD4}"/>
              </a:ext>
            </a:extLst>
          </p:cNvPr>
          <p:cNvSpPr>
            <a:spLocks noGrp="1"/>
          </p:cNvSpPr>
          <p:nvPr>
            <p:ph sz="quarter" idx="14"/>
          </p:nvPr>
        </p:nvSpPr>
        <p:spPr>
          <a:xfrm>
            <a:off x="457200" y="3766948"/>
            <a:ext cx="4275056" cy="908750"/>
          </a:xfrm>
        </p:spPr>
        <p:txBody>
          <a:bodyPr/>
          <a:lstStyle/>
          <a:p>
            <a:pPr marL="432" indent="0">
              <a:buNone/>
            </a:pPr>
            <a:r>
              <a:rPr lang="en-IN" b="1" dirty="0" err="1">
                <a:latin typeface="Courier New" panose="02070309020205020404" pitchFamily="49" charset="0"/>
                <a:cs typeface="Courier New" panose="02070309020205020404" pitchFamily="49" charset="0"/>
              </a:rPr>
              <a:t>boolean</a:t>
            </a:r>
            <a:r>
              <a:rPr lang="en-IN" b="1" dirty="0">
                <a:latin typeface="Courier New" panose="02070309020205020404" pitchFamily="49" charset="0"/>
                <a:cs typeface="Courier New" panose="02070309020205020404" pitchFamily="49" charset="0"/>
              </a:rPr>
              <a:t> b = (1 &gt; 2);</a:t>
            </a:r>
          </a:p>
        </p:txBody>
      </p:sp>
    </p:spTree>
    <p:extLst>
      <p:ext uri="{BB962C8B-B14F-4D97-AF65-F5344CB8AC3E}">
        <p14:creationId xmlns:p14="http://schemas.microsoft.com/office/powerpoint/2010/main" val="2687746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D4BEA-DC03-4033-8604-2B67828CB3D0}"/>
              </a:ext>
            </a:extLst>
          </p:cNvPr>
          <p:cNvSpPr>
            <a:spLocks noGrp="1"/>
          </p:cNvSpPr>
          <p:nvPr>
            <p:ph type="title"/>
          </p:nvPr>
        </p:nvSpPr>
        <p:spPr>
          <a:xfrm>
            <a:off x="457200" y="179546"/>
            <a:ext cx="8229600" cy="1097279"/>
          </a:xfrm>
        </p:spPr>
        <p:txBody>
          <a:bodyPr/>
          <a:lstStyle/>
          <a:p>
            <a:r>
              <a:rPr lang="en-IN" dirty="0"/>
              <a:t>Relational Operators</a:t>
            </a:r>
          </a:p>
        </p:txBody>
      </p:sp>
      <p:graphicFrame>
        <p:nvGraphicFramePr>
          <p:cNvPr id="4" name="Table 4">
            <a:extLst>
              <a:ext uri="{FF2B5EF4-FFF2-40B4-BE49-F238E27FC236}">
                <a16:creationId xmlns:a16="http://schemas.microsoft.com/office/drawing/2014/main" id="{15EBA435-0949-42F2-BE4B-6C552505D4D0}"/>
              </a:ext>
            </a:extLst>
          </p:cNvPr>
          <p:cNvGraphicFramePr>
            <a:graphicFrameLocks noGrp="1"/>
          </p:cNvGraphicFramePr>
          <p:nvPr>
            <p:ph sz="quarter" idx="13"/>
            <p:extLst>
              <p:ext uri="{D42A27DB-BD31-4B8C-83A1-F6EECF244321}">
                <p14:modId xmlns:p14="http://schemas.microsoft.com/office/powerpoint/2010/main" val="2903568767"/>
              </p:ext>
            </p:extLst>
          </p:nvPr>
        </p:nvGraphicFramePr>
        <p:xfrm>
          <a:off x="457201" y="1554162"/>
          <a:ext cx="8031479" cy="3236220"/>
        </p:xfrm>
        <a:graphic>
          <a:graphicData uri="http://schemas.openxmlformats.org/drawingml/2006/table">
            <a:tbl>
              <a:tblPr firstRow="1" bandRow="1">
                <a:tableStyleId>{2D5ABB26-0587-4C30-8999-92F81FD0307C}</a:tableStyleId>
              </a:tblPr>
              <a:tblGrid>
                <a:gridCol w="1249679">
                  <a:extLst>
                    <a:ext uri="{9D8B030D-6E8A-4147-A177-3AD203B41FA5}">
                      <a16:colId xmlns:a16="http://schemas.microsoft.com/office/drawing/2014/main" val="315877960"/>
                    </a:ext>
                  </a:extLst>
                </a:gridCol>
                <a:gridCol w="1569720">
                  <a:extLst>
                    <a:ext uri="{9D8B030D-6E8A-4147-A177-3AD203B41FA5}">
                      <a16:colId xmlns:a16="http://schemas.microsoft.com/office/drawing/2014/main" val="1667782776"/>
                    </a:ext>
                  </a:extLst>
                </a:gridCol>
                <a:gridCol w="2558143">
                  <a:extLst>
                    <a:ext uri="{9D8B030D-6E8A-4147-A177-3AD203B41FA5}">
                      <a16:colId xmlns:a16="http://schemas.microsoft.com/office/drawing/2014/main" val="2377650926"/>
                    </a:ext>
                  </a:extLst>
                </a:gridCol>
                <a:gridCol w="1678577">
                  <a:extLst>
                    <a:ext uri="{9D8B030D-6E8A-4147-A177-3AD203B41FA5}">
                      <a16:colId xmlns:a16="http://schemas.microsoft.com/office/drawing/2014/main" val="3837021978"/>
                    </a:ext>
                  </a:extLst>
                </a:gridCol>
                <a:gridCol w="975360">
                  <a:extLst>
                    <a:ext uri="{9D8B030D-6E8A-4147-A177-3AD203B41FA5}">
                      <a16:colId xmlns:a16="http://schemas.microsoft.com/office/drawing/2014/main" val="3765906153"/>
                    </a:ext>
                  </a:extLst>
                </a:gridCol>
              </a:tblGrid>
              <a:tr h="604580">
                <a:tc>
                  <a:txBody>
                    <a:bodyPr/>
                    <a:lstStyle/>
                    <a:p>
                      <a:r>
                        <a:rPr lang="en-IN" sz="1800" b="1" dirty="0"/>
                        <a:t>Java Operator</a:t>
                      </a:r>
                    </a:p>
                  </a:txBody>
                  <a:tcPr>
                    <a:lnB w="12700" cap="flat" cmpd="sng" algn="ctr">
                      <a:solidFill>
                        <a:schemeClr val="tx1"/>
                      </a:solidFill>
                      <a:prstDash val="solid"/>
                      <a:round/>
                      <a:headEnd type="none" w="med" len="med"/>
                      <a:tailEnd type="none" w="med" len="med"/>
                    </a:lnB>
                  </a:tcPr>
                </a:tc>
                <a:tc>
                  <a:txBody>
                    <a:bodyPr/>
                    <a:lstStyle/>
                    <a:p>
                      <a:r>
                        <a:rPr lang="en-IN" sz="1800" b="1" dirty="0"/>
                        <a:t>Mathematics Symbol</a:t>
                      </a:r>
                    </a:p>
                  </a:txBody>
                  <a:tcPr>
                    <a:lnB w="12700" cap="flat" cmpd="sng" algn="ctr">
                      <a:solidFill>
                        <a:schemeClr val="tx1"/>
                      </a:solidFill>
                      <a:prstDash val="solid"/>
                      <a:round/>
                      <a:headEnd type="none" w="med" len="med"/>
                      <a:tailEnd type="none" w="med" len="med"/>
                    </a:lnB>
                  </a:tcPr>
                </a:tc>
                <a:tc>
                  <a:txBody>
                    <a:bodyPr/>
                    <a:lstStyle/>
                    <a:p>
                      <a:r>
                        <a:rPr lang="en-IN" sz="1800" b="1" dirty="0"/>
                        <a:t>Name</a:t>
                      </a:r>
                    </a:p>
                  </a:txBody>
                  <a:tcPr>
                    <a:lnB w="12700" cap="flat" cmpd="sng" algn="ctr">
                      <a:solidFill>
                        <a:schemeClr val="tx1"/>
                      </a:solidFill>
                      <a:prstDash val="solid"/>
                      <a:round/>
                      <a:headEnd type="none" w="med" len="med"/>
                      <a:tailEnd type="none" w="med" len="med"/>
                    </a:lnB>
                  </a:tcPr>
                </a:tc>
                <a:tc>
                  <a:txBody>
                    <a:bodyPr/>
                    <a:lstStyle/>
                    <a:p>
                      <a:r>
                        <a:rPr lang="en-IN" sz="1800" b="1" dirty="0"/>
                        <a:t>Example </a:t>
                      </a:r>
                      <a:r>
                        <a:rPr lang="en-IN" sz="1800" b="0" dirty="0"/>
                        <a:t>(radius is 5)</a:t>
                      </a:r>
                    </a:p>
                  </a:txBody>
                  <a:tcPr>
                    <a:lnB w="12700" cap="flat" cmpd="sng" algn="ctr">
                      <a:solidFill>
                        <a:schemeClr val="tx1"/>
                      </a:solidFill>
                      <a:prstDash val="solid"/>
                      <a:round/>
                      <a:headEnd type="none" w="med" len="med"/>
                      <a:tailEnd type="none" w="med" len="med"/>
                    </a:lnB>
                  </a:tcPr>
                </a:tc>
                <a:tc>
                  <a:txBody>
                    <a:bodyPr/>
                    <a:lstStyle/>
                    <a:p>
                      <a:r>
                        <a:rPr lang="en-IN" sz="1800" b="1" dirty="0"/>
                        <a:t>Result</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2708155"/>
                  </a:ext>
                </a:extLst>
              </a:tr>
              <a:tr h="432690">
                <a:tc>
                  <a:txBody>
                    <a:bodyPr/>
                    <a:lstStyle/>
                    <a:p>
                      <a:r>
                        <a:rPr lang="en-IN" sz="1800" dirty="0"/>
                        <a:t>&lt;</a:t>
                      </a:r>
                    </a:p>
                  </a:txBody>
                  <a:tcPr>
                    <a:lnT w="12700" cap="flat" cmpd="sng" algn="ctr">
                      <a:solidFill>
                        <a:schemeClr val="tx1"/>
                      </a:solidFill>
                      <a:prstDash val="solid"/>
                      <a:round/>
                      <a:headEnd type="none" w="med" len="med"/>
                      <a:tailEnd type="none" w="med" len="med"/>
                    </a:lnT>
                  </a:tcPr>
                </a:tc>
                <a:tc>
                  <a:txBody>
                    <a:bodyPr/>
                    <a:lstStyle/>
                    <a:p>
                      <a:r>
                        <a:rPr lang="en-IN" sz="1800" dirty="0"/>
                        <a:t>&lt;</a:t>
                      </a:r>
                    </a:p>
                  </a:txBody>
                  <a:tcPr>
                    <a:lnT w="12700" cap="flat" cmpd="sng" algn="ctr">
                      <a:solidFill>
                        <a:schemeClr val="tx1"/>
                      </a:solidFill>
                      <a:prstDash val="solid"/>
                      <a:round/>
                      <a:headEnd type="none" w="med" len="med"/>
                      <a:tailEnd type="none" w="med" len="med"/>
                    </a:lnT>
                  </a:tcPr>
                </a:tc>
                <a:tc>
                  <a:txBody>
                    <a:bodyPr/>
                    <a:lstStyle/>
                    <a:p>
                      <a:r>
                        <a:rPr lang="en-IN" sz="1800" dirty="0"/>
                        <a:t>less than</a:t>
                      </a:r>
                    </a:p>
                  </a:txBody>
                  <a:tcPr>
                    <a:lnT w="12700" cap="flat" cmpd="sng" algn="ctr">
                      <a:solidFill>
                        <a:schemeClr val="tx1"/>
                      </a:solidFill>
                      <a:prstDash val="solid"/>
                      <a:round/>
                      <a:headEnd type="none" w="med" len="med"/>
                      <a:tailEnd type="none" w="med" len="med"/>
                    </a:lnT>
                  </a:tcPr>
                </a:tc>
                <a:tc>
                  <a:txBody>
                    <a:bodyPr/>
                    <a:lstStyle/>
                    <a:p>
                      <a:r>
                        <a:rPr lang="en-IN" sz="1800" dirty="0"/>
                        <a:t>radius &lt; 0</a:t>
                      </a:r>
                    </a:p>
                  </a:txBody>
                  <a:tcPr>
                    <a:lnT w="12700" cap="flat" cmpd="sng" algn="ctr">
                      <a:solidFill>
                        <a:schemeClr val="tx1"/>
                      </a:solidFill>
                      <a:prstDash val="solid"/>
                      <a:round/>
                      <a:headEnd type="none" w="med" len="med"/>
                      <a:tailEnd type="none" w="med" len="med"/>
                    </a:lnT>
                  </a:tcPr>
                </a:tc>
                <a:tc>
                  <a:txBody>
                    <a:bodyPr/>
                    <a:lstStyle/>
                    <a:p>
                      <a:r>
                        <a:rPr lang="en-IN" sz="1800" dirty="0"/>
                        <a:t>false</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66074752"/>
                  </a:ext>
                </a:extLst>
              </a:tr>
              <a:tr h="432690">
                <a:tc>
                  <a:txBody>
                    <a:bodyPr/>
                    <a:lstStyle/>
                    <a:p>
                      <a:r>
                        <a:rPr lang="en-IN" sz="1800" dirty="0"/>
                        <a:t>&lt;=</a:t>
                      </a:r>
                    </a:p>
                  </a:txBody>
                  <a:tcPr/>
                </a:tc>
                <a:tc>
                  <a:txBody>
                    <a:bodyPr/>
                    <a:lstStyle/>
                    <a:p>
                      <a:r>
                        <a:rPr lang="en-IN" sz="100" dirty="0"/>
                        <a:t>Less than or equal to</a:t>
                      </a:r>
                    </a:p>
                  </a:txBody>
                  <a:tcPr/>
                </a:tc>
                <a:tc>
                  <a:txBody>
                    <a:bodyPr/>
                    <a:lstStyle/>
                    <a:p>
                      <a:r>
                        <a:rPr lang="en-IN" sz="1800" dirty="0"/>
                        <a:t>less than or equal to</a:t>
                      </a:r>
                    </a:p>
                  </a:txBody>
                  <a:tcPr/>
                </a:tc>
                <a:tc>
                  <a:txBody>
                    <a:bodyPr/>
                    <a:lstStyle/>
                    <a:p>
                      <a:r>
                        <a:rPr lang="en-IN" sz="1800" dirty="0"/>
                        <a:t>radius &lt;= 0</a:t>
                      </a:r>
                    </a:p>
                  </a:txBody>
                  <a:tcPr/>
                </a:tc>
                <a:tc>
                  <a:txBody>
                    <a:bodyPr/>
                    <a:lstStyle/>
                    <a:p>
                      <a:r>
                        <a:rPr lang="en-IN" sz="1800" dirty="0"/>
                        <a:t>false</a:t>
                      </a:r>
                    </a:p>
                  </a:txBody>
                  <a:tcPr/>
                </a:tc>
                <a:extLst>
                  <a:ext uri="{0D108BD9-81ED-4DB2-BD59-A6C34878D82A}">
                    <a16:rowId xmlns:a16="http://schemas.microsoft.com/office/drawing/2014/main" val="2699690424"/>
                  </a:ext>
                </a:extLst>
              </a:tr>
              <a:tr h="432690">
                <a:tc>
                  <a:txBody>
                    <a:bodyPr/>
                    <a:lstStyle/>
                    <a:p>
                      <a:r>
                        <a:rPr lang="en-IN" sz="1800" dirty="0"/>
                        <a:t>&gt;</a:t>
                      </a:r>
                    </a:p>
                  </a:txBody>
                  <a:tcPr/>
                </a:tc>
                <a:tc>
                  <a:txBody>
                    <a:bodyPr/>
                    <a:lstStyle/>
                    <a:p>
                      <a:r>
                        <a:rPr lang="en-IN" sz="1800" dirty="0"/>
                        <a:t>&gt;</a:t>
                      </a:r>
                    </a:p>
                  </a:txBody>
                  <a:tcPr/>
                </a:tc>
                <a:tc>
                  <a:txBody>
                    <a:bodyPr/>
                    <a:lstStyle/>
                    <a:p>
                      <a:r>
                        <a:rPr lang="en-IN" sz="1800" dirty="0"/>
                        <a:t>greater than</a:t>
                      </a:r>
                    </a:p>
                  </a:txBody>
                  <a:tcPr/>
                </a:tc>
                <a:tc>
                  <a:txBody>
                    <a:bodyPr/>
                    <a:lstStyle/>
                    <a:p>
                      <a:r>
                        <a:rPr lang="en-IN" sz="1800" dirty="0"/>
                        <a:t>radius &gt; 0</a:t>
                      </a:r>
                    </a:p>
                  </a:txBody>
                  <a:tcPr/>
                </a:tc>
                <a:tc>
                  <a:txBody>
                    <a:bodyPr/>
                    <a:lstStyle/>
                    <a:p>
                      <a:r>
                        <a:rPr lang="en-IN" sz="1800" dirty="0"/>
                        <a:t>true</a:t>
                      </a:r>
                    </a:p>
                  </a:txBody>
                  <a:tcPr/>
                </a:tc>
                <a:extLst>
                  <a:ext uri="{0D108BD9-81ED-4DB2-BD59-A6C34878D82A}">
                    <a16:rowId xmlns:a16="http://schemas.microsoft.com/office/drawing/2014/main" val="1407053698"/>
                  </a:ext>
                </a:extLst>
              </a:tr>
              <a:tr h="432690">
                <a:tc>
                  <a:txBody>
                    <a:bodyPr/>
                    <a:lstStyle/>
                    <a:p>
                      <a:r>
                        <a:rPr lang="en-IN" sz="1800" dirty="0"/>
                        <a:t>&gt;=</a:t>
                      </a:r>
                    </a:p>
                  </a:txBody>
                  <a:tcPr/>
                </a:tc>
                <a:tc>
                  <a:txBody>
                    <a:bodyPr/>
                    <a:lstStyle/>
                    <a:p>
                      <a:r>
                        <a:rPr lang="en-IN" sz="100" dirty="0"/>
                        <a:t>Greater than or equal to</a:t>
                      </a:r>
                    </a:p>
                  </a:txBody>
                  <a:tcPr/>
                </a:tc>
                <a:tc>
                  <a:txBody>
                    <a:bodyPr/>
                    <a:lstStyle/>
                    <a:p>
                      <a:r>
                        <a:rPr lang="en-IN" sz="1800" dirty="0"/>
                        <a:t>greater than or equal to</a:t>
                      </a:r>
                    </a:p>
                  </a:txBody>
                  <a:tcPr/>
                </a:tc>
                <a:tc>
                  <a:txBody>
                    <a:bodyPr/>
                    <a:lstStyle/>
                    <a:p>
                      <a:r>
                        <a:rPr lang="en-IN" sz="1800" dirty="0"/>
                        <a:t>radius &gt;= 0</a:t>
                      </a:r>
                    </a:p>
                  </a:txBody>
                  <a:tcPr/>
                </a:tc>
                <a:tc>
                  <a:txBody>
                    <a:bodyPr/>
                    <a:lstStyle/>
                    <a:p>
                      <a:r>
                        <a:rPr lang="en-IN" sz="1800" dirty="0"/>
                        <a:t>true</a:t>
                      </a:r>
                    </a:p>
                  </a:txBody>
                  <a:tcPr/>
                </a:tc>
                <a:extLst>
                  <a:ext uri="{0D108BD9-81ED-4DB2-BD59-A6C34878D82A}">
                    <a16:rowId xmlns:a16="http://schemas.microsoft.com/office/drawing/2014/main" val="2379540900"/>
                  </a:ext>
                </a:extLst>
              </a:tr>
              <a:tr h="432690">
                <a:tc>
                  <a:txBody>
                    <a:bodyPr/>
                    <a:lstStyle/>
                    <a:p>
                      <a:r>
                        <a:rPr lang="en-IN" sz="1800" dirty="0"/>
                        <a:t>==</a:t>
                      </a:r>
                    </a:p>
                  </a:txBody>
                  <a:tcPr/>
                </a:tc>
                <a:tc>
                  <a:txBody>
                    <a:bodyPr/>
                    <a:lstStyle/>
                    <a:p>
                      <a:r>
                        <a:rPr lang="en-IN" sz="1800" dirty="0"/>
                        <a:t>=</a:t>
                      </a:r>
                    </a:p>
                  </a:txBody>
                  <a:tcPr/>
                </a:tc>
                <a:tc>
                  <a:txBody>
                    <a:bodyPr/>
                    <a:lstStyle/>
                    <a:p>
                      <a:r>
                        <a:rPr lang="en-IN" sz="1800" dirty="0"/>
                        <a:t>equal to</a:t>
                      </a:r>
                    </a:p>
                  </a:txBody>
                  <a:tcPr/>
                </a:tc>
                <a:tc>
                  <a:txBody>
                    <a:bodyPr/>
                    <a:lstStyle/>
                    <a:p>
                      <a:r>
                        <a:rPr lang="en-IN" sz="1800" dirty="0"/>
                        <a:t>radius == 0</a:t>
                      </a:r>
                    </a:p>
                  </a:txBody>
                  <a:tcPr/>
                </a:tc>
                <a:tc>
                  <a:txBody>
                    <a:bodyPr/>
                    <a:lstStyle/>
                    <a:p>
                      <a:r>
                        <a:rPr lang="en-IN" sz="1800" dirty="0"/>
                        <a:t>false</a:t>
                      </a:r>
                    </a:p>
                  </a:txBody>
                  <a:tcPr/>
                </a:tc>
                <a:extLst>
                  <a:ext uri="{0D108BD9-81ED-4DB2-BD59-A6C34878D82A}">
                    <a16:rowId xmlns:a16="http://schemas.microsoft.com/office/drawing/2014/main" val="665998575"/>
                  </a:ext>
                </a:extLst>
              </a:tr>
              <a:tr h="432690">
                <a:tc>
                  <a:txBody>
                    <a:bodyPr/>
                    <a:lstStyle/>
                    <a:p>
                      <a:r>
                        <a:rPr lang="en-IN" sz="1800" dirty="0"/>
                        <a:t>!=</a:t>
                      </a:r>
                    </a:p>
                  </a:txBody>
                  <a:tcPr/>
                </a:tc>
                <a:tc>
                  <a:txBody>
                    <a:bodyPr/>
                    <a:lstStyle/>
                    <a:p>
                      <a:r>
                        <a:rPr lang="en-IN" sz="100" dirty="0"/>
                        <a:t>Not equal to</a:t>
                      </a:r>
                    </a:p>
                  </a:txBody>
                  <a:tcPr/>
                </a:tc>
                <a:tc>
                  <a:txBody>
                    <a:bodyPr/>
                    <a:lstStyle/>
                    <a:p>
                      <a:r>
                        <a:rPr lang="en-IN" sz="1800" dirty="0"/>
                        <a:t>not equal to</a:t>
                      </a:r>
                    </a:p>
                  </a:txBody>
                  <a:tcPr/>
                </a:tc>
                <a:tc>
                  <a:txBody>
                    <a:bodyPr/>
                    <a:lstStyle/>
                    <a:p>
                      <a:r>
                        <a:rPr lang="en-IN" sz="1800" dirty="0"/>
                        <a:t>radius != 0</a:t>
                      </a:r>
                    </a:p>
                  </a:txBody>
                  <a:tcPr/>
                </a:tc>
                <a:tc>
                  <a:txBody>
                    <a:bodyPr/>
                    <a:lstStyle/>
                    <a:p>
                      <a:r>
                        <a:rPr lang="en-IN" sz="1800" dirty="0"/>
                        <a:t>true</a:t>
                      </a:r>
                    </a:p>
                  </a:txBody>
                  <a:tcPr/>
                </a:tc>
                <a:extLst>
                  <a:ext uri="{0D108BD9-81ED-4DB2-BD59-A6C34878D82A}">
                    <a16:rowId xmlns:a16="http://schemas.microsoft.com/office/drawing/2014/main" val="4022178150"/>
                  </a:ext>
                </a:extLst>
              </a:tr>
            </a:tbl>
          </a:graphicData>
        </a:graphic>
      </p:graphicFrame>
      <p:graphicFrame>
        <p:nvGraphicFramePr>
          <p:cNvPr id="5" name="Object 4">
            <a:extLst>
              <a:ext uri="{FF2B5EF4-FFF2-40B4-BE49-F238E27FC236}">
                <a16:creationId xmlns:a16="http://schemas.microsoft.com/office/drawing/2014/main" id="{260C289E-2471-405D-98D6-37D981FA5BA1}"/>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392782448"/>
              </p:ext>
            </p:extLst>
          </p:nvPr>
        </p:nvGraphicFramePr>
        <p:xfrm>
          <a:off x="1800680" y="2650778"/>
          <a:ext cx="165100" cy="190500"/>
        </p:xfrm>
        <a:graphic>
          <a:graphicData uri="http://schemas.openxmlformats.org/presentationml/2006/ole">
            <mc:AlternateContent xmlns:mc="http://schemas.openxmlformats.org/markup-compatibility/2006">
              <mc:Choice xmlns:v="urn:schemas-microsoft-com:vml" Requires="v">
                <p:oleObj spid="_x0000_s1038" name="Equation" r:id="rId3" imgW="164880" imgH="190440" progId="Equation.DSMT4">
                  <p:embed/>
                </p:oleObj>
              </mc:Choice>
              <mc:Fallback>
                <p:oleObj name="Equation" r:id="rId3" imgW="164880" imgH="190440" progId="Equation.DSMT4">
                  <p:embed/>
                  <p:pic>
                    <p:nvPicPr>
                      <p:cNvPr id="0" name=""/>
                      <p:cNvPicPr/>
                      <p:nvPr/>
                    </p:nvPicPr>
                    <p:blipFill>
                      <a:blip r:embed="rId4"/>
                      <a:stretch>
                        <a:fillRect/>
                      </a:stretch>
                    </p:blipFill>
                    <p:spPr>
                      <a:xfrm>
                        <a:off x="1800680" y="2650778"/>
                        <a:ext cx="165100" cy="190500"/>
                      </a:xfrm>
                      <a:prstGeom prst="rect">
                        <a:avLst/>
                      </a:prstGeom>
                      <a:solidFill>
                        <a:schemeClr val="bg1"/>
                      </a:solidFill>
                    </p:spPr>
                  </p:pic>
                </p:oleObj>
              </mc:Fallback>
            </mc:AlternateContent>
          </a:graphicData>
        </a:graphic>
      </p:graphicFrame>
      <p:graphicFrame>
        <p:nvGraphicFramePr>
          <p:cNvPr id="6" name="Object 5">
            <a:extLst>
              <a:ext uri="{FF2B5EF4-FFF2-40B4-BE49-F238E27FC236}">
                <a16:creationId xmlns:a16="http://schemas.microsoft.com/office/drawing/2014/main" id="{833F3039-FD46-48DB-AB18-B7836E48D50A}"/>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253696267"/>
              </p:ext>
            </p:extLst>
          </p:nvPr>
        </p:nvGraphicFramePr>
        <p:xfrm>
          <a:off x="1811083" y="3533342"/>
          <a:ext cx="165100" cy="190500"/>
        </p:xfrm>
        <a:graphic>
          <a:graphicData uri="http://schemas.openxmlformats.org/presentationml/2006/ole">
            <mc:AlternateContent xmlns:mc="http://schemas.openxmlformats.org/markup-compatibility/2006">
              <mc:Choice xmlns:v="urn:schemas-microsoft-com:vml" Requires="v">
                <p:oleObj spid="_x0000_s1039" name="Equation" r:id="rId5" imgW="164880" imgH="190440" progId="Equation.DSMT4">
                  <p:embed/>
                </p:oleObj>
              </mc:Choice>
              <mc:Fallback>
                <p:oleObj name="Equation" r:id="rId5" imgW="164880" imgH="190440" progId="Equation.DSMT4">
                  <p:embed/>
                  <p:pic>
                    <p:nvPicPr>
                      <p:cNvPr id="0" name=""/>
                      <p:cNvPicPr/>
                      <p:nvPr/>
                    </p:nvPicPr>
                    <p:blipFill>
                      <a:blip r:embed="rId6"/>
                      <a:stretch>
                        <a:fillRect/>
                      </a:stretch>
                    </p:blipFill>
                    <p:spPr>
                      <a:xfrm>
                        <a:off x="1811083" y="3533342"/>
                        <a:ext cx="165100" cy="190500"/>
                      </a:xfrm>
                      <a:prstGeom prst="rect">
                        <a:avLst/>
                      </a:prstGeom>
                      <a:solidFill>
                        <a:schemeClr val="bg1"/>
                      </a:solidFill>
                    </p:spPr>
                  </p:pic>
                </p:oleObj>
              </mc:Fallback>
            </mc:AlternateContent>
          </a:graphicData>
        </a:graphic>
      </p:graphicFrame>
      <p:graphicFrame>
        <p:nvGraphicFramePr>
          <p:cNvPr id="7" name="Object 6">
            <a:extLst>
              <a:ext uri="{FF2B5EF4-FFF2-40B4-BE49-F238E27FC236}">
                <a16:creationId xmlns:a16="http://schemas.microsoft.com/office/drawing/2014/main" id="{F2793586-7601-450C-B3DD-47187126642D}"/>
              </a:ext>
              <a:ext uri="{C183D7F6-B498-43B3-948B-1728B52AA6E4}">
                <adec:decorative xmlns:adec="http://schemas.microsoft.com/office/drawing/2017/decorative" xmlns="" val="1"/>
              </a:ext>
            </a:extLst>
          </p:cNvPr>
          <p:cNvGraphicFramePr>
            <a:graphicFrameLocks noChangeAspect="1"/>
          </p:cNvGraphicFramePr>
          <p:nvPr>
            <p:extLst>
              <p:ext uri="{D42A27DB-BD31-4B8C-83A1-F6EECF244321}">
                <p14:modId xmlns:p14="http://schemas.microsoft.com/office/powerpoint/2010/main" val="3715788928"/>
              </p:ext>
            </p:extLst>
          </p:nvPr>
        </p:nvGraphicFramePr>
        <p:xfrm>
          <a:off x="1744291" y="4385195"/>
          <a:ext cx="177800" cy="177800"/>
        </p:xfrm>
        <a:graphic>
          <a:graphicData uri="http://schemas.openxmlformats.org/presentationml/2006/ole">
            <mc:AlternateContent xmlns:mc="http://schemas.openxmlformats.org/markup-compatibility/2006">
              <mc:Choice xmlns:v="urn:schemas-microsoft-com:vml" Requires="v">
                <p:oleObj spid="_x0000_s1040" name="Equation" r:id="rId7" imgW="177480" imgH="177480" progId="Equation.DSMT4">
                  <p:embed/>
                </p:oleObj>
              </mc:Choice>
              <mc:Fallback>
                <p:oleObj name="Equation" r:id="rId7" imgW="177480" imgH="177480" progId="Equation.DSMT4">
                  <p:embed/>
                  <p:pic>
                    <p:nvPicPr>
                      <p:cNvPr id="0" name=""/>
                      <p:cNvPicPr/>
                      <p:nvPr/>
                    </p:nvPicPr>
                    <p:blipFill>
                      <a:blip r:embed="rId8"/>
                      <a:stretch>
                        <a:fillRect/>
                      </a:stretch>
                    </p:blipFill>
                    <p:spPr>
                      <a:xfrm>
                        <a:off x="1744291" y="4385195"/>
                        <a:ext cx="177800" cy="177800"/>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642655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064B4-902A-42C8-B344-71ADCFAD1F82}"/>
              </a:ext>
            </a:extLst>
          </p:cNvPr>
          <p:cNvSpPr>
            <a:spLocks noGrp="1"/>
          </p:cNvSpPr>
          <p:nvPr>
            <p:ph type="title"/>
          </p:nvPr>
        </p:nvSpPr>
        <p:spPr/>
        <p:txBody>
          <a:bodyPr/>
          <a:lstStyle/>
          <a:p>
            <a:r>
              <a:rPr lang="en-IN" sz="3200" dirty="0"/>
              <a:t>Problem: A Simple Math Learning Tool</a:t>
            </a:r>
          </a:p>
        </p:txBody>
      </p:sp>
      <p:sp>
        <p:nvSpPr>
          <p:cNvPr id="3" name="Content Placeholder 2">
            <a:extLst>
              <a:ext uri="{FF2B5EF4-FFF2-40B4-BE49-F238E27FC236}">
                <a16:creationId xmlns:a16="http://schemas.microsoft.com/office/drawing/2014/main" id="{A80EA79A-65D0-49BD-B04A-15A98A333A67}"/>
              </a:ext>
            </a:extLst>
          </p:cNvPr>
          <p:cNvSpPr>
            <a:spLocks noGrp="1"/>
          </p:cNvSpPr>
          <p:nvPr>
            <p:ph sz="quarter" idx="13"/>
          </p:nvPr>
        </p:nvSpPr>
        <p:spPr>
          <a:xfrm>
            <a:off x="457200" y="1552575"/>
            <a:ext cx="8229600" cy="2395311"/>
          </a:xfrm>
        </p:spPr>
        <p:txBody>
          <a:bodyPr/>
          <a:lstStyle/>
          <a:p>
            <a:pPr marL="432" indent="0">
              <a:buNone/>
            </a:pPr>
            <a:r>
              <a:rPr lang="en-IN" dirty="0"/>
              <a:t>This example creates a program to let a first grader practice additions. The program randomly generates two single-digit integers number1 and number2 and displays a question such as “What is 7 + 9?” to the student. After the student types the answer, the program displays a message to indicate whether the answer is true or false.</a:t>
            </a:r>
          </a:p>
        </p:txBody>
      </p:sp>
      <p:sp>
        <p:nvSpPr>
          <p:cNvPr id="10" name="Text Placeholder 9">
            <a:extLst>
              <a:ext uri="{FF2B5EF4-FFF2-40B4-BE49-F238E27FC236}">
                <a16:creationId xmlns:a16="http://schemas.microsoft.com/office/drawing/2014/main" id="{715BA18A-D67C-4D92-8988-A62F9BF4750A}"/>
              </a:ext>
            </a:extLst>
          </p:cNvPr>
          <p:cNvSpPr>
            <a:spLocks noGrp="1"/>
          </p:cNvSpPr>
          <p:nvPr>
            <p:ph type="body" sz="quarter" idx="20"/>
          </p:nvPr>
        </p:nvSpPr>
        <p:spPr>
          <a:xfrm>
            <a:off x="6734629" y="5284107"/>
            <a:ext cx="1952171" cy="543832"/>
          </a:xfrm>
        </p:spPr>
        <p:txBody>
          <a:bodyPr/>
          <a:lstStyle/>
          <a:p>
            <a:pPr marL="432" indent="0">
              <a:buNone/>
            </a:pPr>
            <a:r>
              <a:rPr lang="en-IN" dirty="0">
                <a:hlinkClick r:id="rId3" tooltip="https://liveexample.pearsoncmg.com/html/AdditionQuiz.html"/>
              </a:rPr>
              <a:t>AdditionQuiz</a:t>
            </a:r>
          </a:p>
        </p:txBody>
      </p:sp>
    </p:spTree>
    <p:extLst>
      <p:ext uri="{BB962C8B-B14F-4D97-AF65-F5344CB8AC3E}">
        <p14:creationId xmlns:p14="http://schemas.microsoft.com/office/powerpoint/2010/main" val="3234250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8D447-E2B9-4348-A7D3-5DB3906E71A2}"/>
              </a:ext>
            </a:extLst>
          </p:cNvPr>
          <p:cNvSpPr>
            <a:spLocks noGrp="1"/>
          </p:cNvSpPr>
          <p:nvPr>
            <p:ph type="title"/>
          </p:nvPr>
        </p:nvSpPr>
        <p:spPr/>
        <p:txBody>
          <a:bodyPr/>
          <a:lstStyle/>
          <a:p>
            <a:r>
              <a:rPr lang="en-IN" dirty="0"/>
              <a:t>One-Way </a:t>
            </a:r>
            <a:r>
              <a:rPr lang="en-IN" dirty="0">
                <a:latin typeface="Courier New" panose="02070309020205020404" pitchFamily="49" charset="0"/>
                <a:cs typeface="Courier New" panose="02070309020205020404" pitchFamily="49" charset="0"/>
              </a:rPr>
              <a:t>if</a:t>
            </a:r>
            <a:r>
              <a:rPr lang="en-IN" dirty="0"/>
              <a:t> Statements</a:t>
            </a:r>
          </a:p>
        </p:txBody>
      </p:sp>
      <p:pic>
        <p:nvPicPr>
          <p:cNvPr id="7" name="Content Placeholder 6" descr="A flow chart shows a decision box and a compute box. The decision box is labeled as Boolean expression. If true, go to Statement(s). If false, go to the step after Statement(s).">
            <a:extLst>
              <a:ext uri="{FF2B5EF4-FFF2-40B4-BE49-F238E27FC236}">
                <a16:creationId xmlns:a16="http://schemas.microsoft.com/office/drawing/2014/main" id="{789A857C-4954-4156-B898-35E6F7C2CB93}"/>
              </a:ext>
            </a:extLst>
          </p:cNvPr>
          <p:cNvPicPr>
            <a:picLocks noGrp="1" noChangeAspect="1"/>
          </p:cNvPicPr>
          <p:nvPr>
            <p:ph sz="quarter" idx="13"/>
          </p:nvPr>
        </p:nvPicPr>
        <p:blipFill>
          <a:blip r:embed="rId3"/>
          <a:stretch>
            <a:fillRect/>
          </a:stretch>
        </p:blipFill>
        <p:spPr>
          <a:xfrm>
            <a:off x="608645" y="1706235"/>
            <a:ext cx="3576548" cy="4351191"/>
          </a:xfrm>
          <a:prstGeom prst="rect">
            <a:avLst/>
          </a:prstGeom>
        </p:spPr>
      </p:pic>
      <p:pic>
        <p:nvPicPr>
          <p:cNvPr id="8" name="Content Placeholder 7" descr="A flow chart shows a decision box and a compute box. For long description in Notes pane, press F6.">
            <a:extLst>
              <a:ext uri="{FF2B5EF4-FFF2-40B4-BE49-F238E27FC236}">
                <a16:creationId xmlns:a16="http://schemas.microsoft.com/office/drawing/2014/main" id="{EDCA4529-57EE-4920-B5E1-F40962E2D5EF}"/>
              </a:ext>
            </a:extLst>
          </p:cNvPr>
          <p:cNvPicPr>
            <a:picLocks noGrp="1" noChangeAspect="1"/>
          </p:cNvPicPr>
          <p:nvPr>
            <p:ph sz="quarter" idx="14"/>
          </p:nvPr>
        </p:nvPicPr>
        <p:blipFill>
          <a:blip r:embed="rId4"/>
          <a:stretch>
            <a:fillRect/>
          </a:stretch>
        </p:blipFill>
        <p:spPr>
          <a:xfrm>
            <a:off x="4399406" y="1725152"/>
            <a:ext cx="4280567" cy="4256995"/>
          </a:xfrm>
          <a:prstGeom prst="rect">
            <a:avLst/>
          </a:prstGeom>
        </p:spPr>
      </p:pic>
    </p:spTree>
    <p:extLst>
      <p:ext uri="{BB962C8B-B14F-4D97-AF65-F5344CB8AC3E}">
        <p14:creationId xmlns:p14="http://schemas.microsoft.com/office/powerpoint/2010/main" val="1567765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61A9D-55FB-4307-BB03-AB68F853B297}"/>
              </a:ext>
            </a:extLst>
          </p:cNvPr>
          <p:cNvSpPr>
            <a:spLocks noGrp="1"/>
          </p:cNvSpPr>
          <p:nvPr>
            <p:ph type="title"/>
          </p:nvPr>
        </p:nvSpPr>
        <p:spPr/>
        <p:txBody>
          <a:bodyPr/>
          <a:lstStyle/>
          <a:p>
            <a:r>
              <a:rPr lang="en-IN" dirty="0"/>
              <a:t>Note</a:t>
            </a:r>
          </a:p>
        </p:txBody>
      </p:sp>
      <p:pic>
        <p:nvPicPr>
          <p:cNvPr id="6" name="Content Placeholder 5" descr="The parts a and b are equivalent to each other. For long description in Notes pane, press F6.">
            <a:extLst>
              <a:ext uri="{FF2B5EF4-FFF2-40B4-BE49-F238E27FC236}">
                <a16:creationId xmlns:a16="http://schemas.microsoft.com/office/drawing/2014/main" id="{ABEA1347-2150-4FF1-B56A-8E8E9ABAAC82}"/>
              </a:ext>
            </a:extLst>
          </p:cNvPr>
          <p:cNvPicPr>
            <a:picLocks noGrp="1" noChangeAspect="1"/>
          </p:cNvPicPr>
          <p:nvPr>
            <p:ph sz="quarter" idx="13"/>
          </p:nvPr>
        </p:nvPicPr>
        <p:blipFill>
          <a:blip r:embed="rId3"/>
          <a:stretch>
            <a:fillRect/>
          </a:stretch>
        </p:blipFill>
        <p:spPr>
          <a:xfrm>
            <a:off x="457200" y="2159547"/>
            <a:ext cx="8229600" cy="1060943"/>
          </a:xfrm>
          <a:prstGeom prst="rect">
            <a:avLst/>
          </a:prstGeom>
        </p:spPr>
      </p:pic>
      <p:pic>
        <p:nvPicPr>
          <p:cNvPr id="7" name="Content Placeholder 6" descr="The parts a and b are equivalent to each other. For long description in Notes pane, press F6.">
            <a:extLst>
              <a:ext uri="{FF2B5EF4-FFF2-40B4-BE49-F238E27FC236}">
                <a16:creationId xmlns:a16="http://schemas.microsoft.com/office/drawing/2014/main" id="{4B758557-851B-4049-B859-5E2D2C2CF60D}"/>
              </a:ext>
            </a:extLst>
          </p:cNvPr>
          <p:cNvPicPr>
            <a:picLocks noGrp="1" noChangeAspect="1"/>
          </p:cNvPicPr>
          <p:nvPr>
            <p:ph sz="quarter" idx="14"/>
          </p:nvPr>
        </p:nvPicPr>
        <p:blipFill>
          <a:blip r:embed="rId4"/>
          <a:stretch>
            <a:fillRect/>
          </a:stretch>
        </p:blipFill>
        <p:spPr>
          <a:xfrm>
            <a:off x="457200" y="4523901"/>
            <a:ext cx="8229600" cy="1001072"/>
          </a:xfrm>
          <a:prstGeom prst="rect">
            <a:avLst/>
          </a:prstGeom>
        </p:spPr>
      </p:pic>
    </p:spTree>
    <p:extLst>
      <p:ext uri="{BB962C8B-B14F-4D97-AF65-F5344CB8AC3E}">
        <p14:creationId xmlns:p14="http://schemas.microsoft.com/office/powerpoint/2010/main" val="923672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8DB8D-5578-4585-8F23-4F4BA95FB0FC}"/>
              </a:ext>
            </a:extLst>
          </p:cNvPr>
          <p:cNvSpPr>
            <a:spLocks noGrp="1"/>
          </p:cNvSpPr>
          <p:nvPr>
            <p:ph type="title"/>
          </p:nvPr>
        </p:nvSpPr>
        <p:spPr/>
        <p:txBody>
          <a:bodyPr/>
          <a:lstStyle/>
          <a:p>
            <a:r>
              <a:rPr lang="en-IN" dirty="0"/>
              <a:t>Simple if Demo</a:t>
            </a:r>
          </a:p>
        </p:txBody>
      </p:sp>
      <p:sp>
        <p:nvSpPr>
          <p:cNvPr id="3" name="Content Placeholder 2">
            <a:extLst>
              <a:ext uri="{FF2B5EF4-FFF2-40B4-BE49-F238E27FC236}">
                <a16:creationId xmlns:a16="http://schemas.microsoft.com/office/drawing/2014/main" id="{0BB5BE65-E0C1-47A9-90A2-2BDF922C4C8E}"/>
              </a:ext>
            </a:extLst>
          </p:cNvPr>
          <p:cNvSpPr>
            <a:spLocks noGrp="1"/>
          </p:cNvSpPr>
          <p:nvPr>
            <p:ph sz="quarter" idx="13"/>
          </p:nvPr>
        </p:nvSpPr>
        <p:spPr>
          <a:xfrm>
            <a:off x="457200" y="1552575"/>
            <a:ext cx="8229600" cy="1335768"/>
          </a:xfrm>
        </p:spPr>
        <p:txBody>
          <a:bodyPr/>
          <a:lstStyle/>
          <a:p>
            <a:pPr marL="432" indent="0">
              <a:buNone/>
            </a:pPr>
            <a:r>
              <a:rPr lang="en-IN" dirty="0"/>
              <a:t>Write a program that prompts the user to enter an integer. If the number is a multiple of 5, print </a:t>
            </a:r>
            <a:r>
              <a:rPr lang="en-IN" dirty="0" err="1"/>
              <a:t>HiFive</a:t>
            </a:r>
            <a:r>
              <a:rPr lang="en-IN" dirty="0"/>
              <a:t>. If the number is divisible by 2, print </a:t>
            </a:r>
            <a:r>
              <a:rPr lang="en-IN" dirty="0" err="1"/>
              <a:t>HiEven</a:t>
            </a:r>
            <a:r>
              <a:rPr lang="en-IN" dirty="0"/>
              <a:t>.</a:t>
            </a:r>
          </a:p>
        </p:txBody>
      </p:sp>
      <p:sp>
        <p:nvSpPr>
          <p:cNvPr id="10" name="Text Placeholder 9">
            <a:extLst>
              <a:ext uri="{FF2B5EF4-FFF2-40B4-BE49-F238E27FC236}">
                <a16:creationId xmlns:a16="http://schemas.microsoft.com/office/drawing/2014/main" id="{0024054B-5C35-4BD8-8430-56603F7A0105}"/>
              </a:ext>
            </a:extLst>
          </p:cNvPr>
          <p:cNvSpPr>
            <a:spLocks noGrp="1"/>
          </p:cNvSpPr>
          <p:nvPr>
            <p:ph type="body" sz="quarter" idx="20"/>
          </p:nvPr>
        </p:nvSpPr>
        <p:spPr>
          <a:xfrm>
            <a:off x="6342743" y="5290911"/>
            <a:ext cx="2235199" cy="485775"/>
          </a:xfrm>
        </p:spPr>
        <p:txBody>
          <a:bodyPr/>
          <a:lstStyle/>
          <a:p>
            <a:pPr marL="432" indent="0" algn="ctr">
              <a:buNone/>
            </a:pPr>
            <a:r>
              <a:rPr lang="en-IN" dirty="0">
                <a:hlinkClick r:id="rId3" tooltip="https://liveexample.pearsoncmg.com/html/SimpleIfDemo.html"/>
              </a:rPr>
              <a:t>SimpleIfDemo</a:t>
            </a:r>
          </a:p>
        </p:txBody>
      </p:sp>
    </p:spTree>
    <p:extLst>
      <p:ext uri="{BB962C8B-B14F-4D97-AF65-F5344CB8AC3E}">
        <p14:creationId xmlns:p14="http://schemas.microsoft.com/office/powerpoint/2010/main" val="106676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16B12-785E-452C-A440-BAF35E3386D5}"/>
              </a:ext>
            </a:extLst>
          </p:cNvPr>
          <p:cNvSpPr>
            <a:spLocks noGrp="1"/>
          </p:cNvSpPr>
          <p:nvPr>
            <p:ph type="title"/>
          </p:nvPr>
        </p:nvSpPr>
        <p:spPr/>
        <p:txBody>
          <a:bodyPr/>
          <a:lstStyle/>
          <a:p>
            <a:r>
              <a:rPr lang="en-IN" dirty="0"/>
              <a:t>The Two-Way </a:t>
            </a:r>
            <a:r>
              <a:rPr lang="en-IN" dirty="0">
                <a:latin typeface="Courier New" panose="02070309020205020404" pitchFamily="49" charset="0"/>
                <a:cs typeface="Courier New" panose="02070309020205020404" pitchFamily="49" charset="0"/>
              </a:rPr>
              <a:t>if</a:t>
            </a:r>
            <a:r>
              <a:rPr lang="en-IN" dirty="0"/>
              <a:t> Statement</a:t>
            </a:r>
          </a:p>
        </p:txBody>
      </p:sp>
      <p:sp>
        <p:nvSpPr>
          <p:cNvPr id="3" name="Content Placeholder 2">
            <a:extLst>
              <a:ext uri="{FF2B5EF4-FFF2-40B4-BE49-F238E27FC236}">
                <a16:creationId xmlns:a16="http://schemas.microsoft.com/office/drawing/2014/main" id="{33328F27-9780-4671-8328-43CE5FF7C796}"/>
              </a:ext>
            </a:extLst>
          </p:cNvPr>
          <p:cNvSpPr>
            <a:spLocks noGrp="1"/>
          </p:cNvSpPr>
          <p:nvPr>
            <p:ph sz="quarter" idx="13"/>
          </p:nvPr>
        </p:nvSpPr>
        <p:spPr>
          <a:xfrm>
            <a:off x="457200" y="1556327"/>
            <a:ext cx="8229600" cy="2195541"/>
          </a:xfrm>
        </p:spPr>
        <p:txBody>
          <a:bodyPr/>
          <a:lstStyle/>
          <a:p>
            <a:pPr marL="432" indent="0">
              <a:spcBef>
                <a:spcPts val="600"/>
              </a:spcBef>
              <a:buNone/>
            </a:pPr>
            <a:r>
              <a:rPr lang="en-IN" sz="1800" b="1" dirty="0">
                <a:latin typeface="Courier New" panose="02070309020205020404" pitchFamily="49" charset="0"/>
                <a:cs typeface="Courier New" panose="02070309020205020404" pitchFamily="49" charset="0"/>
              </a:rPr>
              <a:t>if (</a:t>
            </a:r>
            <a:r>
              <a:rPr lang="en-IN" sz="1800" b="1" dirty="0" err="1">
                <a:latin typeface="Courier New" panose="02070309020205020404" pitchFamily="49" charset="0"/>
                <a:cs typeface="Courier New" panose="02070309020205020404" pitchFamily="49" charset="0"/>
              </a:rPr>
              <a:t>boolean</a:t>
            </a:r>
            <a:r>
              <a:rPr lang="en-IN" sz="1800" b="1" dirty="0">
                <a:latin typeface="Courier New" panose="02070309020205020404" pitchFamily="49" charset="0"/>
                <a:cs typeface="Courier New" panose="02070309020205020404" pitchFamily="49" charset="0"/>
              </a:rPr>
              <a:t>-expression) {</a:t>
            </a:r>
          </a:p>
          <a:p>
            <a:pPr marL="360000" indent="0">
              <a:spcBef>
                <a:spcPts val="600"/>
              </a:spcBef>
              <a:buNone/>
            </a:pPr>
            <a:r>
              <a:rPr lang="en-IN" sz="1800" b="1" dirty="0">
                <a:latin typeface="Courier New" panose="02070309020205020404" pitchFamily="49" charset="0"/>
                <a:cs typeface="Courier New" panose="02070309020205020404" pitchFamily="49" charset="0"/>
              </a:rPr>
              <a:t>statement(s)-for-the-true-case;</a:t>
            </a:r>
          </a:p>
          <a:p>
            <a:pPr marL="432" indent="0">
              <a:spcBef>
                <a:spcPts val="600"/>
              </a:spcBef>
              <a:buNone/>
            </a:pPr>
            <a:r>
              <a:rPr lang="en-IN" sz="1800" b="1" dirty="0">
                <a:latin typeface="Courier New" panose="02070309020205020404" pitchFamily="49" charset="0"/>
                <a:cs typeface="Courier New" panose="02070309020205020404" pitchFamily="49" charset="0"/>
              </a:rPr>
              <a:t>}</a:t>
            </a:r>
          </a:p>
          <a:p>
            <a:pPr marL="432" indent="0">
              <a:spcBef>
                <a:spcPts val="600"/>
              </a:spcBef>
              <a:buNone/>
            </a:pPr>
            <a:r>
              <a:rPr lang="en-IN" sz="1800" b="1" dirty="0">
                <a:latin typeface="Courier New" panose="02070309020205020404" pitchFamily="49" charset="0"/>
                <a:cs typeface="Courier New" panose="02070309020205020404" pitchFamily="49" charset="0"/>
              </a:rPr>
              <a:t>else {</a:t>
            </a:r>
          </a:p>
          <a:p>
            <a:pPr marL="360000" indent="0">
              <a:spcBef>
                <a:spcPts val="600"/>
              </a:spcBef>
              <a:buNone/>
            </a:pPr>
            <a:r>
              <a:rPr lang="en-IN" sz="1800" b="1" dirty="0">
                <a:latin typeface="Courier New" panose="02070309020205020404" pitchFamily="49" charset="0"/>
                <a:cs typeface="Courier New" panose="02070309020205020404" pitchFamily="49" charset="0"/>
              </a:rPr>
              <a:t>statement(s)-for-the-false-case;</a:t>
            </a:r>
          </a:p>
          <a:p>
            <a:pPr marL="432" indent="0">
              <a:spcBef>
                <a:spcPts val="600"/>
              </a:spcBef>
              <a:buNone/>
            </a:pPr>
            <a:r>
              <a:rPr lang="en-IN" sz="1800" b="1" dirty="0">
                <a:latin typeface="Courier New" panose="02070309020205020404" pitchFamily="49" charset="0"/>
                <a:cs typeface="Courier New" panose="02070309020205020404" pitchFamily="49" charset="0"/>
              </a:rPr>
              <a:t>}</a:t>
            </a:r>
          </a:p>
        </p:txBody>
      </p:sp>
      <p:pic>
        <p:nvPicPr>
          <p:cNvPr id="5" name="Content Placeholder 4" descr="A decision box is labeled, Boolean expression. If true, Statement(s) for the true case. If false, Statement(s) for the false case. Arrows from both the statements move down and come together at a common point below the decision box.">
            <a:extLst>
              <a:ext uri="{FF2B5EF4-FFF2-40B4-BE49-F238E27FC236}">
                <a16:creationId xmlns:a16="http://schemas.microsoft.com/office/drawing/2014/main" id="{4554D7D2-A298-4DC8-8CF9-2B5563BB02B8}"/>
              </a:ext>
            </a:extLst>
          </p:cNvPr>
          <p:cNvPicPr>
            <a:picLocks noGrp="1" noChangeAspect="1"/>
          </p:cNvPicPr>
          <p:nvPr>
            <p:ph sz="quarter" idx="14"/>
          </p:nvPr>
        </p:nvPicPr>
        <p:blipFill>
          <a:blip r:embed="rId2"/>
          <a:stretch>
            <a:fillRect/>
          </a:stretch>
        </p:blipFill>
        <p:spPr>
          <a:xfrm>
            <a:off x="1596143" y="3832610"/>
            <a:ext cx="5951713" cy="2500872"/>
          </a:xfrm>
          <a:prstGeom prst="rect">
            <a:avLst/>
          </a:prstGeom>
        </p:spPr>
      </p:pic>
    </p:spTree>
    <p:extLst>
      <p:ext uri="{BB962C8B-B14F-4D97-AF65-F5344CB8AC3E}">
        <p14:creationId xmlns:p14="http://schemas.microsoft.com/office/powerpoint/2010/main" val="2835860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60BF5-C733-4F38-84B3-5F57E13F5842}"/>
              </a:ext>
            </a:extLst>
          </p:cNvPr>
          <p:cNvSpPr>
            <a:spLocks noGrp="1"/>
          </p:cNvSpPr>
          <p:nvPr>
            <p:ph type="title"/>
          </p:nvPr>
        </p:nvSpPr>
        <p:spPr/>
        <p:txBody>
          <a:bodyPr/>
          <a:lstStyle/>
          <a:p>
            <a:r>
              <a:rPr lang="en-IN" dirty="0">
                <a:latin typeface="Courier New" panose="02070309020205020404" pitchFamily="49" charset="0"/>
                <a:cs typeface="Courier New" panose="02070309020205020404" pitchFamily="49" charset="0"/>
              </a:rPr>
              <a:t>if-else</a:t>
            </a:r>
            <a:r>
              <a:rPr lang="en-IN" dirty="0"/>
              <a:t> Example</a:t>
            </a:r>
          </a:p>
        </p:txBody>
      </p:sp>
      <p:sp>
        <p:nvSpPr>
          <p:cNvPr id="3" name="Content Placeholder 2">
            <a:extLst>
              <a:ext uri="{FF2B5EF4-FFF2-40B4-BE49-F238E27FC236}">
                <a16:creationId xmlns:a16="http://schemas.microsoft.com/office/drawing/2014/main" id="{762C9863-22E4-4245-B5F7-9827AC2794FF}"/>
              </a:ext>
            </a:extLst>
          </p:cNvPr>
          <p:cNvSpPr>
            <a:spLocks noGrp="1"/>
          </p:cNvSpPr>
          <p:nvPr>
            <p:ph sz="quarter" idx="13"/>
          </p:nvPr>
        </p:nvSpPr>
        <p:spPr/>
        <p:txBody>
          <a:bodyPr/>
          <a:lstStyle/>
          <a:p>
            <a:pPr marL="432" indent="0">
              <a:spcBef>
                <a:spcPts val="600"/>
              </a:spcBef>
              <a:buNone/>
            </a:pPr>
            <a:r>
              <a:rPr lang="en-IN" b="1" dirty="0">
                <a:latin typeface="Courier New" panose="02070309020205020404" pitchFamily="49" charset="0"/>
                <a:cs typeface="Courier New" panose="02070309020205020404" pitchFamily="49" charset="0"/>
              </a:rPr>
              <a:t>if (radius &gt;= 0) {</a:t>
            </a:r>
          </a:p>
          <a:p>
            <a:pPr marL="360000" indent="0">
              <a:spcBef>
                <a:spcPts val="600"/>
              </a:spcBef>
              <a:buNone/>
            </a:pPr>
            <a:r>
              <a:rPr lang="en-IN" b="1" dirty="0">
                <a:latin typeface="Courier New" panose="02070309020205020404" pitchFamily="49" charset="0"/>
                <a:cs typeface="Courier New" panose="02070309020205020404" pitchFamily="49" charset="0"/>
              </a:rPr>
              <a:t>area = radius * radius * 3.14159;</a:t>
            </a:r>
          </a:p>
          <a:p>
            <a:pPr marL="432" indent="0">
              <a:spcBef>
                <a:spcPts val="600"/>
              </a:spcBef>
              <a:buNone/>
            </a:pPr>
            <a:endParaRPr lang="en-IN" b="1" dirty="0">
              <a:latin typeface="Courier New" panose="02070309020205020404" pitchFamily="49" charset="0"/>
              <a:cs typeface="Courier New" panose="02070309020205020404" pitchFamily="49" charset="0"/>
            </a:endParaRPr>
          </a:p>
          <a:p>
            <a:pPr marL="720000" indent="0">
              <a:spcBef>
                <a:spcPts val="600"/>
              </a:spcBef>
              <a:buNone/>
            </a:pPr>
            <a:r>
              <a:rPr lang="en-IN" b="1" dirty="0" err="1">
                <a:latin typeface="Courier New" panose="02070309020205020404" pitchFamily="49" charset="0"/>
                <a:cs typeface="Courier New" panose="02070309020205020404" pitchFamily="49" charset="0"/>
              </a:rPr>
              <a:t>System.out.println</a:t>
            </a:r>
            <a:r>
              <a:rPr lang="en-IN" b="1" dirty="0">
                <a:latin typeface="Courier New" panose="02070309020205020404" pitchFamily="49" charset="0"/>
                <a:cs typeface="Courier New" panose="02070309020205020404" pitchFamily="49" charset="0"/>
              </a:rPr>
              <a:t>("The area for the “</a:t>
            </a:r>
          </a:p>
          <a:p>
            <a:pPr marL="720000" indent="0">
              <a:spcBef>
                <a:spcPts val="600"/>
              </a:spcBef>
              <a:buNone/>
            </a:pPr>
            <a:r>
              <a:rPr lang="en-IN" b="1" dirty="0">
                <a:latin typeface="Courier New" panose="02070309020205020404" pitchFamily="49" charset="0"/>
                <a:cs typeface="Courier New" panose="02070309020205020404" pitchFamily="49" charset="0"/>
              </a:rPr>
              <a:t>+ “circle of radius " + radius +</a:t>
            </a:r>
          </a:p>
          <a:p>
            <a:pPr marL="720000" indent="0">
              <a:spcBef>
                <a:spcPts val="600"/>
              </a:spcBef>
              <a:buNone/>
            </a:pPr>
            <a:r>
              <a:rPr lang="en-IN" b="1" dirty="0">
                <a:latin typeface="Courier New" panose="02070309020205020404" pitchFamily="49" charset="0"/>
                <a:cs typeface="Courier New" panose="02070309020205020404" pitchFamily="49" charset="0"/>
              </a:rPr>
              <a:t>" is " + area);</a:t>
            </a:r>
          </a:p>
          <a:p>
            <a:pPr marL="432" indent="0">
              <a:spcBef>
                <a:spcPts val="600"/>
              </a:spcBef>
              <a:buNone/>
            </a:pPr>
            <a:r>
              <a:rPr lang="en-IN" b="1" dirty="0">
                <a:latin typeface="Courier New" panose="02070309020205020404" pitchFamily="49" charset="0"/>
                <a:cs typeface="Courier New" panose="02070309020205020404" pitchFamily="49" charset="0"/>
              </a:rPr>
              <a:t>}</a:t>
            </a:r>
          </a:p>
          <a:p>
            <a:pPr marL="432" indent="0">
              <a:spcBef>
                <a:spcPts val="600"/>
              </a:spcBef>
              <a:buNone/>
            </a:pPr>
            <a:r>
              <a:rPr lang="en-IN" b="1" dirty="0">
                <a:latin typeface="Courier New" panose="02070309020205020404" pitchFamily="49" charset="0"/>
                <a:cs typeface="Courier New" panose="02070309020205020404" pitchFamily="49" charset="0"/>
              </a:rPr>
              <a:t>else {</a:t>
            </a:r>
          </a:p>
          <a:p>
            <a:pPr marL="360000" indent="0">
              <a:spcBef>
                <a:spcPts val="600"/>
              </a:spcBef>
              <a:buNone/>
            </a:pPr>
            <a:r>
              <a:rPr lang="en-IN" b="1" dirty="0" err="1">
                <a:latin typeface="Courier New" panose="02070309020205020404" pitchFamily="49" charset="0"/>
                <a:cs typeface="Courier New" panose="02070309020205020404" pitchFamily="49" charset="0"/>
              </a:rPr>
              <a:t>System.out.println</a:t>
            </a:r>
            <a:r>
              <a:rPr lang="en-IN" b="1" dirty="0">
                <a:latin typeface="Courier New" panose="02070309020205020404" pitchFamily="49" charset="0"/>
                <a:cs typeface="Courier New" panose="02070309020205020404" pitchFamily="49" charset="0"/>
              </a:rPr>
              <a:t>("Negative input");</a:t>
            </a:r>
          </a:p>
          <a:p>
            <a:pPr marL="432" indent="0">
              <a:spcBef>
                <a:spcPts val="600"/>
              </a:spcBef>
              <a:buNone/>
            </a:pPr>
            <a:r>
              <a:rPr lang="en-IN"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056938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0F80C-BB27-425C-AC7A-BE9272EF1B91}"/>
              </a:ext>
            </a:extLst>
          </p:cNvPr>
          <p:cNvSpPr>
            <a:spLocks noGrp="1"/>
          </p:cNvSpPr>
          <p:nvPr>
            <p:ph type="title"/>
          </p:nvPr>
        </p:nvSpPr>
        <p:spPr/>
        <p:txBody>
          <a:bodyPr/>
          <a:lstStyle/>
          <a:p>
            <a:r>
              <a:rPr lang="en-IN" dirty="0"/>
              <a:t>Multiple Alternative if Statements</a:t>
            </a:r>
          </a:p>
        </p:txBody>
      </p:sp>
      <p:pic>
        <p:nvPicPr>
          <p:cNvPr id="4" name="Content Placeholder 3" descr="Two statements show Multiple alternative if Statements.  For long description in Notes pane, press F6.">
            <a:extLst>
              <a:ext uri="{FF2B5EF4-FFF2-40B4-BE49-F238E27FC236}">
                <a16:creationId xmlns:a16="http://schemas.microsoft.com/office/drawing/2014/main" id="{AD0F7C08-89D7-4D29-916B-765658EA3086}"/>
              </a:ext>
            </a:extLst>
          </p:cNvPr>
          <p:cNvPicPr>
            <a:picLocks noGrp="1" noChangeAspect="1"/>
          </p:cNvPicPr>
          <p:nvPr>
            <p:ph sz="quarter" idx="13"/>
          </p:nvPr>
        </p:nvPicPr>
        <p:blipFill>
          <a:blip r:embed="rId3"/>
          <a:stretch>
            <a:fillRect/>
          </a:stretch>
        </p:blipFill>
        <p:spPr>
          <a:xfrm>
            <a:off x="457200" y="2189519"/>
            <a:ext cx="8232775" cy="3393362"/>
          </a:xfrm>
          <a:prstGeom prst="rect">
            <a:avLst/>
          </a:prstGeom>
        </p:spPr>
      </p:pic>
    </p:spTree>
    <p:extLst>
      <p:ext uri="{BB962C8B-B14F-4D97-AF65-F5344CB8AC3E}">
        <p14:creationId xmlns:p14="http://schemas.microsoft.com/office/powerpoint/2010/main" val="1271060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51637-72CB-4DB7-832E-8EBCB575B68C}"/>
              </a:ext>
            </a:extLst>
          </p:cNvPr>
          <p:cNvSpPr>
            <a:spLocks noGrp="1"/>
          </p:cNvSpPr>
          <p:nvPr>
            <p:ph type="title"/>
          </p:nvPr>
        </p:nvSpPr>
        <p:spPr/>
        <p:txBody>
          <a:bodyPr/>
          <a:lstStyle/>
          <a:p>
            <a:r>
              <a:rPr lang="en-IN" dirty="0"/>
              <a:t>Multi-Way if-else Statements</a:t>
            </a:r>
          </a:p>
        </p:txBody>
      </p:sp>
      <p:pic>
        <p:nvPicPr>
          <p:cNvPr id="4" name="Content Placeholder 3" descr="A flow chart shows Multi-way if-else statements. For long description in Notes pane, press F6.">
            <a:extLst>
              <a:ext uri="{FF2B5EF4-FFF2-40B4-BE49-F238E27FC236}">
                <a16:creationId xmlns:a16="http://schemas.microsoft.com/office/drawing/2014/main" id="{EF52AEB3-4AC7-423E-8002-2481C1C66942}"/>
              </a:ext>
            </a:extLst>
          </p:cNvPr>
          <p:cNvPicPr>
            <a:picLocks noGrp="1" noChangeAspect="1"/>
          </p:cNvPicPr>
          <p:nvPr>
            <p:ph sz="quarter" idx="13"/>
          </p:nvPr>
        </p:nvPicPr>
        <p:blipFill>
          <a:blip r:embed="rId3"/>
          <a:stretch>
            <a:fillRect/>
          </a:stretch>
        </p:blipFill>
        <p:spPr>
          <a:xfrm>
            <a:off x="1549226" y="1554163"/>
            <a:ext cx="6048722" cy="4664075"/>
          </a:xfrm>
          <a:prstGeom prst="rect">
            <a:avLst/>
          </a:prstGeom>
        </p:spPr>
      </p:pic>
    </p:spTree>
    <p:extLst>
      <p:ext uri="{BB962C8B-B14F-4D97-AF65-F5344CB8AC3E}">
        <p14:creationId xmlns:p14="http://schemas.microsoft.com/office/powerpoint/2010/main" val="265509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60FAA-DA4F-4A78-88AE-421882C51CC0}"/>
              </a:ext>
            </a:extLst>
          </p:cNvPr>
          <p:cNvSpPr>
            <a:spLocks noGrp="1"/>
          </p:cNvSpPr>
          <p:nvPr>
            <p:ph type="title"/>
          </p:nvPr>
        </p:nvSpPr>
        <p:spPr/>
        <p:txBody>
          <a:bodyPr/>
          <a:lstStyle/>
          <a:p>
            <a:r>
              <a:rPr lang="en-IN" dirty="0"/>
              <a:t>Trace if-else Statement </a:t>
            </a:r>
            <a:r>
              <a:rPr lang="en-IN" sz="2000" b="0" dirty="0"/>
              <a:t>(1 of 5)</a:t>
            </a:r>
            <a:endParaRPr lang="en-IN" b="0" dirty="0"/>
          </a:p>
        </p:txBody>
      </p:sp>
      <p:pic>
        <p:nvPicPr>
          <p:cNvPr id="4" name="Content Placeholder 3" descr="A text box reads, if left parenthesis score greater than equal to 90.0 right parenthesis. An arrow labeled Suppose score is 70.0, points to the text box. Another arrow labeled The condition is false, points to the text box.">
            <a:extLst>
              <a:ext uri="{FF2B5EF4-FFF2-40B4-BE49-F238E27FC236}">
                <a16:creationId xmlns:a16="http://schemas.microsoft.com/office/drawing/2014/main" id="{2B300EFF-54C3-4E17-849C-9E4F8F552CA2}"/>
              </a:ext>
            </a:extLst>
          </p:cNvPr>
          <p:cNvPicPr>
            <a:picLocks noGrp="1" noChangeAspect="1"/>
          </p:cNvPicPr>
          <p:nvPr>
            <p:ph sz="quarter" idx="13"/>
          </p:nvPr>
        </p:nvPicPr>
        <p:blipFill>
          <a:blip r:embed="rId2"/>
          <a:stretch>
            <a:fillRect/>
          </a:stretch>
        </p:blipFill>
        <p:spPr>
          <a:xfrm>
            <a:off x="1513130" y="1630485"/>
            <a:ext cx="6120914" cy="4511431"/>
          </a:xfrm>
          <a:prstGeom prst="rect">
            <a:avLst/>
          </a:prstGeom>
        </p:spPr>
      </p:pic>
    </p:spTree>
    <p:extLst>
      <p:ext uri="{BB962C8B-B14F-4D97-AF65-F5344CB8AC3E}">
        <p14:creationId xmlns:p14="http://schemas.microsoft.com/office/powerpoint/2010/main" val="1555673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87BBF-CB21-4150-9564-56D817555FF5}"/>
              </a:ext>
            </a:extLst>
          </p:cNvPr>
          <p:cNvSpPr>
            <a:spLocks noGrp="1"/>
          </p:cNvSpPr>
          <p:nvPr>
            <p:ph type="title"/>
          </p:nvPr>
        </p:nvSpPr>
        <p:spPr/>
        <p:txBody>
          <a:bodyPr/>
          <a:lstStyle/>
          <a:p>
            <a:r>
              <a:rPr lang="en-IN" dirty="0"/>
              <a:t>Trace if-else Statement </a:t>
            </a:r>
            <a:r>
              <a:rPr lang="en-IN" sz="2000" b="0" dirty="0"/>
              <a:t>(2 of 5)</a:t>
            </a:r>
            <a:endParaRPr lang="en-IN" b="0" dirty="0"/>
          </a:p>
        </p:txBody>
      </p:sp>
      <p:pic>
        <p:nvPicPr>
          <p:cNvPr id="4" name="Content Placeholder 3" descr="A text box reads, else if left parenthesis score greater than equal to 80.0 right parenthesis. An arrow labeled Suppose score is 70.0, points to the text box. Another arrow labeled The condition is false, points to the text box.">
            <a:extLst>
              <a:ext uri="{FF2B5EF4-FFF2-40B4-BE49-F238E27FC236}">
                <a16:creationId xmlns:a16="http://schemas.microsoft.com/office/drawing/2014/main" id="{7372E52E-280D-4069-B05E-8C2D5B0F640C}"/>
              </a:ext>
            </a:extLst>
          </p:cNvPr>
          <p:cNvPicPr>
            <a:picLocks noGrp="1" noChangeAspect="1"/>
          </p:cNvPicPr>
          <p:nvPr>
            <p:ph sz="quarter" idx="13"/>
          </p:nvPr>
        </p:nvPicPr>
        <p:blipFill>
          <a:blip r:embed="rId2"/>
          <a:stretch>
            <a:fillRect/>
          </a:stretch>
        </p:blipFill>
        <p:spPr>
          <a:xfrm>
            <a:off x="1513130" y="1630485"/>
            <a:ext cx="6120914" cy="4511431"/>
          </a:xfrm>
          <a:prstGeom prst="rect">
            <a:avLst/>
          </a:prstGeom>
        </p:spPr>
      </p:pic>
    </p:spTree>
    <p:extLst>
      <p:ext uri="{BB962C8B-B14F-4D97-AF65-F5344CB8AC3E}">
        <p14:creationId xmlns:p14="http://schemas.microsoft.com/office/powerpoint/2010/main" val="2601273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87BBF-CB21-4150-9564-56D817555FF5}"/>
              </a:ext>
            </a:extLst>
          </p:cNvPr>
          <p:cNvSpPr>
            <a:spLocks noGrp="1"/>
          </p:cNvSpPr>
          <p:nvPr>
            <p:ph type="title"/>
          </p:nvPr>
        </p:nvSpPr>
        <p:spPr/>
        <p:txBody>
          <a:bodyPr/>
          <a:lstStyle/>
          <a:p>
            <a:r>
              <a:rPr lang="en-IN" dirty="0"/>
              <a:t>Trace if-else Statement </a:t>
            </a:r>
            <a:r>
              <a:rPr lang="en-IN" sz="2000" b="0" dirty="0"/>
              <a:t>(3 of 5)</a:t>
            </a:r>
            <a:endParaRPr lang="en-IN" b="0" dirty="0"/>
          </a:p>
        </p:txBody>
      </p:sp>
      <p:pic>
        <p:nvPicPr>
          <p:cNvPr id="6" name="Content Placeholder 5" descr="A text box reads, else if left parenthesis score greater than equal to 70.0 right parenthesis. An arrow labeled Suppose score is 70.0, points to the text box. Another arrow labeled The condition is true, points to the text box.">
            <a:extLst>
              <a:ext uri="{FF2B5EF4-FFF2-40B4-BE49-F238E27FC236}">
                <a16:creationId xmlns:a16="http://schemas.microsoft.com/office/drawing/2014/main" id="{43290016-CC66-4623-A3D6-5E20FCBFF658}"/>
              </a:ext>
            </a:extLst>
          </p:cNvPr>
          <p:cNvPicPr>
            <a:picLocks noGrp="1" noChangeAspect="1"/>
          </p:cNvPicPr>
          <p:nvPr>
            <p:ph sz="quarter" idx="13"/>
          </p:nvPr>
        </p:nvPicPr>
        <p:blipFill>
          <a:blip r:embed="rId2"/>
          <a:stretch>
            <a:fillRect/>
          </a:stretch>
        </p:blipFill>
        <p:spPr>
          <a:xfrm>
            <a:off x="1513130" y="1630485"/>
            <a:ext cx="6120914" cy="4511431"/>
          </a:xfrm>
          <a:prstGeom prst="rect">
            <a:avLst/>
          </a:prstGeom>
        </p:spPr>
      </p:pic>
    </p:spTree>
    <p:extLst>
      <p:ext uri="{BB962C8B-B14F-4D97-AF65-F5344CB8AC3E}">
        <p14:creationId xmlns:p14="http://schemas.microsoft.com/office/powerpoint/2010/main" val="111150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87BBF-CB21-4150-9564-56D817555FF5}"/>
              </a:ext>
            </a:extLst>
          </p:cNvPr>
          <p:cNvSpPr>
            <a:spLocks noGrp="1"/>
          </p:cNvSpPr>
          <p:nvPr>
            <p:ph type="title"/>
          </p:nvPr>
        </p:nvSpPr>
        <p:spPr/>
        <p:txBody>
          <a:bodyPr/>
          <a:lstStyle/>
          <a:p>
            <a:r>
              <a:rPr lang="en-IN" dirty="0"/>
              <a:t>Trace if-else Statement </a:t>
            </a:r>
            <a:r>
              <a:rPr lang="en-IN" sz="2000" b="0" dirty="0"/>
              <a:t>(4 of 5)</a:t>
            </a:r>
            <a:endParaRPr lang="en-IN" b="0" dirty="0"/>
          </a:p>
        </p:txBody>
      </p:sp>
      <p:pic>
        <p:nvPicPr>
          <p:cNvPr id="5" name="Content Placeholder 4" descr="A text box reads, System.out.print left parenthesis double quotes open C double quotes close right parenthesis. An arrow labeled Suppose score is 70.0, points to the text box. Another arrow labeled grade is C, points to the text box.">
            <a:extLst>
              <a:ext uri="{FF2B5EF4-FFF2-40B4-BE49-F238E27FC236}">
                <a16:creationId xmlns:a16="http://schemas.microsoft.com/office/drawing/2014/main" id="{6A22CED1-AA10-4C60-AF00-CC6C75C9F70C}"/>
              </a:ext>
            </a:extLst>
          </p:cNvPr>
          <p:cNvPicPr>
            <a:picLocks noGrp="1" noChangeAspect="1"/>
          </p:cNvPicPr>
          <p:nvPr>
            <p:ph sz="quarter" idx="13"/>
          </p:nvPr>
        </p:nvPicPr>
        <p:blipFill>
          <a:blip r:embed="rId2"/>
          <a:stretch>
            <a:fillRect/>
          </a:stretch>
        </p:blipFill>
        <p:spPr>
          <a:xfrm>
            <a:off x="1513130" y="1630485"/>
            <a:ext cx="6120914" cy="4511431"/>
          </a:xfrm>
          <a:prstGeom prst="rect">
            <a:avLst/>
          </a:prstGeom>
        </p:spPr>
      </p:pic>
    </p:spTree>
    <p:extLst>
      <p:ext uri="{BB962C8B-B14F-4D97-AF65-F5344CB8AC3E}">
        <p14:creationId xmlns:p14="http://schemas.microsoft.com/office/powerpoint/2010/main" val="2569860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87BBF-CB21-4150-9564-56D817555FF5}"/>
              </a:ext>
            </a:extLst>
          </p:cNvPr>
          <p:cNvSpPr>
            <a:spLocks noGrp="1"/>
          </p:cNvSpPr>
          <p:nvPr>
            <p:ph type="title"/>
          </p:nvPr>
        </p:nvSpPr>
        <p:spPr/>
        <p:txBody>
          <a:bodyPr/>
          <a:lstStyle/>
          <a:p>
            <a:r>
              <a:rPr lang="en-IN" dirty="0"/>
              <a:t>Trace if-else Statement </a:t>
            </a:r>
            <a:r>
              <a:rPr lang="en-IN" sz="2000" b="0" dirty="0"/>
              <a:t>(5 of 5)</a:t>
            </a:r>
            <a:endParaRPr lang="en-IN" b="0" dirty="0"/>
          </a:p>
        </p:txBody>
      </p:sp>
      <p:pic>
        <p:nvPicPr>
          <p:cNvPr id="15" name="Content Placeholder 14" descr="A blank text box. An arrow points to the first line of the code that reads, if left parenthesis score greater than equal to 90.0 right parenthesis. Another arrow labeled, Exit the if statement points to the blank text box at the end of the code. ">
            <a:extLst>
              <a:ext uri="{FF2B5EF4-FFF2-40B4-BE49-F238E27FC236}">
                <a16:creationId xmlns:a16="http://schemas.microsoft.com/office/drawing/2014/main" id="{AFD3C319-99A9-46F8-A14D-B41935496697}"/>
              </a:ext>
            </a:extLst>
          </p:cNvPr>
          <p:cNvPicPr>
            <a:picLocks noGrp="1" noChangeAspect="1"/>
          </p:cNvPicPr>
          <p:nvPr>
            <p:ph sz="quarter" idx="13"/>
          </p:nvPr>
        </p:nvPicPr>
        <p:blipFill>
          <a:blip r:embed="rId2"/>
          <a:stretch>
            <a:fillRect/>
          </a:stretch>
        </p:blipFill>
        <p:spPr>
          <a:xfrm>
            <a:off x="1696997" y="1575613"/>
            <a:ext cx="5753181" cy="4526905"/>
          </a:xfrm>
          <a:prstGeom prst="rect">
            <a:avLst/>
          </a:prstGeom>
        </p:spPr>
      </p:pic>
    </p:spTree>
    <p:extLst>
      <p:ext uri="{BB962C8B-B14F-4D97-AF65-F5344CB8AC3E}">
        <p14:creationId xmlns:p14="http://schemas.microsoft.com/office/powerpoint/2010/main" val="3222340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740B6-8B33-41AF-8A9A-2DBD256C09D6}"/>
              </a:ext>
            </a:extLst>
          </p:cNvPr>
          <p:cNvSpPr>
            <a:spLocks noGrp="1"/>
          </p:cNvSpPr>
          <p:nvPr>
            <p:ph type="title"/>
          </p:nvPr>
        </p:nvSpPr>
        <p:spPr/>
        <p:txBody>
          <a:bodyPr/>
          <a:lstStyle/>
          <a:p>
            <a:r>
              <a:rPr lang="en-IN" dirty="0"/>
              <a:t>Note </a:t>
            </a:r>
            <a:r>
              <a:rPr lang="en-IN" sz="2000" b="0" dirty="0"/>
              <a:t>(1 of 2)</a:t>
            </a:r>
            <a:endParaRPr lang="en-IN" b="0" dirty="0"/>
          </a:p>
        </p:txBody>
      </p:sp>
      <p:sp>
        <p:nvSpPr>
          <p:cNvPr id="3" name="Content Placeholder 2">
            <a:extLst>
              <a:ext uri="{FF2B5EF4-FFF2-40B4-BE49-F238E27FC236}">
                <a16:creationId xmlns:a16="http://schemas.microsoft.com/office/drawing/2014/main" id="{BDAEB382-CC8A-40F9-89DA-F0B4CC629A4F}"/>
              </a:ext>
            </a:extLst>
          </p:cNvPr>
          <p:cNvSpPr>
            <a:spLocks noGrp="1"/>
          </p:cNvSpPr>
          <p:nvPr>
            <p:ph sz="quarter" idx="13"/>
          </p:nvPr>
        </p:nvSpPr>
        <p:spPr>
          <a:xfrm>
            <a:off x="457200" y="1556327"/>
            <a:ext cx="8229600" cy="925616"/>
          </a:xfrm>
        </p:spPr>
        <p:txBody>
          <a:bodyPr/>
          <a:lstStyle/>
          <a:p>
            <a:pPr marL="432" indent="0">
              <a:buNone/>
            </a:pPr>
            <a:r>
              <a:rPr lang="en-IN" dirty="0"/>
              <a:t>The </a:t>
            </a:r>
            <a:r>
              <a:rPr lang="en-IN" u="sng" dirty="0"/>
              <a:t>else</a:t>
            </a:r>
            <a:r>
              <a:rPr lang="en-IN" dirty="0"/>
              <a:t> clause matches the most recent </a:t>
            </a:r>
            <a:r>
              <a:rPr lang="en-IN" u="sng" dirty="0"/>
              <a:t>if</a:t>
            </a:r>
            <a:r>
              <a:rPr lang="en-IN" dirty="0"/>
              <a:t> clause in the same block.</a:t>
            </a:r>
          </a:p>
        </p:txBody>
      </p:sp>
      <p:pic>
        <p:nvPicPr>
          <p:cNvPr id="5" name="Content Placeholder 4" descr="int i = 1, j = 2, k = 3; For long description in Notes pane, press F6.">
            <a:extLst>
              <a:ext uri="{FF2B5EF4-FFF2-40B4-BE49-F238E27FC236}">
                <a16:creationId xmlns:a16="http://schemas.microsoft.com/office/drawing/2014/main" id="{203A8110-71F2-48BC-BB43-3287F31CC59C}"/>
              </a:ext>
            </a:extLst>
          </p:cNvPr>
          <p:cNvPicPr>
            <a:picLocks noGrp="1" noChangeAspect="1"/>
          </p:cNvPicPr>
          <p:nvPr>
            <p:ph sz="quarter" idx="14"/>
          </p:nvPr>
        </p:nvPicPr>
        <p:blipFill>
          <a:blip r:embed="rId3"/>
          <a:stretch>
            <a:fillRect/>
          </a:stretch>
        </p:blipFill>
        <p:spPr>
          <a:xfrm>
            <a:off x="457200" y="2755250"/>
            <a:ext cx="8229600" cy="2046001"/>
          </a:xfrm>
          <a:prstGeom prst="rect">
            <a:avLst/>
          </a:prstGeom>
        </p:spPr>
      </p:pic>
    </p:spTree>
    <p:extLst>
      <p:ext uri="{BB962C8B-B14F-4D97-AF65-F5344CB8AC3E}">
        <p14:creationId xmlns:p14="http://schemas.microsoft.com/office/powerpoint/2010/main" val="942170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F5FDD-3378-4D3C-A516-E1CA1893072B}"/>
              </a:ext>
            </a:extLst>
          </p:cNvPr>
          <p:cNvSpPr>
            <a:spLocks noGrp="1"/>
          </p:cNvSpPr>
          <p:nvPr>
            <p:ph type="title"/>
          </p:nvPr>
        </p:nvSpPr>
        <p:spPr/>
        <p:txBody>
          <a:bodyPr/>
          <a:lstStyle/>
          <a:p>
            <a:r>
              <a:rPr lang="en-IN" dirty="0"/>
              <a:t>Note </a:t>
            </a:r>
            <a:r>
              <a:rPr lang="en-IN" sz="2000" b="0" dirty="0"/>
              <a:t>(2 of 2)</a:t>
            </a:r>
            <a:endParaRPr lang="en-IN" b="0" dirty="0"/>
          </a:p>
        </p:txBody>
      </p:sp>
      <p:sp>
        <p:nvSpPr>
          <p:cNvPr id="3" name="Content Placeholder 2">
            <a:extLst>
              <a:ext uri="{FF2B5EF4-FFF2-40B4-BE49-F238E27FC236}">
                <a16:creationId xmlns:a16="http://schemas.microsoft.com/office/drawing/2014/main" id="{6BF685F4-1DAA-41C7-98D2-2C0A100E820A}"/>
              </a:ext>
            </a:extLst>
          </p:cNvPr>
          <p:cNvSpPr>
            <a:spLocks noGrp="1"/>
          </p:cNvSpPr>
          <p:nvPr>
            <p:ph sz="quarter" idx="13"/>
          </p:nvPr>
        </p:nvSpPr>
        <p:spPr>
          <a:xfrm>
            <a:off x="457199" y="1552575"/>
            <a:ext cx="8229599" cy="784225"/>
          </a:xfrm>
        </p:spPr>
        <p:txBody>
          <a:bodyPr/>
          <a:lstStyle/>
          <a:p>
            <a:pPr marL="432" indent="0">
              <a:buNone/>
            </a:pPr>
            <a:r>
              <a:rPr lang="en-IN" sz="2000" dirty="0"/>
              <a:t>Nothing is printed from the preceding statement. To force the </a:t>
            </a:r>
            <a:r>
              <a:rPr lang="en-IN" sz="2000" u="sng" dirty="0"/>
              <a:t>else</a:t>
            </a:r>
            <a:r>
              <a:rPr lang="en-IN" sz="2000" dirty="0"/>
              <a:t> clause to match the first if clause, you must add a pair of braces:</a:t>
            </a:r>
          </a:p>
        </p:txBody>
      </p:sp>
      <p:sp>
        <p:nvSpPr>
          <p:cNvPr id="4" name="Content Placeholder 3">
            <a:extLst>
              <a:ext uri="{FF2B5EF4-FFF2-40B4-BE49-F238E27FC236}">
                <a16:creationId xmlns:a16="http://schemas.microsoft.com/office/drawing/2014/main" id="{214CCFC5-AD30-475A-BD88-AF66F6F32510}"/>
              </a:ext>
            </a:extLst>
          </p:cNvPr>
          <p:cNvSpPr>
            <a:spLocks noGrp="1"/>
          </p:cNvSpPr>
          <p:nvPr>
            <p:ph sz="quarter" idx="14"/>
          </p:nvPr>
        </p:nvSpPr>
        <p:spPr>
          <a:xfrm>
            <a:off x="457200" y="2416615"/>
            <a:ext cx="8229598" cy="3230041"/>
          </a:xfrm>
        </p:spPr>
        <p:txBody>
          <a:bodyPr/>
          <a:lstStyle/>
          <a:p>
            <a:pPr marL="0" indent="358775">
              <a:spcBef>
                <a:spcPts val="300"/>
              </a:spcBef>
              <a:buNone/>
            </a:pPr>
            <a:r>
              <a:rPr lang="en-IN" sz="2000" b="1" dirty="0">
                <a:latin typeface="Courier New" panose="02070309020205020404" pitchFamily="49" charset="0"/>
                <a:cs typeface="Courier New" panose="02070309020205020404" pitchFamily="49" charset="0"/>
              </a:rPr>
              <a:t>int </a:t>
            </a:r>
            <a:r>
              <a:rPr lang="en-IN" sz="2000" b="1" dirty="0" err="1">
                <a:latin typeface="Courier New" panose="02070309020205020404" pitchFamily="49" charset="0"/>
                <a:cs typeface="Courier New" panose="02070309020205020404" pitchFamily="49" charset="0"/>
              </a:rPr>
              <a:t>i</a:t>
            </a:r>
            <a:r>
              <a:rPr lang="en-IN" sz="2000" b="1" dirty="0">
                <a:latin typeface="Courier New" panose="02070309020205020404" pitchFamily="49" charset="0"/>
                <a:cs typeface="Courier New" panose="02070309020205020404" pitchFamily="49" charset="0"/>
              </a:rPr>
              <a:t> = 1;</a:t>
            </a:r>
          </a:p>
          <a:p>
            <a:pPr marL="360000" indent="0">
              <a:spcBef>
                <a:spcPts val="300"/>
              </a:spcBef>
              <a:buNone/>
            </a:pPr>
            <a:r>
              <a:rPr lang="en-IN" sz="2000" b="1" dirty="0">
                <a:latin typeface="Courier New" panose="02070309020205020404" pitchFamily="49" charset="0"/>
                <a:cs typeface="Courier New" panose="02070309020205020404" pitchFamily="49" charset="0"/>
              </a:rPr>
              <a:t>int j = 2;</a:t>
            </a:r>
          </a:p>
          <a:p>
            <a:pPr marL="360000" indent="0">
              <a:spcBef>
                <a:spcPts val="300"/>
              </a:spcBef>
              <a:buNone/>
            </a:pPr>
            <a:r>
              <a:rPr lang="en-IN" sz="2000" b="1" dirty="0">
                <a:latin typeface="Courier New" panose="02070309020205020404" pitchFamily="49" charset="0"/>
                <a:cs typeface="Courier New" panose="02070309020205020404" pitchFamily="49" charset="0"/>
              </a:rPr>
              <a:t>int k = 3;</a:t>
            </a:r>
          </a:p>
          <a:p>
            <a:pPr marL="360000" indent="0">
              <a:spcBef>
                <a:spcPts val="300"/>
              </a:spcBef>
              <a:buNone/>
            </a:pPr>
            <a:r>
              <a:rPr lang="en-IN" sz="2000" b="1" dirty="0">
                <a:latin typeface="Courier New" panose="02070309020205020404" pitchFamily="49" charset="0"/>
                <a:cs typeface="Courier New" panose="02070309020205020404" pitchFamily="49" charset="0"/>
              </a:rPr>
              <a:t>if (</a:t>
            </a:r>
            <a:r>
              <a:rPr lang="en-IN" sz="2000" b="1" dirty="0" err="1">
                <a:latin typeface="Courier New" panose="02070309020205020404" pitchFamily="49" charset="0"/>
                <a:cs typeface="Courier New" panose="02070309020205020404" pitchFamily="49" charset="0"/>
              </a:rPr>
              <a:t>i</a:t>
            </a:r>
            <a:r>
              <a:rPr lang="en-IN" sz="2000" b="1" dirty="0">
                <a:latin typeface="Courier New" panose="02070309020205020404" pitchFamily="49" charset="0"/>
                <a:cs typeface="Courier New" panose="02070309020205020404" pitchFamily="49" charset="0"/>
              </a:rPr>
              <a:t> &gt; j) </a:t>
            </a:r>
            <a:r>
              <a:rPr lang="en-IN" sz="2000" b="1" dirty="0">
                <a:solidFill>
                  <a:srgbClr val="9A3A3A"/>
                </a:solidFill>
                <a:latin typeface="Courier New" panose="02070309020205020404" pitchFamily="49" charset="0"/>
                <a:cs typeface="Courier New" panose="02070309020205020404" pitchFamily="49" charset="0"/>
              </a:rPr>
              <a:t>{</a:t>
            </a:r>
          </a:p>
          <a:p>
            <a:pPr marL="720000" indent="0">
              <a:spcBef>
                <a:spcPts val="300"/>
              </a:spcBef>
              <a:buNone/>
            </a:pPr>
            <a:r>
              <a:rPr lang="en-IN" sz="2000" b="1" dirty="0">
                <a:latin typeface="Courier New" panose="02070309020205020404" pitchFamily="49" charset="0"/>
                <a:cs typeface="Courier New" panose="02070309020205020404" pitchFamily="49" charset="0"/>
              </a:rPr>
              <a:t>if (</a:t>
            </a:r>
            <a:r>
              <a:rPr lang="en-IN" sz="2000" b="1" dirty="0" err="1">
                <a:latin typeface="Courier New" panose="02070309020205020404" pitchFamily="49" charset="0"/>
                <a:cs typeface="Courier New" panose="02070309020205020404" pitchFamily="49" charset="0"/>
              </a:rPr>
              <a:t>i</a:t>
            </a:r>
            <a:r>
              <a:rPr lang="en-IN" sz="2000" b="1" dirty="0">
                <a:latin typeface="Courier New" panose="02070309020205020404" pitchFamily="49" charset="0"/>
                <a:cs typeface="Courier New" panose="02070309020205020404" pitchFamily="49" charset="0"/>
              </a:rPr>
              <a:t> &gt; k)</a:t>
            </a:r>
          </a:p>
          <a:p>
            <a:pPr marL="900000" indent="0">
              <a:spcBef>
                <a:spcPts val="300"/>
              </a:spcBef>
              <a:buNone/>
            </a:pPr>
            <a:r>
              <a:rPr lang="en-IN" sz="2000" b="1" dirty="0" err="1">
                <a:latin typeface="Courier New" panose="02070309020205020404" pitchFamily="49" charset="0"/>
                <a:cs typeface="Courier New" panose="02070309020205020404" pitchFamily="49" charset="0"/>
              </a:rPr>
              <a:t>System.out.println</a:t>
            </a:r>
            <a:r>
              <a:rPr lang="en-IN" sz="2000" b="1" dirty="0">
                <a:latin typeface="Courier New" panose="02070309020205020404" pitchFamily="49" charset="0"/>
                <a:cs typeface="Courier New" panose="02070309020205020404" pitchFamily="49" charset="0"/>
              </a:rPr>
              <a:t>("A");</a:t>
            </a:r>
          </a:p>
          <a:p>
            <a:pPr marL="360000" indent="0">
              <a:spcBef>
                <a:spcPts val="300"/>
              </a:spcBef>
              <a:buNone/>
            </a:pPr>
            <a:r>
              <a:rPr lang="en-IN" sz="2000" b="1" dirty="0">
                <a:solidFill>
                  <a:srgbClr val="C00000"/>
                </a:solidFill>
                <a:latin typeface="Courier New" panose="02070309020205020404" pitchFamily="49" charset="0"/>
                <a:cs typeface="Courier New" panose="02070309020205020404" pitchFamily="49" charset="0"/>
              </a:rPr>
              <a:t>}</a:t>
            </a:r>
          </a:p>
          <a:p>
            <a:pPr marL="360000" indent="0">
              <a:spcBef>
                <a:spcPts val="300"/>
              </a:spcBef>
              <a:buNone/>
            </a:pPr>
            <a:r>
              <a:rPr lang="en-IN" sz="2000" b="1" dirty="0">
                <a:latin typeface="Courier New" panose="02070309020205020404" pitchFamily="49" charset="0"/>
                <a:cs typeface="Courier New" panose="02070309020205020404" pitchFamily="49" charset="0"/>
              </a:rPr>
              <a:t>else</a:t>
            </a:r>
          </a:p>
          <a:p>
            <a:pPr marL="720000" indent="0">
              <a:spcBef>
                <a:spcPts val="300"/>
              </a:spcBef>
              <a:buNone/>
            </a:pPr>
            <a:r>
              <a:rPr lang="en-IN" sz="2000" b="1" dirty="0" err="1">
                <a:latin typeface="Courier New" panose="02070309020205020404" pitchFamily="49" charset="0"/>
                <a:cs typeface="Courier New" panose="02070309020205020404" pitchFamily="49" charset="0"/>
              </a:rPr>
              <a:t>System.out.println</a:t>
            </a:r>
            <a:r>
              <a:rPr lang="en-IN" sz="2000" b="1" dirty="0">
                <a:latin typeface="Courier New" panose="02070309020205020404" pitchFamily="49" charset="0"/>
                <a:cs typeface="Courier New" panose="02070309020205020404" pitchFamily="49" charset="0"/>
              </a:rPr>
              <a:t>("B");</a:t>
            </a:r>
          </a:p>
        </p:txBody>
      </p:sp>
      <p:sp>
        <p:nvSpPr>
          <p:cNvPr id="5" name="Content Placeholder 4">
            <a:extLst>
              <a:ext uri="{FF2B5EF4-FFF2-40B4-BE49-F238E27FC236}">
                <a16:creationId xmlns:a16="http://schemas.microsoft.com/office/drawing/2014/main" id="{DCBC1EE1-38D0-41D4-99BB-59DF0ACB2123}"/>
              </a:ext>
            </a:extLst>
          </p:cNvPr>
          <p:cNvSpPr>
            <a:spLocks noGrp="1"/>
          </p:cNvSpPr>
          <p:nvPr>
            <p:ph sz="quarter" idx="15"/>
          </p:nvPr>
        </p:nvSpPr>
        <p:spPr>
          <a:xfrm>
            <a:off x="457199" y="5758460"/>
            <a:ext cx="8229597" cy="460387"/>
          </a:xfrm>
        </p:spPr>
        <p:txBody>
          <a:bodyPr/>
          <a:lstStyle/>
          <a:p>
            <a:pPr marL="432" indent="0">
              <a:buNone/>
            </a:pPr>
            <a:r>
              <a:rPr lang="en-IN" sz="2000" dirty="0"/>
              <a:t>This statement prints B.</a:t>
            </a:r>
          </a:p>
        </p:txBody>
      </p:sp>
    </p:spTree>
    <p:extLst>
      <p:ext uri="{BB962C8B-B14F-4D97-AF65-F5344CB8AC3E}">
        <p14:creationId xmlns:p14="http://schemas.microsoft.com/office/powerpoint/2010/main" val="20907916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9D4F5-B882-4727-A25D-21B8440708D2}"/>
              </a:ext>
            </a:extLst>
          </p:cNvPr>
          <p:cNvSpPr>
            <a:spLocks noGrp="1"/>
          </p:cNvSpPr>
          <p:nvPr>
            <p:ph type="title"/>
          </p:nvPr>
        </p:nvSpPr>
        <p:spPr/>
        <p:txBody>
          <a:bodyPr/>
          <a:lstStyle/>
          <a:p>
            <a:r>
              <a:rPr lang="en-IN" dirty="0"/>
              <a:t>Common Errors</a:t>
            </a:r>
          </a:p>
        </p:txBody>
      </p:sp>
      <p:sp>
        <p:nvSpPr>
          <p:cNvPr id="6" name="Content Placeholder 5">
            <a:extLst>
              <a:ext uri="{FF2B5EF4-FFF2-40B4-BE49-F238E27FC236}">
                <a16:creationId xmlns:a16="http://schemas.microsoft.com/office/drawing/2014/main" id="{D36B8E3E-73AD-4644-A2FF-1DE1239D707C}"/>
              </a:ext>
            </a:extLst>
          </p:cNvPr>
          <p:cNvSpPr>
            <a:spLocks noGrp="1"/>
          </p:cNvSpPr>
          <p:nvPr>
            <p:ph sz="quarter" idx="13"/>
          </p:nvPr>
        </p:nvSpPr>
        <p:spPr>
          <a:xfrm>
            <a:off x="457199" y="1556328"/>
            <a:ext cx="8587409" cy="530890"/>
          </a:xfrm>
        </p:spPr>
        <p:txBody>
          <a:bodyPr/>
          <a:lstStyle/>
          <a:p>
            <a:pPr marL="432" indent="0">
              <a:buNone/>
            </a:pPr>
            <a:r>
              <a:rPr lang="en-US" sz="2200" dirty="0"/>
              <a:t>Adding a semicolon at the end of an </a:t>
            </a:r>
            <a:r>
              <a:rPr lang="en-US" sz="2200" u="sng" dirty="0"/>
              <a:t>if</a:t>
            </a:r>
            <a:r>
              <a:rPr lang="en-US" sz="2200" dirty="0"/>
              <a:t> clause is a common mistake.</a:t>
            </a:r>
          </a:p>
        </p:txBody>
      </p:sp>
      <p:pic>
        <p:nvPicPr>
          <p:cNvPr id="12" name="Content Placeholder 11" descr="if left parenthesis radius is greater than or equal to 0 right parenthesis semi colon, wrong, For long description in Notes pane, press F6.">
            <a:extLst>
              <a:ext uri="{FF2B5EF4-FFF2-40B4-BE49-F238E27FC236}">
                <a16:creationId xmlns:a16="http://schemas.microsoft.com/office/drawing/2014/main" id="{2F0BF1E1-3FB0-4E82-A2A5-9DE3A09BF30A}"/>
              </a:ext>
            </a:extLst>
          </p:cNvPr>
          <p:cNvPicPr>
            <a:picLocks noGrp="1" noChangeAspect="1"/>
          </p:cNvPicPr>
          <p:nvPr>
            <p:ph sz="quarter" idx="14"/>
          </p:nvPr>
        </p:nvPicPr>
        <p:blipFill>
          <a:blip r:embed="rId3"/>
          <a:stretch>
            <a:fillRect/>
          </a:stretch>
        </p:blipFill>
        <p:spPr>
          <a:xfrm>
            <a:off x="525998" y="2187112"/>
            <a:ext cx="4314923" cy="2482559"/>
          </a:xfrm>
        </p:spPr>
      </p:pic>
      <p:sp>
        <p:nvSpPr>
          <p:cNvPr id="8" name="Content Placeholder 7">
            <a:extLst>
              <a:ext uri="{FF2B5EF4-FFF2-40B4-BE49-F238E27FC236}">
                <a16:creationId xmlns:a16="http://schemas.microsoft.com/office/drawing/2014/main" id="{60625B28-CAC9-4D4E-A09B-25D532B40058}"/>
              </a:ext>
            </a:extLst>
          </p:cNvPr>
          <p:cNvSpPr>
            <a:spLocks noGrp="1"/>
          </p:cNvSpPr>
          <p:nvPr>
            <p:ph sz="quarter" idx="15"/>
          </p:nvPr>
        </p:nvSpPr>
        <p:spPr>
          <a:xfrm>
            <a:off x="457200" y="4825657"/>
            <a:ext cx="8557591" cy="1494612"/>
          </a:xfrm>
        </p:spPr>
        <p:txBody>
          <a:bodyPr/>
          <a:lstStyle/>
          <a:p>
            <a:pPr marL="432" indent="0">
              <a:buNone/>
            </a:pPr>
            <a:r>
              <a:rPr lang="en-US" sz="2200" dirty="0"/>
              <a:t>This mistake is hard to find, because it is not a compilation error or a runtime error, it is a logic error.</a:t>
            </a:r>
          </a:p>
          <a:p>
            <a:pPr marL="432" indent="0">
              <a:buNone/>
            </a:pPr>
            <a:r>
              <a:rPr lang="en-US" sz="2200" dirty="0"/>
              <a:t>This error often occurs when you use the next-line block style.</a:t>
            </a:r>
          </a:p>
        </p:txBody>
      </p:sp>
    </p:spTree>
    <p:extLst>
      <p:ext uri="{BB962C8B-B14F-4D97-AF65-F5344CB8AC3E}">
        <p14:creationId xmlns:p14="http://schemas.microsoft.com/office/powerpoint/2010/main" val="1061592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6719A-F755-437F-9E4E-21D75DBA4052}"/>
              </a:ext>
            </a:extLst>
          </p:cNvPr>
          <p:cNvSpPr>
            <a:spLocks noGrp="1"/>
          </p:cNvSpPr>
          <p:nvPr>
            <p:ph type="title"/>
          </p:nvPr>
        </p:nvSpPr>
        <p:spPr/>
        <p:txBody>
          <a:bodyPr/>
          <a:lstStyle/>
          <a:p>
            <a:r>
              <a:rPr lang="en-IN" dirty="0"/>
              <a:t>TIP</a:t>
            </a:r>
          </a:p>
        </p:txBody>
      </p:sp>
      <p:pic>
        <p:nvPicPr>
          <p:cNvPr id="7" name="Content Placeholder 6" descr="Two images show Caution. For long description in Notes pane, press F6.">
            <a:extLst>
              <a:ext uri="{FF2B5EF4-FFF2-40B4-BE49-F238E27FC236}">
                <a16:creationId xmlns:a16="http://schemas.microsoft.com/office/drawing/2014/main" id="{0A6DB2C4-E39D-4119-B06C-EC9D40D6A3B2}"/>
              </a:ext>
            </a:extLst>
          </p:cNvPr>
          <p:cNvPicPr>
            <a:picLocks noGrp="1" noChangeAspect="1"/>
          </p:cNvPicPr>
          <p:nvPr>
            <p:ph sz="quarter" idx="13"/>
          </p:nvPr>
        </p:nvPicPr>
        <p:blipFill>
          <a:blip r:embed="rId3"/>
          <a:stretch>
            <a:fillRect/>
          </a:stretch>
        </p:blipFill>
        <p:spPr>
          <a:xfrm>
            <a:off x="457200" y="1872482"/>
            <a:ext cx="8232775" cy="1821266"/>
          </a:xfrm>
          <a:prstGeom prst="rect">
            <a:avLst/>
          </a:prstGeom>
        </p:spPr>
      </p:pic>
    </p:spTree>
    <p:extLst>
      <p:ext uri="{BB962C8B-B14F-4D97-AF65-F5344CB8AC3E}">
        <p14:creationId xmlns:p14="http://schemas.microsoft.com/office/powerpoint/2010/main" val="3416996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9A634-337A-4DF8-BB83-EDCEFFFBEE9E}"/>
              </a:ext>
            </a:extLst>
          </p:cNvPr>
          <p:cNvSpPr>
            <a:spLocks noGrp="1"/>
          </p:cNvSpPr>
          <p:nvPr>
            <p:ph type="title"/>
          </p:nvPr>
        </p:nvSpPr>
        <p:spPr/>
        <p:txBody>
          <a:bodyPr/>
          <a:lstStyle/>
          <a:p>
            <a:r>
              <a:rPr lang="en-IN" dirty="0"/>
              <a:t>CAUTION</a:t>
            </a:r>
          </a:p>
        </p:txBody>
      </p:sp>
      <p:pic>
        <p:nvPicPr>
          <p:cNvPr id="7" name="Content Placeholder 6" descr="A table shows B M I and interpretation in two columns. For long description in Notes pane, press F6.">
            <a:extLst>
              <a:ext uri="{FF2B5EF4-FFF2-40B4-BE49-F238E27FC236}">
                <a16:creationId xmlns:a16="http://schemas.microsoft.com/office/drawing/2014/main" id="{FD0544D9-9D1D-4A9A-A8D8-7047E41D6968}"/>
              </a:ext>
            </a:extLst>
          </p:cNvPr>
          <p:cNvPicPr>
            <a:picLocks noGrp="1" noChangeAspect="1"/>
          </p:cNvPicPr>
          <p:nvPr>
            <p:ph sz="quarter" idx="13"/>
          </p:nvPr>
        </p:nvPicPr>
        <p:blipFill>
          <a:blip r:embed="rId3"/>
          <a:stretch>
            <a:fillRect/>
          </a:stretch>
        </p:blipFill>
        <p:spPr>
          <a:xfrm>
            <a:off x="457200" y="1865725"/>
            <a:ext cx="8232775" cy="1418132"/>
          </a:xfrm>
          <a:prstGeom prst="rect">
            <a:avLst/>
          </a:prstGeom>
        </p:spPr>
      </p:pic>
    </p:spTree>
    <p:extLst>
      <p:ext uri="{BB962C8B-B14F-4D97-AF65-F5344CB8AC3E}">
        <p14:creationId xmlns:p14="http://schemas.microsoft.com/office/powerpoint/2010/main" val="16854922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E58D1-4114-478B-9B81-5799B93A48E7}"/>
              </a:ext>
            </a:extLst>
          </p:cNvPr>
          <p:cNvSpPr>
            <a:spLocks noGrp="1"/>
          </p:cNvSpPr>
          <p:nvPr>
            <p:ph type="title"/>
          </p:nvPr>
        </p:nvSpPr>
        <p:spPr/>
        <p:txBody>
          <a:bodyPr/>
          <a:lstStyle/>
          <a:p>
            <a:r>
              <a:rPr lang="en-IN" sz="3200" dirty="0"/>
              <a:t>Problem: An Improved Math Learning Tool</a:t>
            </a:r>
          </a:p>
        </p:txBody>
      </p:sp>
      <p:sp>
        <p:nvSpPr>
          <p:cNvPr id="3" name="Content Placeholder 2">
            <a:extLst>
              <a:ext uri="{FF2B5EF4-FFF2-40B4-BE49-F238E27FC236}">
                <a16:creationId xmlns:a16="http://schemas.microsoft.com/office/drawing/2014/main" id="{DDC65024-4238-42CC-BB00-F91B165B9EDD}"/>
              </a:ext>
            </a:extLst>
          </p:cNvPr>
          <p:cNvSpPr>
            <a:spLocks noGrp="1"/>
          </p:cNvSpPr>
          <p:nvPr>
            <p:ph sz="quarter" idx="13"/>
          </p:nvPr>
        </p:nvSpPr>
        <p:spPr>
          <a:xfrm>
            <a:off x="457200" y="1552576"/>
            <a:ext cx="8229600" cy="1672946"/>
          </a:xfrm>
        </p:spPr>
        <p:txBody>
          <a:bodyPr/>
          <a:lstStyle/>
          <a:p>
            <a:pPr marL="432" indent="0">
              <a:buNone/>
            </a:pPr>
            <a:r>
              <a:rPr lang="en-IN" dirty="0"/>
              <a:t>This example creates a program to teach a first grade child how to learn subtractions. The program randomly generates two single-digit integers </a:t>
            </a:r>
            <a:r>
              <a:rPr lang="en-IN" u="sng" dirty="0"/>
              <a:t>number1</a:t>
            </a:r>
            <a:r>
              <a:rPr lang="en-IN" dirty="0"/>
              <a:t> and </a:t>
            </a:r>
            <a:r>
              <a:rPr lang="en-IN" u="sng" dirty="0"/>
              <a:t>number2</a:t>
            </a:r>
            <a:r>
              <a:rPr lang="en-IN" dirty="0"/>
              <a:t> with </a:t>
            </a:r>
            <a:r>
              <a:rPr lang="en-IN" u="sng" dirty="0"/>
              <a:t>number1 &gt;= number2 </a:t>
            </a:r>
            <a:r>
              <a:rPr lang="en-IN" dirty="0"/>
              <a:t>and displays a question such as</a:t>
            </a:r>
          </a:p>
        </p:txBody>
      </p:sp>
      <p:sp>
        <p:nvSpPr>
          <p:cNvPr id="4" name="Content Placeholder 3">
            <a:extLst>
              <a:ext uri="{FF2B5EF4-FFF2-40B4-BE49-F238E27FC236}">
                <a16:creationId xmlns:a16="http://schemas.microsoft.com/office/drawing/2014/main" id="{2B42FD11-FC24-493B-A09D-7034F086FA2A}"/>
              </a:ext>
            </a:extLst>
          </p:cNvPr>
          <p:cNvSpPr>
            <a:spLocks noGrp="1"/>
          </p:cNvSpPr>
          <p:nvPr>
            <p:ph sz="quarter" idx="14"/>
          </p:nvPr>
        </p:nvSpPr>
        <p:spPr>
          <a:xfrm>
            <a:off x="457200" y="3290253"/>
            <a:ext cx="1371600" cy="508020"/>
          </a:xfrm>
        </p:spPr>
        <p:txBody>
          <a:bodyPr/>
          <a:lstStyle/>
          <a:p>
            <a:pPr marL="432" indent="0">
              <a:buNone/>
            </a:pPr>
            <a:r>
              <a:rPr lang="en-IN" dirty="0"/>
              <a:t>“What is</a:t>
            </a:r>
          </a:p>
        </p:txBody>
      </p:sp>
      <p:graphicFrame>
        <p:nvGraphicFramePr>
          <p:cNvPr id="16" name="Object 15" descr="9 minus 2?'">
            <a:extLst>
              <a:ext uri="{FF2B5EF4-FFF2-40B4-BE49-F238E27FC236}">
                <a16:creationId xmlns:a16="http://schemas.microsoft.com/office/drawing/2014/main" id="{82EF8010-0192-4B21-9782-D6C38D09D581}"/>
              </a:ext>
            </a:extLst>
          </p:cNvPr>
          <p:cNvGraphicFramePr>
            <a:graphicFrameLocks noChangeAspect="1"/>
          </p:cNvGraphicFramePr>
          <p:nvPr>
            <p:extLst>
              <p:ext uri="{D42A27DB-BD31-4B8C-83A1-F6EECF244321}">
                <p14:modId xmlns:p14="http://schemas.microsoft.com/office/powerpoint/2010/main" val="2181116926"/>
              </p:ext>
            </p:extLst>
          </p:nvPr>
        </p:nvGraphicFramePr>
        <p:xfrm>
          <a:off x="1882476" y="3409399"/>
          <a:ext cx="970443" cy="339654"/>
        </p:xfrm>
        <a:graphic>
          <a:graphicData uri="http://schemas.openxmlformats.org/presentationml/2006/ole">
            <mc:AlternateContent xmlns:mc="http://schemas.openxmlformats.org/markup-compatibility/2006">
              <mc:Choice xmlns:v="urn:schemas-microsoft-com:vml" Requires="v">
                <p:oleObj spid="_x0000_s2054" name="Equation" r:id="rId4" imgW="507960" imgH="177480" progId="Equation.DSMT4">
                  <p:embed/>
                </p:oleObj>
              </mc:Choice>
              <mc:Fallback>
                <p:oleObj name="Equation" r:id="rId4" imgW="507960" imgH="177480" progId="Equation.DSMT4">
                  <p:embed/>
                  <p:pic>
                    <p:nvPicPr>
                      <p:cNvPr id="0" name=""/>
                      <p:cNvPicPr/>
                      <p:nvPr/>
                    </p:nvPicPr>
                    <p:blipFill>
                      <a:blip r:embed="rId5"/>
                      <a:stretch>
                        <a:fillRect/>
                      </a:stretch>
                    </p:blipFill>
                    <p:spPr>
                      <a:xfrm>
                        <a:off x="1882476" y="3409399"/>
                        <a:ext cx="970443" cy="339654"/>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163EB11A-8DAE-4293-87EE-D8318B94FC7C}"/>
              </a:ext>
            </a:extLst>
          </p:cNvPr>
          <p:cNvSpPr>
            <a:spLocks noGrp="1"/>
          </p:cNvSpPr>
          <p:nvPr>
            <p:ph sz="quarter" idx="15"/>
          </p:nvPr>
        </p:nvSpPr>
        <p:spPr>
          <a:xfrm>
            <a:off x="3004457" y="3360585"/>
            <a:ext cx="5707464" cy="417593"/>
          </a:xfrm>
        </p:spPr>
        <p:txBody>
          <a:bodyPr lIns="0" tIns="0" rIns="0" bIns="0"/>
          <a:lstStyle/>
          <a:p>
            <a:pPr marL="432" indent="0">
              <a:buNone/>
            </a:pPr>
            <a:r>
              <a:rPr lang="en-IN" dirty="0"/>
              <a:t>to the student. After the student types the</a:t>
            </a:r>
          </a:p>
        </p:txBody>
      </p:sp>
      <p:sp>
        <p:nvSpPr>
          <p:cNvPr id="6" name="Content Placeholder 5">
            <a:extLst>
              <a:ext uri="{FF2B5EF4-FFF2-40B4-BE49-F238E27FC236}">
                <a16:creationId xmlns:a16="http://schemas.microsoft.com/office/drawing/2014/main" id="{DA0BD949-804B-4B0B-9F59-CB0F3780FC30}"/>
              </a:ext>
            </a:extLst>
          </p:cNvPr>
          <p:cNvSpPr>
            <a:spLocks noGrp="1"/>
          </p:cNvSpPr>
          <p:nvPr>
            <p:ph sz="quarter" idx="16"/>
          </p:nvPr>
        </p:nvSpPr>
        <p:spPr>
          <a:xfrm>
            <a:off x="457199" y="3843577"/>
            <a:ext cx="8385349" cy="557601"/>
          </a:xfrm>
        </p:spPr>
        <p:txBody>
          <a:bodyPr/>
          <a:lstStyle/>
          <a:p>
            <a:pPr marL="432" indent="0">
              <a:buNone/>
            </a:pPr>
            <a:r>
              <a:rPr lang="en-IN" dirty="0"/>
              <a:t>answer, the program displays whether the answer is correct.</a:t>
            </a:r>
          </a:p>
        </p:txBody>
      </p:sp>
      <p:sp>
        <p:nvSpPr>
          <p:cNvPr id="10" name="Text Placeholder 9">
            <a:extLst>
              <a:ext uri="{FF2B5EF4-FFF2-40B4-BE49-F238E27FC236}">
                <a16:creationId xmlns:a16="http://schemas.microsoft.com/office/drawing/2014/main" id="{6BB21639-158D-4FD3-BD98-657C1B28D6A1}"/>
              </a:ext>
            </a:extLst>
          </p:cNvPr>
          <p:cNvSpPr>
            <a:spLocks noGrp="1"/>
          </p:cNvSpPr>
          <p:nvPr>
            <p:ph type="body" sz="quarter" idx="20"/>
          </p:nvPr>
        </p:nvSpPr>
        <p:spPr>
          <a:xfrm>
            <a:off x="5778634" y="5735359"/>
            <a:ext cx="2875175" cy="542893"/>
          </a:xfrm>
        </p:spPr>
        <p:txBody>
          <a:bodyPr/>
          <a:lstStyle/>
          <a:p>
            <a:pPr marL="432" indent="0" algn="ctr">
              <a:buNone/>
            </a:pPr>
            <a:r>
              <a:rPr lang="en-IN" dirty="0">
                <a:hlinkClick r:id="rId6" tooltip="https://liveexample.pearsoncmg.com/html/SubtractionQuiz.html"/>
              </a:rPr>
              <a:t>SubtractionQuiz</a:t>
            </a:r>
          </a:p>
        </p:txBody>
      </p:sp>
    </p:spTree>
    <p:extLst>
      <p:ext uri="{BB962C8B-B14F-4D97-AF65-F5344CB8AC3E}">
        <p14:creationId xmlns:p14="http://schemas.microsoft.com/office/powerpoint/2010/main" val="1415385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15162-3651-4461-BE58-0EA25150705E}"/>
              </a:ext>
            </a:extLst>
          </p:cNvPr>
          <p:cNvSpPr>
            <a:spLocks noGrp="1"/>
          </p:cNvSpPr>
          <p:nvPr>
            <p:ph type="title"/>
          </p:nvPr>
        </p:nvSpPr>
        <p:spPr/>
        <p:txBody>
          <a:bodyPr/>
          <a:lstStyle/>
          <a:p>
            <a:r>
              <a:rPr lang="en-IN" dirty="0"/>
              <a:t>Problem: Body Mass Index</a:t>
            </a:r>
          </a:p>
        </p:txBody>
      </p:sp>
      <p:sp>
        <p:nvSpPr>
          <p:cNvPr id="3" name="Content Placeholder 2">
            <a:extLst>
              <a:ext uri="{FF2B5EF4-FFF2-40B4-BE49-F238E27FC236}">
                <a16:creationId xmlns:a16="http://schemas.microsoft.com/office/drawing/2014/main" id="{807F2BCF-5320-4E3F-9D61-C7E4084FBDD9}"/>
              </a:ext>
            </a:extLst>
          </p:cNvPr>
          <p:cNvSpPr>
            <a:spLocks noGrp="1"/>
          </p:cNvSpPr>
          <p:nvPr>
            <p:ph sz="quarter" idx="13"/>
          </p:nvPr>
        </p:nvSpPr>
        <p:spPr>
          <a:xfrm>
            <a:off x="457200" y="1552574"/>
            <a:ext cx="7876095" cy="1988911"/>
          </a:xfrm>
        </p:spPr>
        <p:txBody>
          <a:bodyPr/>
          <a:lstStyle/>
          <a:p>
            <a:pPr marL="432" indent="0">
              <a:buNone/>
            </a:pPr>
            <a:r>
              <a:rPr lang="en-IN" dirty="0"/>
              <a:t>Body Mass Index (B</a:t>
            </a:r>
            <a:r>
              <a:rPr lang="en-IN" sz="100" dirty="0"/>
              <a:t> </a:t>
            </a:r>
            <a:r>
              <a:rPr lang="en-IN" dirty="0"/>
              <a:t>M</a:t>
            </a:r>
            <a:r>
              <a:rPr lang="en-IN" sz="100" dirty="0"/>
              <a:t> </a:t>
            </a:r>
            <a:r>
              <a:rPr lang="en-IN" dirty="0"/>
              <a:t>I) is a measure of health on weight. It can be calculated by taking your weight in kilograms and dividing by the square of your height in meters. The interpretation of B</a:t>
            </a:r>
            <a:r>
              <a:rPr lang="en-IN" sz="100" dirty="0"/>
              <a:t> </a:t>
            </a:r>
            <a:r>
              <a:rPr lang="en-IN" dirty="0"/>
              <a:t>M</a:t>
            </a:r>
            <a:r>
              <a:rPr lang="en-IN" sz="100" dirty="0"/>
              <a:t> </a:t>
            </a:r>
            <a:r>
              <a:rPr lang="en-IN" dirty="0"/>
              <a:t>I for people 16 years or older is as follows:</a:t>
            </a:r>
          </a:p>
        </p:txBody>
      </p:sp>
      <p:graphicFrame>
        <p:nvGraphicFramePr>
          <p:cNvPr id="21" name="Table 21">
            <a:extLst>
              <a:ext uri="{FF2B5EF4-FFF2-40B4-BE49-F238E27FC236}">
                <a16:creationId xmlns:a16="http://schemas.microsoft.com/office/drawing/2014/main" id="{205F7E16-F474-443A-8D87-990B10FA29A5}"/>
              </a:ext>
            </a:extLst>
          </p:cNvPr>
          <p:cNvGraphicFramePr>
            <a:graphicFrameLocks noGrp="1"/>
          </p:cNvGraphicFramePr>
          <p:nvPr>
            <p:ph sz="quarter" idx="14"/>
            <p:extLst>
              <p:ext uri="{D42A27DB-BD31-4B8C-83A1-F6EECF244321}">
                <p14:modId xmlns:p14="http://schemas.microsoft.com/office/powerpoint/2010/main" val="3895015975"/>
              </p:ext>
            </p:extLst>
          </p:nvPr>
        </p:nvGraphicFramePr>
        <p:xfrm>
          <a:off x="1817914" y="3781408"/>
          <a:ext cx="5573486" cy="1768152"/>
        </p:xfrm>
        <a:graphic>
          <a:graphicData uri="http://schemas.openxmlformats.org/drawingml/2006/table">
            <a:tbl>
              <a:tblPr firstRow="1" bandRow="1">
                <a:tableStyleId>{2D5ABB26-0587-4C30-8999-92F81FD0307C}</a:tableStyleId>
              </a:tblPr>
              <a:tblGrid>
                <a:gridCol w="2786743">
                  <a:extLst>
                    <a:ext uri="{9D8B030D-6E8A-4147-A177-3AD203B41FA5}">
                      <a16:colId xmlns:a16="http://schemas.microsoft.com/office/drawing/2014/main" val="932707785"/>
                    </a:ext>
                  </a:extLst>
                </a:gridCol>
                <a:gridCol w="2786743">
                  <a:extLst>
                    <a:ext uri="{9D8B030D-6E8A-4147-A177-3AD203B41FA5}">
                      <a16:colId xmlns:a16="http://schemas.microsoft.com/office/drawing/2014/main" val="803232342"/>
                    </a:ext>
                  </a:extLst>
                </a:gridCol>
              </a:tblGrid>
              <a:tr h="404317">
                <a:tc>
                  <a:txBody>
                    <a:bodyPr/>
                    <a:lstStyle/>
                    <a:p>
                      <a:r>
                        <a:rPr lang="en-IN" sz="1600" b="1" dirty="0"/>
                        <a:t>B</a:t>
                      </a:r>
                      <a:r>
                        <a:rPr lang="en-IN" sz="100" b="1" dirty="0"/>
                        <a:t> </a:t>
                      </a:r>
                      <a:r>
                        <a:rPr lang="en-IN" sz="1600" b="1" dirty="0"/>
                        <a:t>M</a:t>
                      </a:r>
                      <a:r>
                        <a:rPr lang="en-IN" sz="100" b="1" dirty="0"/>
                        <a:t> </a:t>
                      </a:r>
                      <a:r>
                        <a:rPr lang="en-IN" sz="1600" b="1" dirty="0"/>
                        <a:t>I</a:t>
                      </a:r>
                    </a:p>
                  </a:txBody>
                  <a:tcPr>
                    <a:lnB w="12700" cap="flat" cmpd="sng" algn="ctr">
                      <a:solidFill>
                        <a:schemeClr val="tx1"/>
                      </a:solidFill>
                      <a:prstDash val="solid"/>
                      <a:round/>
                      <a:headEnd type="none" w="med" len="med"/>
                      <a:tailEnd type="none" w="med" len="med"/>
                    </a:lnB>
                  </a:tcPr>
                </a:tc>
                <a:tc>
                  <a:txBody>
                    <a:bodyPr/>
                    <a:lstStyle/>
                    <a:p>
                      <a:r>
                        <a:rPr lang="en-IN" sz="1600" b="1" dirty="0"/>
                        <a:t>Interpretation</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044021"/>
                  </a:ext>
                </a:extLst>
              </a:tr>
              <a:tr h="357995">
                <a:tc>
                  <a:txBody>
                    <a:bodyPr/>
                    <a:lstStyle/>
                    <a:p>
                      <a:r>
                        <a:rPr lang="en-IN" sz="1600" dirty="0"/>
                        <a:t>B</a:t>
                      </a:r>
                      <a:r>
                        <a:rPr lang="en-IN" sz="100" dirty="0"/>
                        <a:t> </a:t>
                      </a:r>
                      <a:r>
                        <a:rPr lang="en-IN" sz="1600" dirty="0"/>
                        <a:t>M</a:t>
                      </a:r>
                      <a:r>
                        <a:rPr lang="en-IN" sz="100" dirty="0"/>
                        <a:t> </a:t>
                      </a:r>
                      <a:r>
                        <a:rPr lang="en-IN" sz="1600" dirty="0"/>
                        <a:t>I &lt; 18.5</a:t>
                      </a:r>
                    </a:p>
                  </a:txBody>
                  <a:tcPr>
                    <a:lnT w="12700" cap="flat" cmpd="sng" algn="ctr">
                      <a:solidFill>
                        <a:schemeClr val="tx1"/>
                      </a:solidFill>
                      <a:prstDash val="solid"/>
                      <a:round/>
                      <a:headEnd type="none" w="med" len="med"/>
                      <a:tailEnd type="none" w="med" len="med"/>
                    </a:lnT>
                  </a:tcPr>
                </a:tc>
                <a:tc>
                  <a:txBody>
                    <a:bodyPr/>
                    <a:lstStyle/>
                    <a:p>
                      <a:r>
                        <a:rPr lang="en-IN" sz="1600" dirty="0"/>
                        <a:t>Underweight</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583895991"/>
                  </a:ext>
                </a:extLst>
              </a:tr>
              <a:tr h="320511">
                <a:tc>
                  <a:txBody>
                    <a:bodyPr/>
                    <a:lstStyle/>
                    <a:p>
                      <a:r>
                        <a:rPr lang="en-IN" sz="1600" dirty="0"/>
                        <a:t>18.5 &lt;= B</a:t>
                      </a:r>
                      <a:r>
                        <a:rPr lang="en-IN" sz="100" dirty="0"/>
                        <a:t> </a:t>
                      </a:r>
                      <a:r>
                        <a:rPr lang="en-IN" sz="1600" dirty="0"/>
                        <a:t>M</a:t>
                      </a:r>
                      <a:r>
                        <a:rPr lang="en-IN" sz="100" dirty="0"/>
                        <a:t> </a:t>
                      </a:r>
                      <a:r>
                        <a:rPr lang="en-IN" sz="1600" dirty="0"/>
                        <a:t>I &lt; 25.0</a:t>
                      </a:r>
                    </a:p>
                  </a:txBody>
                  <a:tcPr/>
                </a:tc>
                <a:tc>
                  <a:txBody>
                    <a:bodyPr/>
                    <a:lstStyle/>
                    <a:p>
                      <a:r>
                        <a:rPr lang="en-IN" sz="1600" dirty="0"/>
                        <a:t>Normal</a:t>
                      </a:r>
                    </a:p>
                  </a:txBody>
                  <a:tcPr/>
                </a:tc>
                <a:extLst>
                  <a:ext uri="{0D108BD9-81ED-4DB2-BD59-A6C34878D82A}">
                    <a16:rowId xmlns:a16="http://schemas.microsoft.com/office/drawing/2014/main" val="888838060"/>
                  </a:ext>
                </a:extLst>
              </a:tr>
              <a:tr h="296315">
                <a:tc>
                  <a:txBody>
                    <a:bodyPr/>
                    <a:lstStyle/>
                    <a:p>
                      <a:r>
                        <a:rPr lang="en-IN" sz="1600" dirty="0"/>
                        <a:t>25.0 &lt;= B</a:t>
                      </a:r>
                      <a:r>
                        <a:rPr lang="en-IN" sz="100" dirty="0"/>
                        <a:t> </a:t>
                      </a:r>
                      <a:r>
                        <a:rPr lang="en-IN" sz="1600" dirty="0"/>
                        <a:t>M</a:t>
                      </a:r>
                      <a:r>
                        <a:rPr lang="en-IN" sz="100" dirty="0"/>
                        <a:t> </a:t>
                      </a:r>
                      <a:r>
                        <a:rPr lang="en-IN" sz="1600" dirty="0"/>
                        <a:t>I &lt; 30.0</a:t>
                      </a:r>
                    </a:p>
                  </a:txBody>
                  <a:tcPr/>
                </a:tc>
                <a:tc>
                  <a:txBody>
                    <a:bodyPr/>
                    <a:lstStyle/>
                    <a:p>
                      <a:r>
                        <a:rPr lang="en-IN" sz="1600" dirty="0"/>
                        <a:t>Overweight</a:t>
                      </a:r>
                    </a:p>
                  </a:txBody>
                  <a:tcPr/>
                </a:tc>
                <a:extLst>
                  <a:ext uri="{0D108BD9-81ED-4DB2-BD59-A6C34878D82A}">
                    <a16:rowId xmlns:a16="http://schemas.microsoft.com/office/drawing/2014/main" val="774091574"/>
                  </a:ext>
                </a:extLst>
              </a:tr>
              <a:tr h="328681">
                <a:tc>
                  <a:txBody>
                    <a:bodyPr/>
                    <a:lstStyle/>
                    <a:p>
                      <a:r>
                        <a:rPr lang="en-IN" sz="1600" dirty="0"/>
                        <a:t>30.0 &lt;= B</a:t>
                      </a:r>
                      <a:r>
                        <a:rPr lang="en-IN" sz="100" dirty="0"/>
                        <a:t> </a:t>
                      </a:r>
                      <a:r>
                        <a:rPr lang="en-IN" sz="1600" dirty="0"/>
                        <a:t>M</a:t>
                      </a:r>
                      <a:r>
                        <a:rPr lang="en-IN" sz="100" dirty="0"/>
                        <a:t> </a:t>
                      </a:r>
                      <a:r>
                        <a:rPr lang="en-IN" sz="1600" dirty="0"/>
                        <a:t>I</a:t>
                      </a:r>
                    </a:p>
                  </a:txBody>
                  <a:tcPr/>
                </a:tc>
                <a:tc>
                  <a:txBody>
                    <a:bodyPr/>
                    <a:lstStyle/>
                    <a:p>
                      <a:r>
                        <a:rPr lang="en-IN" sz="1600" dirty="0"/>
                        <a:t>Obese</a:t>
                      </a:r>
                    </a:p>
                  </a:txBody>
                  <a:tcPr/>
                </a:tc>
                <a:extLst>
                  <a:ext uri="{0D108BD9-81ED-4DB2-BD59-A6C34878D82A}">
                    <a16:rowId xmlns:a16="http://schemas.microsoft.com/office/drawing/2014/main" val="1378144801"/>
                  </a:ext>
                </a:extLst>
              </a:tr>
            </a:tbl>
          </a:graphicData>
        </a:graphic>
      </p:graphicFrame>
      <p:sp>
        <p:nvSpPr>
          <p:cNvPr id="10" name="Text Placeholder 9">
            <a:extLst>
              <a:ext uri="{FF2B5EF4-FFF2-40B4-BE49-F238E27FC236}">
                <a16:creationId xmlns:a16="http://schemas.microsoft.com/office/drawing/2014/main" id="{2679C327-C4DB-4F02-8F09-F8D94BF2ED6F}"/>
              </a:ext>
            </a:extLst>
          </p:cNvPr>
          <p:cNvSpPr>
            <a:spLocks noGrp="1"/>
          </p:cNvSpPr>
          <p:nvPr>
            <p:ph type="body" sz="quarter" idx="20"/>
          </p:nvPr>
        </p:nvSpPr>
        <p:spPr>
          <a:xfrm>
            <a:off x="5036457" y="5875564"/>
            <a:ext cx="3650343" cy="510722"/>
          </a:xfrm>
        </p:spPr>
        <p:txBody>
          <a:bodyPr/>
          <a:lstStyle/>
          <a:p>
            <a:pPr marL="432" indent="0" algn="ctr">
              <a:buNone/>
            </a:pPr>
            <a:r>
              <a:rPr lang="en-IN" dirty="0">
                <a:hlinkClick r:id="rId3" tooltip="https://liveexample.pearsoncmg.com/html/SubtractionQuiz.html"/>
              </a:rPr>
              <a:t>ComputeAndInterpretBMI</a:t>
            </a:r>
          </a:p>
        </p:txBody>
      </p:sp>
    </p:spTree>
    <p:extLst>
      <p:ext uri="{BB962C8B-B14F-4D97-AF65-F5344CB8AC3E}">
        <p14:creationId xmlns:p14="http://schemas.microsoft.com/office/powerpoint/2010/main" val="3246613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9BF48-4A07-4C50-8166-6EA1733B5064}"/>
              </a:ext>
            </a:extLst>
          </p:cNvPr>
          <p:cNvSpPr>
            <a:spLocks noGrp="1"/>
          </p:cNvSpPr>
          <p:nvPr>
            <p:ph type="title"/>
          </p:nvPr>
        </p:nvSpPr>
        <p:spPr/>
        <p:txBody>
          <a:bodyPr/>
          <a:lstStyle/>
          <a:p>
            <a:r>
              <a:rPr lang="en-IN" dirty="0"/>
              <a:t>Problem: Computing Taxes </a:t>
            </a:r>
            <a:r>
              <a:rPr lang="en-IN" sz="2000" b="0" dirty="0"/>
              <a:t>(1 of 2)</a:t>
            </a:r>
            <a:endParaRPr lang="en-IN" b="0" dirty="0"/>
          </a:p>
        </p:txBody>
      </p:sp>
      <p:sp>
        <p:nvSpPr>
          <p:cNvPr id="3" name="Content Placeholder 2">
            <a:extLst>
              <a:ext uri="{FF2B5EF4-FFF2-40B4-BE49-F238E27FC236}">
                <a16:creationId xmlns:a16="http://schemas.microsoft.com/office/drawing/2014/main" id="{E358B6EF-DEDB-4915-9C86-BDA50E9F0DFB}"/>
              </a:ext>
            </a:extLst>
          </p:cNvPr>
          <p:cNvSpPr>
            <a:spLocks noGrp="1"/>
          </p:cNvSpPr>
          <p:nvPr>
            <p:ph sz="quarter" idx="13"/>
          </p:nvPr>
        </p:nvSpPr>
        <p:spPr>
          <a:xfrm>
            <a:off x="457200" y="1556327"/>
            <a:ext cx="8229600" cy="1985159"/>
          </a:xfrm>
        </p:spPr>
        <p:txBody>
          <a:bodyPr/>
          <a:lstStyle/>
          <a:p>
            <a:pPr marL="432" indent="0">
              <a:buNone/>
            </a:pPr>
            <a:r>
              <a:rPr lang="en-IN" dirty="0"/>
              <a:t>The U</a:t>
            </a:r>
            <a:r>
              <a:rPr lang="en-IN" sz="100" dirty="0"/>
              <a:t> </a:t>
            </a:r>
            <a:r>
              <a:rPr lang="en-IN" dirty="0"/>
              <a:t>S federal personal income tax is calculated based on the filing status and taxable income. There are four filing statuses: single filers, married filing jointly, married filing separately, and head of household. The tax rates for 2009 are shown below.</a:t>
            </a:r>
          </a:p>
        </p:txBody>
      </p:sp>
      <p:graphicFrame>
        <p:nvGraphicFramePr>
          <p:cNvPr id="8" name="Table 8">
            <a:extLst>
              <a:ext uri="{FF2B5EF4-FFF2-40B4-BE49-F238E27FC236}">
                <a16:creationId xmlns:a16="http://schemas.microsoft.com/office/drawing/2014/main" id="{A9680788-8025-42DB-947C-4AC3CD35CB99}"/>
              </a:ext>
            </a:extLst>
          </p:cNvPr>
          <p:cNvGraphicFramePr>
            <a:graphicFrameLocks noGrp="1"/>
          </p:cNvGraphicFramePr>
          <p:nvPr>
            <p:ph sz="quarter" idx="14"/>
            <p:extLst>
              <p:ext uri="{D42A27DB-BD31-4B8C-83A1-F6EECF244321}">
                <p14:modId xmlns:p14="http://schemas.microsoft.com/office/powerpoint/2010/main" val="3439633257"/>
              </p:ext>
            </p:extLst>
          </p:nvPr>
        </p:nvGraphicFramePr>
        <p:xfrm>
          <a:off x="457198" y="3880779"/>
          <a:ext cx="8229602" cy="2215667"/>
        </p:xfrm>
        <a:graphic>
          <a:graphicData uri="http://schemas.openxmlformats.org/drawingml/2006/table">
            <a:tbl>
              <a:tblPr firstRow="1" bandRow="1">
                <a:tableStyleId>{2D5ABB26-0587-4C30-8999-92F81FD0307C}</a:tableStyleId>
              </a:tblPr>
              <a:tblGrid>
                <a:gridCol w="923951">
                  <a:extLst>
                    <a:ext uri="{9D8B030D-6E8A-4147-A177-3AD203B41FA5}">
                      <a16:colId xmlns:a16="http://schemas.microsoft.com/office/drawing/2014/main" val="4291023224"/>
                    </a:ext>
                  </a:extLst>
                </a:gridCol>
                <a:gridCol w="1781769">
                  <a:extLst>
                    <a:ext uri="{9D8B030D-6E8A-4147-A177-3AD203B41FA5}">
                      <a16:colId xmlns:a16="http://schemas.microsoft.com/office/drawing/2014/main" val="3948701383"/>
                    </a:ext>
                  </a:extLst>
                </a:gridCol>
                <a:gridCol w="2150520">
                  <a:extLst>
                    <a:ext uri="{9D8B030D-6E8A-4147-A177-3AD203B41FA5}">
                      <a16:colId xmlns:a16="http://schemas.microsoft.com/office/drawing/2014/main" val="2270981561"/>
                    </a:ext>
                  </a:extLst>
                </a:gridCol>
                <a:gridCol w="1686681">
                  <a:extLst>
                    <a:ext uri="{9D8B030D-6E8A-4147-A177-3AD203B41FA5}">
                      <a16:colId xmlns:a16="http://schemas.microsoft.com/office/drawing/2014/main" val="3181850343"/>
                    </a:ext>
                  </a:extLst>
                </a:gridCol>
                <a:gridCol w="1686681">
                  <a:extLst>
                    <a:ext uri="{9D8B030D-6E8A-4147-A177-3AD203B41FA5}">
                      <a16:colId xmlns:a16="http://schemas.microsoft.com/office/drawing/2014/main" val="3990622954"/>
                    </a:ext>
                  </a:extLst>
                </a:gridCol>
              </a:tblGrid>
              <a:tr h="496481">
                <a:tc>
                  <a:txBody>
                    <a:bodyPr/>
                    <a:lstStyle/>
                    <a:p>
                      <a:pPr algn="ctr"/>
                      <a:r>
                        <a:rPr lang="en-IN" sz="1200" b="1" i="0" dirty="0"/>
                        <a:t>Marginal Tax Rate</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i="0" dirty="0"/>
                        <a:t>Single</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i="0" dirty="0"/>
                        <a:t>Married Filing Jointly or Qualifying Widow(er)</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i="0" dirty="0"/>
                        <a:t>Married Filing Separately</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b="1" i="0" dirty="0"/>
                        <a:t>Head of Household</a:t>
                      </a:r>
                    </a:p>
                  </a:txBody>
                  <a:tcPr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9820531"/>
                  </a:ext>
                </a:extLst>
              </a:tr>
              <a:tr h="260728">
                <a:tc>
                  <a:txBody>
                    <a:bodyPr/>
                    <a:lstStyle/>
                    <a:p>
                      <a:r>
                        <a:rPr lang="en-IN" sz="1200" b="1" dirty="0"/>
                        <a:t>10%</a:t>
                      </a:r>
                    </a:p>
                  </a:txBody>
                  <a:tcPr>
                    <a:lnT w="12700" cap="flat" cmpd="sng" algn="ctr">
                      <a:solidFill>
                        <a:schemeClr val="tx1"/>
                      </a:solidFill>
                      <a:prstDash val="solid"/>
                      <a:round/>
                      <a:headEnd type="none" w="med" len="med"/>
                      <a:tailEnd type="none" w="med" len="med"/>
                    </a:lnT>
                  </a:tcPr>
                </a:tc>
                <a:tc>
                  <a:txBody>
                    <a:bodyPr/>
                    <a:lstStyle/>
                    <a:p>
                      <a:pPr algn="ctr"/>
                      <a:r>
                        <a:rPr lang="en-IN" sz="1200" dirty="0"/>
                        <a:t>$0 - $8,350</a:t>
                      </a:r>
                    </a:p>
                  </a:txBody>
                  <a:tcPr>
                    <a:lnT w="12700" cap="flat" cmpd="sng" algn="ctr">
                      <a:solidFill>
                        <a:schemeClr val="tx1"/>
                      </a:solidFill>
                      <a:prstDash val="solid"/>
                      <a:round/>
                      <a:headEnd type="none" w="med" len="med"/>
                      <a:tailEnd type="none" w="med" len="med"/>
                    </a:lnT>
                  </a:tcPr>
                </a:tc>
                <a:tc>
                  <a:txBody>
                    <a:bodyPr/>
                    <a:lstStyle/>
                    <a:p>
                      <a:pPr algn="ctr"/>
                      <a:r>
                        <a:rPr lang="en-IN" sz="1200" dirty="0"/>
                        <a:t>$0 - $16,700</a:t>
                      </a:r>
                    </a:p>
                  </a:txBody>
                  <a:tcPr>
                    <a:lnT w="12700" cap="flat" cmpd="sng" algn="ctr">
                      <a:solidFill>
                        <a:schemeClr val="tx1"/>
                      </a:solidFill>
                      <a:prstDash val="solid"/>
                      <a:round/>
                      <a:headEnd type="none" w="med" len="med"/>
                      <a:tailEnd type="none" w="med" len="med"/>
                    </a:lnT>
                  </a:tcPr>
                </a:tc>
                <a:tc>
                  <a:txBody>
                    <a:bodyPr/>
                    <a:lstStyle/>
                    <a:p>
                      <a:pPr algn="ctr"/>
                      <a:r>
                        <a:rPr lang="en-IN" sz="1200" dirty="0"/>
                        <a:t>$0 - $8,350</a:t>
                      </a:r>
                    </a:p>
                  </a:txBody>
                  <a:tcPr>
                    <a:lnT w="12700" cap="flat" cmpd="sng" algn="ctr">
                      <a:solidFill>
                        <a:schemeClr val="tx1"/>
                      </a:solidFill>
                      <a:prstDash val="solid"/>
                      <a:round/>
                      <a:headEnd type="none" w="med" len="med"/>
                      <a:tailEnd type="none" w="med" len="med"/>
                    </a:lnT>
                  </a:tcPr>
                </a:tc>
                <a:tc>
                  <a:txBody>
                    <a:bodyPr/>
                    <a:lstStyle/>
                    <a:p>
                      <a:pPr algn="ctr"/>
                      <a:r>
                        <a:rPr lang="en-IN" sz="1200" dirty="0"/>
                        <a:t>$0 - $11,950</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52396055"/>
                  </a:ext>
                </a:extLst>
              </a:tr>
              <a:tr h="288066">
                <a:tc>
                  <a:txBody>
                    <a:bodyPr/>
                    <a:lstStyle/>
                    <a:p>
                      <a:r>
                        <a:rPr lang="en-IN" sz="1200" b="1" dirty="0"/>
                        <a:t>15%</a:t>
                      </a:r>
                    </a:p>
                  </a:txBody>
                  <a:tcPr/>
                </a:tc>
                <a:tc>
                  <a:txBody>
                    <a:bodyPr/>
                    <a:lstStyle/>
                    <a:p>
                      <a:pPr algn="ctr"/>
                      <a:r>
                        <a:rPr lang="en-IN" sz="1200" dirty="0"/>
                        <a:t>$8,351 - $33,950</a:t>
                      </a:r>
                    </a:p>
                  </a:txBody>
                  <a:tcPr/>
                </a:tc>
                <a:tc>
                  <a:txBody>
                    <a:bodyPr/>
                    <a:lstStyle/>
                    <a:p>
                      <a:pPr algn="ctr"/>
                      <a:r>
                        <a:rPr lang="en-IN" sz="1200" dirty="0"/>
                        <a:t>$16,701 - $67,900</a:t>
                      </a:r>
                    </a:p>
                  </a:txBody>
                  <a:tcPr/>
                </a:tc>
                <a:tc>
                  <a:txBody>
                    <a:bodyPr/>
                    <a:lstStyle/>
                    <a:p>
                      <a:pPr algn="ctr"/>
                      <a:r>
                        <a:rPr lang="en-IN" sz="1200" dirty="0"/>
                        <a:t>$8,351 - $33,950</a:t>
                      </a:r>
                    </a:p>
                  </a:txBody>
                  <a:tcPr/>
                </a:tc>
                <a:tc>
                  <a:txBody>
                    <a:bodyPr/>
                    <a:lstStyle/>
                    <a:p>
                      <a:pPr algn="ctr"/>
                      <a:r>
                        <a:rPr lang="en-IN" sz="1200" dirty="0"/>
                        <a:t>$11,951 - $45,500</a:t>
                      </a:r>
                    </a:p>
                  </a:txBody>
                  <a:tcPr/>
                </a:tc>
                <a:extLst>
                  <a:ext uri="{0D108BD9-81ED-4DB2-BD59-A6C34878D82A}">
                    <a16:rowId xmlns:a16="http://schemas.microsoft.com/office/drawing/2014/main" val="3950302311"/>
                  </a:ext>
                </a:extLst>
              </a:tr>
              <a:tr h="263951">
                <a:tc>
                  <a:txBody>
                    <a:bodyPr/>
                    <a:lstStyle/>
                    <a:p>
                      <a:r>
                        <a:rPr lang="en-IN" sz="1200" b="1" dirty="0"/>
                        <a:t>25%</a:t>
                      </a:r>
                    </a:p>
                  </a:txBody>
                  <a:tcPr/>
                </a:tc>
                <a:tc>
                  <a:txBody>
                    <a:bodyPr/>
                    <a:lstStyle/>
                    <a:p>
                      <a:pPr algn="ctr"/>
                      <a:r>
                        <a:rPr lang="en-IN" sz="1200" dirty="0"/>
                        <a:t>$33,951 - $82,250</a:t>
                      </a:r>
                    </a:p>
                  </a:txBody>
                  <a:tcPr/>
                </a:tc>
                <a:tc>
                  <a:txBody>
                    <a:bodyPr/>
                    <a:lstStyle/>
                    <a:p>
                      <a:pPr algn="ctr"/>
                      <a:r>
                        <a:rPr lang="en-IN" sz="1200" dirty="0"/>
                        <a:t>$67,901 - $137,050</a:t>
                      </a:r>
                    </a:p>
                  </a:txBody>
                  <a:tcPr/>
                </a:tc>
                <a:tc>
                  <a:txBody>
                    <a:bodyPr/>
                    <a:lstStyle/>
                    <a:p>
                      <a:pPr algn="ctr"/>
                      <a:r>
                        <a:rPr lang="en-IN" sz="1200" dirty="0"/>
                        <a:t>$33,951 - $68,525</a:t>
                      </a:r>
                    </a:p>
                  </a:txBody>
                  <a:tcPr/>
                </a:tc>
                <a:tc>
                  <a:txBody>
                    <a:bodyPr/>
                    <a:lstStyle/>
                    <a:p>
                      <a:pPr algn="ctr"/>
                      <a:r>
                        <a:rPr lang="en-IN" sz="1200" dirty="0"/>
                        <a:t>$45,501 - $117,450</a:t>
                      </a:r>
                    </a:p>
                  </a:txBody>
                  <a:tcPr/>
                </a:tc>
                <a:extLst>
                  <a:ext uri="{0D108BD9-81ED-4DB2-BD59-A6C34878D82A}">
                    <a16:rowId xmlns:a16="http://schemas.microsoft.com/office/drawing/2014/main" val="1854877443"/>
                  </a:ext>
                </a:extLst>
              </a:tr>
              <a:tr h="272435">
                <a:tc>
                  <a:txBody>
                    <a:bodyPr/>
                    <a:lstStyle/>
                    <a:p>
                      <a:r>
                        <a:rPr lang="en-IN" sz="1200" b="1" dirty="0"/>
                        <a:t>28%</a:t>
                      </a:r>
                    </a:p>
                  </a:txBody>
                  <a:tcPr/>
                </a:tc>
                <a:tc>
                  <a:txBody>
                    <a:bodyPr/>
                    <a:lstStyle/>
                    <a:p>
                      <a:pPr algn="ctr"/>
                      <a:r>
                        <a:rPr lang="en-IN" sz="1200" dirty="0"/>
                        <a:t>$82,251 - $171,550</a:t>
                      </a:r>
                    </a:p>
                  </a:txBody>
                  <a:tcPr/>
                </a:tc>
                <a:tc>
                  <a:txBody>
                    <a:bodyPr/>
                    <a:lstStyle/>
                    <a:p>
                      <a:pPr algn="ctr"/>
                      <a:r>
                        <a:rPr lang="en-IN" sz="1200" dirty="0"/>
                        <a:t>$137,051 - $208,850</a:t>
                      </a:r>
                    </a:p>
                  </a:txBody>
                  <a:tcPr/>
                </a:tc>
                <a:tc>
                  <a:txBody>
                    <a:bodyPr/>
                    <a:lstStyle/>
                    <a:p>
                      <a:pPr algn="ctr"/>
                      <a:r>
                        <a:rPr lang="en-IN" sz="1200" dirty="0"/>
                        <a:t>$68,526 - $104,425</a:t>
                      </a:r>
                    </a:p>
                  </a:txBody>
                  <a:tcPr/>
                </a:tc>
                <a:tc>
                  <a:txBody>
                    <a:bodyPr/>
                    <a:lstStyle/>
                    <a:p>
                      <a:pPr algn="ctr"/>
                      <a:r>
                        <a:rPr lang="en-IN" sz="1200" dirty="0"/>
                        <a:t>$117,451 - $190,200</a:t>
                      </a:r>
                    </a:p>
                  </a:txBody>
                  <a:tcPr/>
                </a:tc>
                <a:extLst>
                  <a:ext uri="{0D108BD9-81ED-4DB2-BD59-A6C34878D82A}">
                    <a16:rowId xmlns:a16="http://schemas.microsoft.com/office/drawing/2014/main" val="2473458784"/>
                  </a:ext>
                </a:extLst>
              </a:tr>
              <a:tr h="252638">
                <a:tc>
                  <a:txBody>
                    <a:bodyPr/>
                    <a:lstStyle/>
                    <a:p>
                      <a:r>
                        <a:rPr lang="en-IN" sz="1200" b="1" dirty="0"/>
                        <a:t>33%</a:t>
                      </a:r>
                    </a:p>
                  </a:txBody>
                  <a:tcPr/>
                </a:tc>
                <a:tc>
                  <a:txBody>
                    <a:bodyPr/>
                    <a:lstStyle/>
                    <a:p>
                      <a:pPr algn="ctr"/>
                      <a:r>
                        <a:rPr lang="en-IN" sz="1200" dirty="0"/>
                        <a:t>$171,551 - $372,950</a:t>
                      </a:r>
                    </a:p>
                  </a:txBody>
                  <a:tcPr/>
                </a:tc>
                <a:tc>
                  <a:txBody>
                    <a:bodyPr/>
                    <a:lstStyle/>
                    <a:p>
                      <a:pPr algn="ctr"/>
                      <a:r>
                        <a:rPr lang="en-IN" sz="1200" dirty="0"/>
                        <a:t>$208,851 - $372,950</a:t>
                      </a:r>
                    </a:p>
                  </a:txBody>
                  <a:tcPr/>
                </a:tc>
                <a:tc>
                  <a:txBody>
                    <a:bodyPr/>
                    <a:lstStyle/>
                    <a:p>
                      <a:pPr algn="ctr"/>
                      <a:r>
                        <a:rPr lang="en-IN" sz="1200" dirty="0"/>
                        <a:t>$104,426 - $186,475</a:t>
                      </a:r>
                    </a:p>
                  </a:txBody>
                  <a:tcPr/>
                </a:tc>
                <a:tc>
                  <a:txBody>
                    <a:bodyPr/>
                    <a:lstStyle/>
                    <a:p>
                      <a:pPr algn="ctr"/>
                      <a:r>
                        <a:rPr lang="en-IN" sz="1200" dirty="0"/>
                        <a:t>$190,201 - $372,950</a:t>
                      </a:r>
                    </a:p>
                  </a:txBody>
                  <a:tcPr/>
                </a:tc>
                <a:extLst>
                  <a:ext uri="{0D108BD9-81ED-4DB2-BD59-A6C34878D82A}">
                    <a16:rowId xmlns:a16="http://schemas.microsoft.com/office/drawing/2014/main" val="3570790497"/>
                  </a:ext>
                </a:extLst>
              </a:tr>
              <a:tr h="333840">
                <a:tc>
                  <a:txBody>
                    <a:bodyPr/>
                    <a:lstStyle/>
                    <a:p>
                      <a:r>
                        <a:rPr lang="en-IN" sz="1200" b="1" dirty="0"/>
                        <a:t>35%</a:t>
                      </a:r>
                    </a:p>
                  </a:txBody>
                  <a:tcPr/>
                </a:tc>
                <a:tc>
                  <a:txBody>
                    <a:bodyPr/>
                    <a:lstStyle/>
                    <a:p>
                      <a:pPr algn="ctr"/>
                      <a:r>
                        <a:rPr lang="en-IN" sz="1200" dirty="0"/>
                        <a:t>$372,951+</a:t>
                      </a:r>
                    </a:p>
                  </a:txBody>
                  <a:tcPr/>
                </a:tc>
                <a:tc>
                  <a:txBody>
                    <a:bodyPr/>
                    <a:lstStyle/>
                    <a:p>
                      <a:pPr algn="ctr"/>
                      <a:r>
                        <a:rPr lang="en-IN" sz="1200" dirty="0"/>
                        <a:t>$372,951+</a:t>
                      </a:r>
                    </a:p>
                  </a:txBody>
                  <a:tcPr/>
                </a:tc>
                <a:tc>
                  <a:txBody>
                    <a:bodyPr/>
                    <a:lstStyle/>
                    <a:p>
                      <a:pPr algn="ctr"/>
                      <a:r>
                        <a:rPr lang="en-IN" sz="1200" dirty="0"/>
                        <a:t>$186,476+</a:t>
                      </a:r>
                    </a:p>
                  </a:txBody>
                  <a:tcPr/>
                </a:tc>
                <a:tc>
                  <a:txBody>
                    <a:bodyPr/>
                    <a:lstStyle/>
                    <a:p>
                      <a:pPr algn="ctr"/>
                      <a:r>
                        <a:rPr lang="en-IN" sz="1200" dirty="0"/>
                        <a:t>$372,951+</a:t>
                      </a:r>
                    </a:p>
                  </a:txBody>
                  <a:tcPr/>
                </a:tc>
                <a:extLst>
                  <a:ext uri="{0D108BD9-81ED-4DB2-BD59-A6C34878D82A}">
                    <a16:rowId xmlns:a16="http://schemas.microsoft.com/office/drawing/2014/main" val="658074556"/>
                  </a:ext>
                </a:extLst>
              </a:tr>
            </a:tbl>
          </a:graphicData>
        </a:graphic>
      </p:graphicFrame>
    </p:spTree>
    <p:extLst>
      <p:ext uri="{BB962C8B-B14F-4D97-AF65-F5344CB8AC3E}">
        <p14:creationId xmlns:p14="http://schemas.microsoft.com/office/powerpoint/2010/main" val="12566580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3E4A7-3FF7-4308-A7E0-CB7276D3EBBF}"/>
              </a:ext>
            </a:extLst>
          </p:cNvPr>
          <p:cNvSpPr>
            <a:spLocks noGrp="1"/>
          </p:cNvSpPr>
          <p:nvPr>
            <p:ph type="title"/>
          </p:nvPr>
        </p:nvSpPr>
        <p:spPr/>
        <p:txBody>
          <a:bodyPr/>
          <a:lstStyle/>
          <a:p>
            <a:r>
              <a:rPr lang="en-IN" dirty="0"/>
              <a:t>Problem: Computing Taxes </a:t>
            </a:r>
            <a:r>
              <a:rPr lang="en-IN" sz="2000" b="0" dirty="0"/>
              <a:t>(2 of 2)</a:t>
            </a:r>
            <a:endParaRPr lang="en-IN" b="0" dirty="0"/>
          </a:p>
        </p:txBody>
      </p:sp>
      <p:sp>
        <p:nvSpPr>
          <p:cNvPr id="3" name="Content Placeholder 2">
            <a:extLst>
              <a:ext uri="{FF2B5EF4-FFF2-40B4-BE49-F238E27FC236}">
                <a16:creationId xmlns:a16="http://schemas.microsoft.com/office/drawing/2014/main" id="{689560ED-F452-441B-A355-E4BD85231FBA}"/>
              </a:ext>
            </a:extLst>
          </p:cNvPr>
          <p:cNvSpPr>
            <a:spLocks noGrp="1"/>
          </p:cNvSpPr>
          <p:nvPr>
            <p:ph sz="quarter" idx="13"/>
          </p:nvPr>
        </p:nvSpPr>
        <p:spPr>
          <a:xfrm>
            <a:off x="457200" y="1552575"/>
            <a:ext cx="5302577" cy="4790168"/>
          </a:xfrm>
        </p:spPr>
        <p:txBody>
          <a:bodyPr/>
          <a:lstStyle/>
          <a:p>
            <a:pPr marL="432" indent="0">
              <a:spcBef>
                <a:spcPts val="600"/>
              </a:spcBef>
              <a:buNone/>
            </a:pPr>
            <a:r>
              <a:rPr lang="en-IN" sz="1400" b="1" dirty="0">
                <a:latin typeface="Courier New" panose="02070309020205020404" pitchFamily="49" charset="0"/>
                <a:cs typeface="Courier New" panose="02070309020205020404" pitchFamily="49" charset="0"/>
              </a:rPr>
              <a:t>if (status == 0) {</a:t>
            </a:r>
          </a:p>
          <a:p>
            <a:pPr marL="180000" indent="0">
              <a:spcBef>
                <a:spcPts val="600"/>
              </a:spcBef>
              <a:buNone/>
            </a:pPr>
            <a:r>
              <a:rPr lang="en-IN" sz="1400" b="1" dirty="0">
                <a:latin typeface="Courier New" panose="02070309020205020404" pitchFamily="49" charset="0"/>
                <a:cs typeface="Courier New" panose="02070309020205020404" pitchFamily="49" charset="0"/>
              </a:rPr>
              <a:t>// Compute tax for single filers</a:t>
            </a:r>
          </a:p>
          <a:p>
            <a:pPr marL="432" indent="0">
              <a:spcBef>
                <a:spcPts val="600"/>
              </a:spcBef>
              <a:buNone/>
            </a:pPr>
            <a:r>
              <a:rPr lang="en-IN" sz="1400" b="1" dirty="0">
                <a:latin typeface="Courier New" panose="02070309020205020404" pitchFamily="49" charset="0"/>
                <a:cs typeface="Courier New" panose="02070309020205020404" pitchFamily="49" charset="0"/>
              </a:rPr>
              <a:t>}</a:t>
            </a:r>
          </a:p>
          <a:p>
            <a:pPr marL="432" indent="0">
              <a:spcBef>
                <a:spcPts val="600"/>
              </a:spcBef>
              <a:buNone/>
            </a:pPr>
            <a:r>
              <a:rPr lang="en-IN" sz="1400" b="1" dirty="0">
                <a:latin typeface="Courier New" panose="02070309020205020404" pitchFamily="49" charset="0"/>
                <a:cs typeface="Courier New" panose="02070309020205020404" pitchFamily="49" charset="0"/>
              </a:rPr>
              <a:t>else if (status == 1) {</a:t>
            </a:r>
          </a:p>
          <a:p>
            <a:pPr marL="180000" indent="0">
              <a:spcBef>
                <a:spcPts val="600"/>
              </a:spcBef>
              <a:buNone/>
            </a:pPr>
            <a:r>
              <a:rPr lang="en-IN" sz="1400" b="1" dirty="0">
                <a:latin typeface="Courier New" panose="02070309020205020404" pitchFamily="49" charset="0"/>
                <a:cs typeface="Courier New" panose="02070309020205020404" pitchFamily="49" charset="0"/>
              </a:rPr>
              <a:t>// Compute tax for married file jointly</a:t>
            </a:r>
          </a:p>
          <a:p>
            <a:pPr marL="180000" indent="0">
              <a:spcBef>
                <a:spcPts val="600"/>
              </a:spcBef>
              <a:buNone/>
            </a:pPr>
            <a:r>
              <a:rPr lang="en-IN" sz="1400" b="1" dirty="0">
                <a:latin typeface="Courier New" panose="02070309020205020404" pitchFamily="49" charset="0"/>
                <a:cs typeface="Courier New" panose="02070309020205020404" pitchFamily="49" charset="0"/>
              </a:rPr>
              <a:t>// or qualifying widow(er)</a:t>
            </a:r>
          </a:p>
          <a:p>
            <a:pPr marL="432" indent="0">
              <a:spcBef>
                <a:spcPts val="600"/>
              </a:spcBef>
              <a:buNone/>
            </a:pPr>
            <a:r>
              <a:rPr lang="en-IN" sz="1400" b="1" dirty="0">
                <a:latin typeface="Courier New" panose="02070309020205020404" pitchFamily="49" charset="0"/>
                <a:cs typeface="Courier New" panose="02070309020205020404" pitchFamily="49" charset="0"/>
              </a:rPr>
              <a:t>}</a:t>
            </a:r>
          </a:p>
          <a:p>
            <a:pPr marL="432" indent="0">
              <a:spcBef>
                <a:spcPts val="600"/>
              </a:spcBef>
              <a:buNone/>
            </a:pPr>
            <a:r>
              <a:rPr lang="en-IN" sz="1400" b="1" dirty="0">
                <a:latin typeface="Courier New" panose="02070309020205020404" pitchFamily="49" charset="0"/>
                <a:cs typeface="Courier New" panose="02070309020205020404" pitchFamily="49" charset="0"/>
              </a:rPr>
              <a:t>else if (status == 2) {</a:t>
            </a:r>
          </a:p>
          <a:p>
            <a:pPr marL="180000" indent="0">
              <a:spcBef>
                <a:spcPts val="600"/>
              </a:spcBef>
              <a:buNone/>
            </a:pPr>
            <a:r>
              <a:rPr lang="en-IN" sz="1400" b="1" dirty="0">
                <a:latin typeface="Courier New" panose="02070309020205020404" pitchFamily="49" charset="0"/>
                <a:cs typeface="Courier New" panose="02070309020205020404" pitchFamily="49" charset="0"/>
              </a:rPr>
              <a:t>// Compute tax for married file separately</a:t>
            </a:r>
          </a:p>
          <a:p>
            <a:pPr marL="432" indent="0">
              <a:spcBef>
                <a:spcPts val="600"/>
              </a:spcBef>
              <a:buNone/>
            </a:pPr>
            <a:r>
              <a:rPr lang="en-IN" sz="1400" b="1" dirty="0">
                <a:latin typeface="Courier New" panose="02070309020205020404" pitchFamily="49" charset="0"/>
                <a:cs typeface="Courier New" panose="02070309020205020404" pitchFamily="49" charset="0"/>
              </a:rPr>
              <a:t>}</a:t>
            </a:r>
          </a:p>
          <a:p>
            <a:pPr marL="432" indent="0">
              <a:spcBef>
                <a:spcPts val="600"/>
              </a:spcBef>
              <a:buNone/>
            </a:pPr>
            <a:r>
              <a:rPr lang="en-IN" sz="1400" b="1" dirty="0">
                <a:latin typeface="Courier New" panose="02070309020205020404" pitchFamily="49" charset="0"/>
                <a:cs typeface="Courier New" panose="02070309020205020404" pitchFamily="49" charset="0"/>
              </a:rPr>
              <a:t>else if (status == 3) {</a:t>
            </a:r>
          </a:p>
          <a:p>
            <a:pPr marL="180000" indent="0">
              <a:spcBef>
                <a:spcPts val="600"/>
              </a:spcBef>
              <a:buNone/>
            </a:pPr>
            <a:r>
              <a:rPr lang="en-IN" sz="1400" b="1" dirty="0">
                <a:latin typeface="Courier New" panose="02070309020205020404" pitchFamily="49" charset="0"/>
                <a:cs typeface="Courier New" panose="02070309020205020404" pitchFamily="49" charset="0"/>
              </a:rPr>
              <a:t>// Compute tax for head of household</a:t>
            </a:r>
          </a:p>
          <a:p>
            <a:pPr marL="432" indent="0">
              <a:spcBef>
                <a:spcPts val="600"/>
              </a:spcBef>
              <a:buNone/>
            </a:pPr>
            <a:r>
              <a:rPr lang="en-IN" sz="1400" b="1" dirty="0">
                <a:latin typeface="Courier New" panose="02070309020205020404" pitchFamily="49" charset="0"/>
                <a:cs typeface="Courier New" panose="02070309020205020404" pitchFamily="49" charset="0"/>
              </a:rPr>
              <a:t>}</a:t>
            </a:r>
          </a:p>
          <a:p>
            <a:pPr marL="432" indent="0">
              <a:spcBef>
                <a:spcPts val="600"/>
              </a:spcBef>
              <a:buNone/>
            </a:pPr>
            <a:r>
              <a:rPr lang="en-IN" sz="1400" b="1" dirty="0">
                <a:latin typeface="Courier New" panose="02070309020205020404" pitchFamily="49" charset="0"/>
                <a:cs typeface="Courier New" panose="02070309020205020404" pitchFamily="49" charset="0"/>
              </a:rPr>
              <a:t>else {</a:t>
            </a:r>
          </a:p>
          <a:p>
            <a:pPr marL="180000" indent="0">
              <a:spcBef>
                <a:spcPts val="600"/>
              </a:spcBef>
              <a:buNone/>
            </a:pPr>
            <a:r>
              <a:rPr lang="en-IN" sz="1400" b="1" dirty="0">
                <a:latin typeface="Courier New" panose="02070309020205020404" pitchFamily="49" charset="0"/>
                <a:cs typeface="Courier New" panose="02070309020205020404" pitchFamily="49" charset="0"/>
              </a:rPr>
              <a:t>// Display wrong status</a:t>
            </a:r>
          </a:p>
          <a:p>
            <a:pPr marL="432" indent="0">
              <a:spcBef>
                <a:spcPts val="600"/>
              </a:spcBef>
              <a:buNone/>
            </a:pPr>
            <a:r>
              <a:rPr lang="en-IN" sz="1400" b="1" dirty="0">
                <a:latin typeface="Courier New" panose="02070309020205020404" pitchFamily="49" charset="0"/>
                <a:cs typeface="Courier New" panose="02070309020205020404" pitchFamily="49" charset="0"/>
              </a:rPr>
              <a:t>}</a:t>
            </a:r>
          </a:p>
        </p:txBody>
      </p:sp>
      <p:sp>
        <p:nvSpPr>
          <p:cNvPr id="10" name="Text Placeholder 9">
            <a:extLst>
              <a:ext uri="{FF2B5EF4-FFF2-40B4-BE49-F238E27FC236}">
                <a16:creationId xmlns:a16="http://schemas.microsoft.com/office/drawing/2014/main" id="{A7F8FDE3-5499-46B2-80DC-83EDD63C06C7}"/>
              </a:ext>
            </a:extLst>
          </p:cNvPr>
          <p:cNvSpPr>
            <a:spLocks noGrp="1"/>
          </p:cNvSpPr>
          <p:nvPr>
            <p:ph type="body" sz="quarter" idx="20"/>
          </p:nvPr>
        </p:nvSpPr>
        <p:spPr>
          <a:xfrm>
            <a:off x="6705600" y="5731368"/>
            <a:ext cx="1981200" cy="533982"/>
          </a:xfrm>
        </p:spPr>
        <p:txBody>
          <a:bodyPr/>
          <a:lstStyle/>
          <a:p>
            <a:pPr marL="432" indent="0" algn="ctr">
              <a:buNone/>
            </a:pPr>
            <a:r>
              <a:rPr lang="en-IN" dirty="0" err="1">
                <a:hlinkClick r:id="rId3" tooltip="https://liveexample.pearsoncmg.com/html/SubtractionQuiz.html"/>
              </a:rPr>
              <a:t>ComputeTax</a:t>
            </a:r>
            <a:endParaRPr lang="en-IN" dirty="0">
              <a:hlinkClick r:id="rId3" tooltip="https://liveexample.pearsoncmg.com/html/SubtractionQuiz.html"/>
            </a:endParaRPr>
          </a:p>
        </p:txBody>
      </p:sp>
    </p:spTree>
    <p:extLst>
      <p:ext uri="{BB962C8B-B14F-4D97-AF65-F5344CB8AC3E}">
        <p14:creationId xmlns:p14="http://schemas.microsoft.com/office/powerpoint/2010/main" val="3333247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1C971-60CF-47B3-8BE3-7F975BF0DA01}"/>
              </a:ext>
            </a:extLst>
          </p:cNvPr>
          <p:cNvSpPr>
            <a:spLocks noGrp="1"/>
          </p:cNvSpPr>
          <p:nvPr>
            <p:ph type="title"/>
          </p:nvPr>
        </p:nvSpPr>
        <p:spPr/>
        <p:txBody>
          <a:bodyPr/>
          <a:lstStyle/>
          <a:p>
            <a:r>
              <a:rPr lang="en-IN" dirty="0"/>
              <a:t>Logical Operators</a:t>
            </a:r>
          </a:p>
        </p:txBody>
      </p:sp>
      <p:graphicFrame>
        <p:nvGraphicFramePr>
          <p:cNvPr id="4" name="Table 4">
            <a:extLst>
              <a:ext uri="{FF2B5EF4-FFF2-40B4-BE49-F238E27FC236}">
                <a16:creationId xmlns:a16="http://schemas.microsoft.com/office/drawing/2014/main" id="{AACD6000-1668-4015-8E80-A7D558FF217C}"/>
              </a:ext>
            </a:extLst>
          </p:cNvPr>
          <p:cNvGraphicFramePr>
            <a:graphicFrameLocks noGrp="1"/>
          </p:cNvGraphicFramePr>
          <p:nvPr>
            <p:ph sz="quarter" idx="13"/>
            <p:extLst>
              <p:ext uri="{D42A27DB-BD31-4B8C-83A1-F6EECF244321}">
                <p14:modId xmlns:p14="http://schemas.microsoft.com/office/powerpoint/2010/main" val="3736509291"/>
              </p:ext>
            </p:extLst>
          </p:nvPr>
        </p:nvGraphicFramePr>
        <p:xfrm>
          <a:off x="457200" y="1554161"/>
          <a:ext cx="8232774" cy="2890183"/>
        </p:xfrm>
        <a:graphic>
          <a:graphicData uri="http://schemas.openxmlformats.org/drawingml/2006/table">
            <a:tbl>
              <a:tblPr firstRow="1" bandRow="1">
                <a:tableStyleId>{2D5ABB26-0587-4C30-8999-92F81FD0307C}</a:tableStyleId>
              </a:tblPr>
              <a:tblGrid>
                <a:gridCol w="2744258">
                  <a:extLst>
                    <a:ext uri="{9D8B030D-6E8A-4147-A177-3AD203B41FA5}">
                      <a16:colId xmlns:a16="http://schemas.microsoft.com/office/drawing/2014/main" val="3453242864"/>
                    </a:ext>
                  </a:extLst>
                </a:gridCol>
                <a:gridCol w="2744258">
                  <a:extLst>
                    <a:ext uri="{9D8B030D-6E8A-4147-A177-3AD203B41FA5}">
                      <a16:colId xmlns:a16="http://schemas.microsoft.com/office/drawing/2014/main" val="1123782187"/>
                    </a:ext>
                  </a:extLst>
                </a:gridCol>
                <a:gridCol w="2744258">
                  <a:extLst>
                    <a:ext uri="{9D8B030D-6E8A-4147-A177-3AD203B41FA5}">
                      <a16:colId xmlns:a16="http://schemas.microsoft.com/office/drawing/2014/main" val="1158001891"/>
                    </a:ext>
                  </a:extLst>
                </a:gridCol>
              </a:tblGrid>
              <a:tr h="595150">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1" i="0" u="none" strike="noStrike" cap="none" normalizeH="0" baseline="0" dirty="0">
                          <a:ln>
                            <a:noFill/>
                          </a:ln>
                          <a:solidFill>
                            <a:schemeClr val="tx1"/>
                          </a:solidFill>
                          <a:effectLst/>
                          <a:latin typeface="+mn-lt"/>
                          <a:cs typeface="Times New Roman" panose="02020603050405020304" pitchFamily="18" charset="0"/>
                        </a:rPr>
                        <a:t>Operator</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1" i="0" u="none" strike="noStrike" cap="none" normalizeH="0" baseline="0" dirty="0">
                          <a:ln>
                            <a:noFill/>
                          </a:ln>
                          <a:solidFill>
                            <a:schemeClr val="tx1"/>
                          </a:solidFill>
                          <a:effectLst/>
                          <a:latin typeface="+mn-lt"/>
                          <a:cs typeface="Times New Roman" panose="02020603050405020304" pitchFamily="18" charset="0"/>
                        </a:rPr>
                        <a:t>Name</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1" i="0" u="none" strike="noStrike" cap="none" normalizeH="0" baseline="0" dirty="0">
                          <a:ln>
                            <a:noFill/>
                          </a:ln>
                          <a:solidFill>
                            <a:schemeClr val="tx1"/>
                          </a:solidFill>
                          <a:effectLst/>
                          <a:latin typeface="+mn-lt"/>
                          <a:cs typeface="Times New Roman" panose="02020603050405020304" pitchFamily="18" charset="0"/>
                        </a:rPr>
                        <a:t>Description</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1723294"/>
                  </a:ext>
                </a:extLst>
              </a:tr>
              <a:tr h="443597">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1" i="0" u="none" strike="noStrike" cap="none" normalizeH="0" baseline="0" dirty="0">
                          <a:ln>
                            <a:noFill/>
                          </a:ln>
                          <a:solidFill>
                            <a:schemeClr val="tx1"/>
                          </a:solidFill>
                          <a:effectLst/>
                          <a:latin typeface="+mn-lt"/>
                          <a:cs typeface="Times New Roman" panose="02020603050405020304" pitchFamily="18" charset="0"/>
                        </a:rPr>
                        <a:t>!</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not</a:t>
                      </a:r>
                      <a:endParaRPr kumimoji="0" lang="en-US" sz="2000" b="0"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logical negation</a:t>
                      </a:r>
                      <a:endParaRPr kumimoji="0" lang="en-US" sz="2000" b="0"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025832"/>
                  </a:ext>
                </a:extLst>
              </a:tr>
              <a:tr h="596442">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1" i="0" u="none" strike="noStrike" cap="none" normalizeH="0" baseline="0" dirty="0">
                          <a:ln>
                            <a:noFill/>
                          </a:ln>
                          <a:solidFill>
                            <a:schemeClr val="tx1"/>
                          </a:solidFill>
                          <a:effectLst/>
                          <a:latin typeface="+mn-lt"/>
                          <a:cs typeface="Times New Roman" panose="02020603050405020304" pitchFamily="18" charset="0"/>
                        </a:rPr>
                        <a:t>&amp;&amp;</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and</a:t>
                      </a:r>
                      <a:endParaRPr kumimoji="0" lang="en-US" sz="2000" b="0"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logical conjunction</a:t>
                      </a:r>
                      <a:endParaRPr kumimoji="0" lang="en-US" sz="2000" b="0"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9797969"/>
                  </a:ext>
                </a:extLst>
              </a:tr>
              <a:tr h="575035">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1" i="0" u="none" strike="noStrike" cap="none" normalizeH="0" baseline="0" dirty="0">
                          <a:ln>
                            <a:noFill/>
                          </a:ln>
                          <a:solidFill>
                            <a:schemeClr val="tx1"/>
                          </a:solidFill>
                          <a:effectLst/>
                          <a:latin typeface="+mn-lt"/>
                          <a:cs typeface="Times New Roman" panose="02020603050405020304" pitchFamily="18" charset="0"/>
                        </a:rPr>
                        <a:t>||</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or</a:t>
                      </a:r>
                      <a:endParaRPr kumimoji="0" lang="en-US" sz="2000" b="0"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logical disjunction</a:t>
                      </a:r>
                      <a:endParaRPr kumimoji="0" lang="en-US" sz="2000" b="0"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5085481"/>
                  </a:ext>
                </a:extLst>
              </a:tr>
              <a:tr h="664196">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1" i="0" u="none" strike="noStrike" cap="none" normalizeH="0" baseline="0" dirty="0">
                          <a:ln>
                            <a:noFill/>
                          </a:ln>
                          <a:solidFill>
                            <a:schemeClr val="tx1"/>
                          </a:solidFill>
                          <a:effectLst/>
                          <a:latin typeface="+mn-lt"/>
                          <a:cs typeface="Times New Roman" panose="02020603050405020304" pitchFamily="18" charset="0"/>
                        </a:rPr>
                        <a:t>^</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exclusive or</a:t>
                      </a:r>
                      <a:endParaRPr kumimoji="0" lang="en-US" sz="2000" b="0"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400" b="0" i="0" u="none" strike="noStrike" cap="none" normalizeH="0" baseline="0" dirty="0">
                          <a:ln>
                            <a:noFill/>
                          </a:ln>
                          <a:solidFill>
                            <a:schemeClr val="tx1"/>
                          </a:solidFill>
                          <a:effectLst/>
                          <a:latin typeface="+mn-lt"/>
                          <a:cs typeface="Times New Roman" panose="02020603050405020304" pitchFamily="18" charset="0"/>
                        </a:rPr>
                        <a:t>logical exclusion</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9365149"/>
                  </a:ext>
                </a:extLst>
              </a:tr>
            </a:tbl>
          </a:graphicData>
        </a:graphic>
      </p:graphicFrame>
    </p:spTree>
    <p:extLst>
      <p:ext uri="{BB962C8B-B14F-4D97-AF65-F5344CB8AC3E}">
        <p14:creationId xmlns:p14="http://schemas.microsoft.com/office/powerpoint/2010/main" val="3477023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827E1-AA14-4B88-A22E-A76B69AC3853}"/>
              </a:ext>
            </a:extLst>
          </p:cNvPr>
          <p:cNvSpPr>
            <a:spLocks noGrp="1"/>
          </p:cNvSpPr>
          <p:nvPr>
            <p:ph type="title"/>
          </p:nvPr>
        </p:nvSpPr>
        <p:spPr/>
        <p:txBody>
          <a:bodyPr/>
          <a:lstStyle/>
          <a:p>
            <a:r>
              <a:rPr lang="en-IN" dirty="0"/>
              <a:t>Truth Table for Operator !</a:t>
            </a:r>
          </a:p>
        </p:txBody>
      </p:sp>
      <p:graphicFrame>
        <p:nvGraphicFramePr>
          <p:cNvPr id="4" name="Table 4">
            <a:extLst>
              <a:ext uri="{FF2B5EF4-FFF2-40B4-BE49-F238E27FC236}">
                <a16:creationId xmlns:a16="http://schemas.microsoft.com/office/drawing/2014/main" id="{8D395A11-72B3-4340-B42F-1DCCFEC26B4C}"/>
              </a:ext>
            </a:extLst>
          </p:cNvPr>
          <p:cNvGraphicFramePr>
            <a:graphicFrameLocks noGrp="1"/>
          </p:cNvGraphicFramePr>
          <p:nvPr>
            <p:ph sz="quarter" idx="13"/>
            <p:extLst>
              <p:ext uri="{D42A27DB-BD31-4B8C-83A1-F6EECF244321}">
                <p14:modId xmlns:p14="http://schemas.microsoft.com/office/powerpoint/2010/main" val="406853831"/>
              </p:ext>
            </p:extLst>
          </p:nvPr>
        </p:nvGraphicFramePr>
        <p:xfrm>
          <a:off x="457200" y="1554162"/>
          <a:ext cx="8232774" cy="1987323"/>
        </p:xfrm>
        <a:graphic>
          <a:graphicData uri="http://schemas.openxmlformats.org/drawingml/2006/table">
            <a:tbl>
              <a:tblPr firstRow="1" bandRow="1">
                <a:tableStyleId>{2D5ABB26-0587-4C30-8999-92F81FD0307C}</a:tableStyleId>
              </a:tblPr>
              <a:tblGrid>
                <a:gridCol w="820057">
                  <a:extLst>
                    <a:ext uri="{9D8B030D-6E8A-4147-A177-3AD203B41FA5}">
                      <a16:colId xmlns:a16="http://schemas.microsoft.com/office/drawing/2014/main" val="3679579717"/>
                    </a:ext>
                  </a:extLst>
                </a:gridCol>
                <a:gridCol w="754743">
                  <a:extLst>
                    <a:ext uri="{9D8B030D-6E8A-4147-A177-3AD203B41FA5}">
                      <a16:colId xmlns:a16="http://schemas.microsoft.com/office/drawing/2014/main" val="2343110907"/>
                    </a:ext>
                  </a:extLst>
                </a:gridCol>
                <a:gridCol w="6657974">
                  <a:extLst>
                    <a:ext uri="{9D8B030D-6E8A-4147-A177-3AD203B41FA5}">
                      <a16:colId xmlns:a16="http://schemas.microsoft.com/office/drawing/2014/main" val="2215421922"/>
                    </a:ext>
                  </a:extLst>
                </a:gridCol>
              </a:tblGrid>
              <a:tr h="662441">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Times New Roman" panose="02020603050405020304" pitchFamily="18" charset="0"/>
                        </a:rPr>
                        <a:t>p</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Times New Roman" panose="02020603050405020304" pitchFamily="18" charset="0"/>
                        </a:rPr>
                        <a:t>!p</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Times New Roman" panose="02020603050405020304" pitchFamily="18" charset="0"/>
                        </a:rPr>
                        <a:t>Example (assume age = 24, weight = 140)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8687992"/>
                  </a:ext>
                </a:extLst>
              </a:tr>
              <a:tr h="662441">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Times New Roman" panose="02020603050405020304" pitchFamily="18" charset="0"/>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Times New Roman" panose="02020603050405020304" pitchFamily="18" charset="0"/>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Times New Roman" panose="02020603050405020304" pitchFamily="18" charset="0"/>
                        </a:rPr>
                        <a:t>!(age &gt; 18) is false, because (age &gt; 18) is 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074751"/>
                  </a:ext>
                </a:extLst>
              </a:tr>
              <a:tr h="662441">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Times New Roman" panose="02020603050405020304" pitchFamily="18" charset="0"/>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Times New Roman" panose="02020603050405020304" pitchFamily="18" charset="0"/>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Times New Roman" panose="02020603050405020304" pitchFamily="18" charset="0"/>
                        </a:rPr>
                        <a:t>!(weight == 150) is true, because (weight == 150) is 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8848040"/>
                  </a:ext>
                </a:extLst>
              </a:tr>
            </a:tbl>
          </a:graphicData>
        </a:graphic>
      </p:graphicFrame>
    </p:spTree>
    <p:extLst>
      <p:ext uri="{BB962C8B-B14F-4D97-AF65-F5344CB8AC3E}">
        <p14:creationId xmlns:p14="http://schemas.microsoft.com/office/powerpoint/2010/main" val="1317998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AC089-23A8-4123-95D3-D3771C6CB80B}"/>
              </a:ext>
            </a:extLst>
          </p:cNvPr>
          <p:cNvSpPr>
            <a:spLocks noGrp="1"/>
          </p:cNvSpPr>
          <p:nvPr>
            <p:ph type="title"/>
          </p:nvPr>
        </p:nvSpPr>
        <p:spPr/>
        <p:txBody>
          <a:bodyPr/>
          <a:lstStyle/>
          <a:p>
            <a:r>
              <a:rPr lang="en-IN" dirty="0"/>
              <a:t>Truth Table for Operator &amp;&amp;</a:t>
            </a:r>
          </a:p>
        </p:txBody>
      </p:sp>
      <p:graphicFrame>
        <p:nvGraphicFramePr>
          <p:cNvPr id="4" name="Table 4">
            <a:extLst>
              <a:ext uri="{FF2B5EF4-FFF2-40B4-BE49-F238E27FC236}">
                <a16:creationId xmlns:a16="http://schemas.microsoft.com/office/drawing/2014/main" id="{14186506-1979-4B3A-96FA-5A65958952FD}"/>
              </a:ext>
            </a:extLst>
          </p:cNvPr>
          <p:cNvGraphicFramePr>
            <a:graphicFrameLocks noGrp="1"/>
          </p:cNvGraphicFramePr>
          <p:nvPr>
            <p:ph sz="quarter" idx="13"/>
            <p:extLst>
              <p:ext uri="{D42A27DB-BD31-4B8C-83A1-F6EECF244321}">
                <p14:modId xmlns:p14="http://schemas.microsoft.com/office/powerpoint/2010/main" val="1487786553"/>
              </p:ext>
            </p:extLst>
          </p:nvPr>
        </p:nvGraphicFramePr>
        <p:xfrm>
          <a:off x="457200" y="1554163"/>
          <a:ext cx="8232772" cy="4073639"/>
        </p:xfrm>
        <a:graphic>
          <a:graphicData uri="http://schemas.openxmlformats.org/drawingml/2006/table">
            <a:tbl>
              <a:tblPr firstRow="1" bandRow="1">
                <a:tableStyleId>{2D5ABB26-0587-4C30-8999-92F81FD0307C}</a:tableStyleId>
              </a:tblPr>
              <a:tblGrid>
                <a:gridCol w="892629">
                  <a:extLst>
                    <a:ext uri="{9D8B030D-6E8A-4147-A177-3AD203B41FA5}">
                      <a16:colId xmlns:a16="http://schemas.microsoft.com/office/drawing/2014/main" val="1326589402"/>
                    </a:ext>
                  </a:extLst>
                </a:gridCol>
                <a:gridCol w="682171">
                  <a:extLst>
                    <a:ext uri="{9D8B030D-6E8A-4147-A177-3AD203B41FA5}">
                      <a16:colId xmlns:a16="http://schemas.microsoft.com/office/drawing/2014/main" val="3993321857"/>
                    </a:ext>
                  </a:extLst>
                </a:gridCol>
                <a:gridCol w="1146629">
                  <a:extLst>
                    <a:ext uri="{9D8B030D-6E8A-4147-A177-3AD203B41FA5}">
                      <a16:colId xmlns:a16="http://schemas.microsoft.com/office/drawing/2014/main" val="3737468705"/>
                    </a:ext>
                  </a:extLst>
                </a:gridCol>
                <a:gridCol w="5511343">
                  <a:extLst>
                    <a:ext uri="{9D8B030D-6E8A-4147-A177-3AD203B41FA5}">
                      <a16:colId xmlns:a16="http://schemas.microsoft.com/office/drawing/2014/main" val="1311422604"/>
                    </a:ext>
                  </a:extLst>
                </a:gridCol>
              </a:tblGrid>
              <a:tr h="53455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Arial" pitchFamily="34" charset="0"/>
                        </a:rPr>
                        <a:t>p</a:t>
                      </a:r>
                      <a:r>
                        <a:rPr kumimoji="0" lang="en-US" sz="2000" b="1" i="0" u="none" strike="noStrike" cap="none" normalizeH="0" baseline="-25000" dirty="0">
                          <a:ln>
                            <a:noFill/>
                          </a:ln>
                          <a:solidFill>
                            <a:schemeClr val="tx1"/>
                          </a:solidFill>
                          <a:effectLst/>
                          <a:latin typeface="+mn-lt"/>
                          <a:cs typeface="Arial" pitchFamily="34" charset="0"/>
                        </a:rPr>
                        <a:t>1</a:t>
                      </a:r>
                      <a:endParaRPr kumimoji="0" lang="en-US" sz="2000" b="1" i="0" u="none" strike="noStrike" cap="none" normalizeH="0" baseline="0" dirty="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Arial" pitchFamily="34" charset="0"/>
                        </a:rPr>
                        <a:t>p</a:t>
                      </a:r>
                      <a:r>
                        <a:rPr kumimoji="0" lang="en-US" sz="2000" b="1" i="0" u="none" strike="noStrike" cap="none" normalizeH="0" baseline="-25000" dirty="0">
                          <a:ln>
                            <a:noFill/>
                          </a:ln>
                          <a:solidFill>
                            <a:schemeClr val="tx1"/>
                          </a:solidFill>
                          <a:effectLst/>
                          <a:latin typeface="+mn-lt"/>
                          <a:cs typeface="Arial" pitchFamily="34" charset="0"/>
                        </a:rPr>
                        <a:t>2</a:t>
                      </a:r>
                      <a:endParaRPr kumimoji="0" lang="en-US" sz="2000" b="1" i="0" u="none" strike="noStrike" cap="none" normalizeH="0" baseline="0" dirty="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Arial" pitchFamily="34" charset="0"/>
                        </a:rPr>
                        <a:t>p</a:t>
                      </a:r>
                      <a:r>
                        <a:rPr kumimoji="0" lang="en-US" sz="2000" b="1" i="0" u="none" strike="noStrike" cap="none" normalizeH="0" baseline="-25000" dirty="0">
                          <a:ln>
                            <a:noFill/>
                          </a:ln>
                          <a:solidFill>
                            <a:schemeClr val="tx1"/>
                          </a:solidFill>
                          <a:effectLst/>
                          <a:latin typeface="+mn-lt"/>
                          <a:cs typeface="Arial" pitchFamily="34" charset="0"/>
                        </a:rPr>
                        <a:t>1</a:t>
                      </a:r>
                      <a:r>
                        <a:rPr kumimoji="0" lang="en-US" sz="2000" b="1" i="0" u="none" strike="noStrike" cap="none" normalizeH="0" baseline="0" dirty="0">
                          <a:ln>
                            <a:noFill/>
                          </a:ln>
                          <a:solidFill>
                            <a:schemeClr val="tx1"/>
                          </a:solidFill>
                          <a:effectLst/>
                          <a:latin typeface="+mn-lt"/>
                          <a:cs typeface="Arial" pitchFamily="34" charset="0"/>
                        </a:rPr>
                        <a:t> &amp;&amp; p</a:t>
                      </a:r>
                      <a:r>
                        <a:rPr kumimoji="0" lang="en-US" sz="2000" b="1" i="0" u="none" strike="noStrike" cap="none" normalizeH="0" baseline="-25000" dirty="0">
                          <a:ln>
                            <a:noFill/>
                          </a:ln>
                          <a:solidFill>
                            <a:schemeClr val="tx1"/>
                          </a:solidFill>
                          <a:effectLst/>
                          <a:latin typeface="+mn-lt"/>
                          <a:cs typeface="Arial" pitchFamily="34" charset="0"/>
                        </a:rPr>
                        <a:t>2</a:t>
                      </a:r>
                      <a:endParaRPr kumimoji="0" lang="en-US" sz="2000" b="1" i="0" u="none" strike="noStrike" cap="none" normalizeH="0" baseline="0" dirty="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Arial" pitchFamily="34" charset="0"/>
                        </a:rPr>
                        <a:t>Example (assume age = 24, weight = 140)</a:t>
                      </a:r>
                      <a:endParaRPr kumimoji="0" lang="en-US" sz="2000" b="1"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2398292"/>
                  </a:ext>
                </a:extLst>
              </a:tr>
              <a:tr h="1012697">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Arial" pitchFamily="34" charset="0"/>
                        </a:rPr>
                        <a:t>false</a:t>
                      </a:r>
                      <a:endParaRPr kumimoji="0" lang="en-US" sz="2000" b="1"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false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false</a:t>
                      </a:r>
                      <a:endParaRPr kumimoji="0" lang="en-US" sz="2000" b="0"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(age &lt;= 18) &amp;&amp; (weight &lt; 140) is false, because both conditions are both false.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427854"/>
                  </a:ext>
                </a:extLst>
              </a:tr>
              <a:tr h="53455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Arial" pitchFamily="34" charset="0"/>
                        </a:rPr>
                        <a:t>false</a:t>
                      </a:r>
                      <a:endParaRPr kumimoji="0" lang="en-US" sz="2000" b="1"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true</a:t>
                      </a:r>
                      <a:endParaRPr kumimoji="0" lang="en-US" sz="2000" b="0"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false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100" b="0" i="0" u="none" strike="noStrike" cap="none" normalizeH="0" baseline="0" dirty="0">
                          <a:ln>
                            <a:noFill/>
                          </a:ln>
                          <a:solidFill>
                            <a:schemeClr val="tx1"/>
                          </a:solidFill>
                          <a:effectLst/>
                          <a:latin typeface="+mn-lt"/>
                          <a:cs typeface="Arial" pitchFamily="34" charset="0"/>
                        </a:rPr>
                        <a:t> Blank</a:t>
                      </a:r>
                      <a:endParaRPr kumimoji="0" lang="en-US" sz="1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8783202"/>
                  </a:ext>
                </a:extLst>
              </a:tr>
              <a:tr h="973729">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Arial" pitchFamily="34" charset="0"/>
                        </a:rPr>
                        <a:t>true</a:t>
                      </a:r>
                      <a:endParaRPr kumimoji="0" lang="en-US" sz="2000" b="1"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false</a:t>
                      </a:r>
                      <a:endParaRPr kumimoji="0" lang="en-US" sz="2000" b="0"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false</a:t>
                      </a:r>
                      <a:endParaRPr kumimoji="0" lang="en-US" sz="2000" b="0"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(age &gt; 18) &amp;&amp; (weight &gt; 140) is false, because (weight &gt; 140) is false.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6814934"/>
                  </a:ext>
                </a:extLst>
              </a:tr>
              <a:tr h="1018095">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Arial" pitchFamily="34" charset="0"/>
                        </a:rPr>
                        <a:t>true</a:t>
                      </a:r>
                      <a:endParaRPr kumimoji="0" lang="en-US" sz="2000" b="1"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true</a:t>
                      </a:r>
                      <a:endParaRPr kumimoji="0" lang="en-US" sz="2000" b="0"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true</a:t>
                      </a:r>
                      <a:endParaRPr kumimoji="0" lang="en-US" sz="2000" b="0" i="0" u="none" strike="noStrike" cap="none" normalizeH="0" baseline="0">
                        <a:ln>
                          <a:noFill/>
                        </a:ln>
                        <a:solidFill>
                          <a:schemeClr val="tx1"/>
                        </a:solidFill>
                        <a:effectLst/>
                        <a:latin typeface="+mn-lt"/>
                        <a:cs typeface="Times New Roman"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cap="none" normalizeH="0" baseline="0" dirty="0">
                          <a:ln>
                            <a:noFill/>
                          </a:ln>
                          <a:solidFill>
                            <a:schemeClr val="tx1"/>
                          </a:solidFill>
                          <a:effectLst/>
                          <a:latin typeface="+mn-lt"/>
                          <a:cs typeface="Arial" pitchFamily="34" charset="0"/>
                        </a:rPr>
                        <a:t>(age &gt; 18) &amp;&amp; (weight &gt;= 140) is true, because both (age &gt; 18) and (weight &gt;= 140) are true.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8273656"/>
                  </a:ext>
                </a:extLst>
              </a:tr>
            </a:tbl>
          </a:graphicData>
        </a:graphic>
      </p:graphicFrame>
    </p:spTree>
    <p:extLst>
      <p:ext uri="{BB962C8B-B14F-4D97-AF65-F5344CB8AC3E}">
        <p14:creationId xmlns:p14="http://schemas.microsoft.com/office/powerpoint/2010/main" val="10565024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5C33C-A011-4041-9BD5-2D3BEBE5CFFC}"/>
              </a:ext>
            </a:extLst>
          </p:cNvPr>
          <p:cNvSpPr>
            <a:spLocks noGrp="1"/>
          </p:cNvSpPr>
          <p:nvPr>
            <p:ph type="title"/>
          </p:nvPr>
        </p:nvSpPr>
        <p:spPr/>
        <p:txBody>
          <a:bodyPr/>
          <a:lstStyle/>
          <a:p>
            <a:r>
              <a:rPr lang="en-IN" dirty="0"/>
              <a:t>Truth Table for Operator ||</a:t>
            </a:r>
          </a:p>
        </p:txBody>
      </p:sp>
      <p:graphicFrame>
        <p:nvGraphicFramePr>
          <p:cNvPr id="4" name="Table 4">
            <a:extLst>
              <a:ext uri="{FF2B5EF4-FFF2-40B4-BE49-F238E27FC236}">
                <a16:creationId xmlns:a16="http://schemas.microsoft.com/office/drawing/2014/main" id="{A53AF91B-7062-49A6-94CB-35482E810F50}"/>
              </a:ext>
            </a:extLst>
          </p:cNvPr>
          <p:cNvGraphicFramePr>
            <a:graphicFrameLocks noGrp="1"/>
          </p:cNvGraphicFramePr>
          <p:nvPr>
            <p:ph sz="quarter" idx="13"/>
            <p:extLst>
              <p:ext uri="{D42A27DB-BD31-4B8C-83A1-F6EECF244321}">
                <p14:modId xmlns:p14="http://schemas.microsoft.com/office/powerpoint/2010/main" val="3533626244"/>
              </p:ext>
            </p:extLst>
          </p:nvPr>
        </p:nvGraphicFramePr>
        <p:xfrm>
          <a:off x="457200" y="1554162"/>
          <a:ext cx="8232772" cy="3639399"/>
        </p:xfrm>
        <a:graphic>
          <a:graphicData uri="http://schemas.openxmlformats.org/drawingml/2006/table">
            <a:tbl>
              <a:tblPr firstRow="1" bandRow="1">
                <a:tableStyleId>{2D5ABB26-0587-4C30-8999-92F81FD0307C}</a:tableStyleId>
              </a:tblPr>
              <a:tblGrid>
                <a:gridCol w="762000">
                  <a:extLst>
                    <a:ext uri="{9D8B030D-6E8A-4147-A177-3AD203B41FA5}">
                      <a16:colId xmlns:a16="http://schemas.microsoft.com/office/drawing/2014/main" val="3825942025"/>
                    </a:ext>
                  </a:extLst>
                </a:gridCol>
                <a:gridCol w="769856">
                  <a:extLst>
                    <a:ext uri="{9D8B030D-6E8A-4147-A177-3AD203B41FA5}">
                      <a16:colId xmlns:a16="http://schemas.microsoft.com/office/drawing/2014/main" val="1363546780"/>
                    </a:ext>
                  </a:extLst>
                </a:gridCol>
                <a:gridCol w="1102936">
                  <a:extLst>
                    <a:ext uri="{9D8B030D-6E8A-4147-A177-3AD203B41FA5}">
                      <a16:colId xmlns:a16="http://schemas.microsoft.com/office/drawing/2014/main" val="2466635653"/>
                    </a:ext>
                  </a:extLst>
                </a:gridCol>
                <a:gridCol w="5597980">
                  <a:extLst>
                    <a:ext uri="{9D8B030D-6E8A-4147-A177-3AD203B41FA5}">
                      <a16:colId xmlns:a16="http://schemas.microsoft.com/office/drawing/2014/main" val="454941692"/>
                    </a:ext>
                  </a:extLst>
                </a:gridCol>
              </a:tblGrid>
              <a:tr h="519735">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Arial" pitchFamily="34" charset="0"/>
                        </a:rPr>
                        <a:t>p</a:t>
                      </a:r>
                      <a:r>
                        <a:rPr kumimoji="0" lang="en-US" sz="2000" b="1" i="0" u="none" strike="noStrike" cap="none" normalizeH="0" baseline="-25000" dirty="0">
                          <a:ln>
                            <a:noFill/>
                          </a:ln>
                          <a:solidFill>
                            <a:schemeClr val="tx1"/>
                          </a:solidFill>
                          <a:effectLst/>
                          <a:latin typeface="+mn-lt"/>
                          <a:cs typeface="Arial" pitchFamily="34" charset="0"/>
                        </a:rPr>
                        <a:t>1</a:t>
                      </a:r>
                      <a:endParaRPr kumimoji="0" lang="en-US" sz="2000" b="1"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Arial" pitchFamily="34" charset="0"/>
                        </a:rPr>
                        <a:t>p</a:t>
                      </a:r>
                      <a:r>
                        <a:rPr kumimoji="0" lang="en-US" sz="2000" b="1" i="0" u="none" strike="noStrike" cap="none" normalizeH="0" baseline="-25000" dirty="0">
                          <a:ln>
                            <a:noFill/>
                          </a:ln>
                          <a:solidFill>
                            <a:schemeClr val="tx1"/>
                          </a:solidFill>
                          <a:effectLst/>
                          <a:latin typeface="+mn-lt"/>
                          <a:cs typeface="Arial" pitchFamily="34" charset="0"/>
                        </a:rPr>
                        <a:t>2</a:t>
                      </a:r>
                      <a:endParaRPr kumimoji="0" lang="en-US" sz="2000" b="1"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Arial" pitchFamily="34" charset="0"/>
                        </a:rPr>
                        <a:t>p</a:t>
                      </a:r>
                      <a:r>
                        <a:rPr kumimoji="0" lang="en-US" sz="2000" b="1" i="0" u="none" strike="noStrike" cap="none" normalizeH="0" baseline="-25000" dirty="0">
                          <a:ln>
                            <a:noFill/>
                          </a:ln>
                          <a:solidFill>
                            <a:schemeClr val="tx1"/>
                          </a:solidFill>
                          <a:effectLst/>
                          <a:latin typeface="+mn-lt"/>
                          <a:cs typeface="Arial" pitchFamily="34" charset="0"/>
                        </a:rPr>
                        <a:t>1</a:t>
                      </a:r>
                      <a:r>
                        <a:rPr kumimoji="0" lang="en-US" sz="2000" b="1" i="0" u="none" strike="noStrike" cap="none" normalizeH="0" baseline="0" dirty="0">
                          <a:ln>
                            <a:noFill/>
                          </a:ln>
                          <a:solidFill>
                            <a:schemeClr val="tx1"/>
                          </a:solidFill>
                          <a:effectLst/>
                          <a:latin typeface="+mn-lt"/>
                          <a:cs typeface="Arial" pitchFamily="34" charset="0"/>
                        </a:rPr>
                        <a:t> || p</a:t>
                      </a:r>
                      <a:r>
                        <a:rPr kumimoji="0" lang="en-US" sz="2000" b="1" i="0" u="none" strike="noStrike" cap="none" normalizeH="0" baseline="-25000" dirty="0">
                          <a:ln>
                            <a:noFill/>
                          </a:ln>
                          <a:solidFill>
                            <a:schemeClr val="tx1"/>
                          </a:solidFill>
                          <a:effectLst/>
                          <a:latin typeface="+mn-lt"/>
                          <a:cs typeface="Arial" pitchFamily="34" charset="0"/>
                        </a:rPr>
                        <a:t>2</a:t>
                      </a:r>
                      <a:endParaRPr kumimoji="0" lang="en-US" sz="2000" b="1"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Arial" pitchFamily="34" charset="0"/>
                        </a:rPr>
                        <a:t>Example (assume age = 24, weight = 140)</a:t>
                      </a:r>
                      <a:endParaRPr kumimoji="0" lang="en-US" sz="2000" b="1"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8225121"/>
                  </a:ext>
                </a:extLst>
              </a:tr>
              <a:tr h="509047">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Arial" pitchFamily="34" charset="0"/>
                        </a:rPr>
                        <a:t>false</a:t>
                      </a:r>
                      <a:endParaRPr kumimoji="0" lang="en-US" sz="2000" b="1" i="0" u="none" strike="noStrike" cap="none" normalizeH="0" baseline="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false</a:t>
                      </a:r>
                      <a:endParaRPr kumimoji="0" lang="en-US" sz="2000" b="0" i="0" u="none" strike="noStrike" cap="none" normalizeH="0" baseline="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false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100" b="0" i="0" u="none" strike="noStrike" cap="none" normalizeH="0" baseline="0" dirty="0">
                          <a:ln>
                            <a:noFill/>
                          </a:ln>
                          <a:solidFill>
                            <a:schemeClr val="tx1"/>
                          </a:solidFill>
                          <a:effectLst/>
                          <a:latin typeface="+mn-lt"/>
                          <a:cs typeface="Times New Roman" pitchFamily="18" charset="0"/>
                        </a:rPr>
                        <a:t>Blank</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686394"/>
                  </a:ext>
                </a:extLst>
              </a:tr>
              <a:tr h="952108">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Arial" pitchFamily="34" charset="0"/>
                        </a:rPr>
                        <a:t>false</a:t>
                      </a:r>
                      <a:endParaRPr kumimoji="0" lang="en-US" sz="2000" b="1" i="0" u="none" strike="noStrike" cap="none" normalizeH="0" baseline="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true</a:t>
                      </a:r>
                      <a:endParaRPr kumimoji="0" lang="en-US" sz="2000" b="0" i="0" u="none" strike="noStrike" cap="none" normalizeH="0" baseline="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true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(age &gt; 34) || (weight &lt;= 140) is true, because (age &gt; 34) is false, but (weight &lt;= 140) is true.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9448175"/>
                  </a:ext>
                </a:extLst>
              </a:tr>
              <a:tr h="1055802">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Arial" pitchFamily="34" charset="0"/>
                        </a:rPr>
                        <a:t>true</a:t>
                      </a:r>
                      <a:endParaRPr kumimoji="0" lang="en-US" sz="2000" b="1" i="0" u="none" strike="noStrike" cap="none" normalizeH="0" baseline="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false</a:t>
                      </a:r>
                      <a:endParaRPr kumimoji="0" lang="en-US" sz="2000" b="0" i="0" u="none" strike="noStrike" cap="none" normalizeH="0" baseline="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true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(age &gt; 14) || (weight &gt;= 150) is false, because (age &gt; 14) is true.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1249192"/>
                  </a:ext>
                </a:extLst>
              </a:tr>
              <a:tr h="602707">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Arial" pitchFamily="34" charset="0"/>
                        </a:rPr>
                        <a:t>true</a:t>
                      </a:r>
                      <a:endParaRPr kumimoji="0" lang="en-US" sz="2000" b="1" i="0" u="none" strike="noStrike" cap="none" normalizeH="0" baseline="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Arial" pitchFamily="34" charset="0"/>
                        </a:rPr>
                        <a:t>true</a:t>
                      </a:r>
                      <a:endParaRPr kumimoji="0" lang="en-US" sz="2000" b="0" i="0" u="none" strike="noStrike" cap="none" normalizeH="0" baseline="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Arial" pitchFamily="34" charset="0"/>
                        </a:rPr>
                        <a:t>true</a:t>
                      </a:r>
                      <a:endParaRPr kumimoji="0" lang="en-US" sz="2000" b="0" i="0" u="none" strike="noStrike" cap="none" normalizeH="0" baseline="0" dirty="0">
                        <a:ln>
                          <a:noFill/>
                        </a:ln>
                        <a:solidFill>
                          <a:schemeClr val="tx1"/>
                        </a:solidFill>
                        <a:effectLst/>
                        <a:latin typeface="+mn-lt"/>
                        <a:cs typeface="Times New Roman"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 b="0" i="0" u="none" strike="noStrike" cap="none" normalizeH="0" baseline="0" dirty="0">
                          <a:ln>
                            <a:noFill/>
                          </a:ln>
                          <a:solidFill>
                            <a:schemeClr val="tx1"/>
                          </a:solidFill>
                          <a:effectLst/>
                          <a:latin typeface="+mn-lt"/>
                          <a:cs typeface="Arial" pitchFamily="34" charset="0"/>
                        </a:rPr>
                        <a:t> </a:t>
                      </a:r>
                      <a:r>
                        <a:rPr kumimoji="0" lang="en-US" sz="100" b="0" i="0" u="none" strike="noStrike" cap="none" normalizeH="0" baseline="0" dirty="0">
                          <a:ln>
                            <a:noFill/>
                          </a:ln>
                          <a:solidFill>
                            <a:schemeClr val="tx1"/>
                          </a:solidFill>
                          <a:effectLst/>
                          <a:latin typeface="+mn-lt"/>
                          <a:cs typeface="Times New Roman" pitchFamily="18" charset="0"/>
                        </a:rPr>
                        <a:t>Blank</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7738548"/>
                  </a:ext>
                </a:extLst>
              </a:tr>
            </a:tbl>
          </a:graphicData>
        </a:graphic>
      </p:graphicFrame>
    </p:spTree>
    <p:extLst>
      <p:ext uri="{BB962C8B-B14F-4D97-AF65-F5344CB8AC3E}">
        <p14:creationId xmlns:p14="http://schemas.microsoft.com/office/powerpoint/2010/main" val="14920574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162CE-2013-4228-8F94-F02FC4A5B9DF}"/>
              </a:ext>
            </a:extLst>
          </p:cNvPr>
          <p:cNvSpPr>
            <a:spLocks noGrp="1"/>
          </p:cNvSpPr>
          <p:nvPr>
            <p:ph type="title"/>
          </p:nvPr>
        </p:nvSpPr>
        <p:spPr/>
        <p:txBody>
          <a:bodyPr/>
          <a:lstStyle/>
          <a:p>
            <a:r>
              <a:rPr lang="en-IN" dirty="0"/>
              <a:t>Truth Table for Operator ^</a:t>
            </a:r>
          </a:p>
        </p:txBody>
      </p:sp>
      <p:graphicFrame>
        <p:nvGraphicFramePr>
          <p:cNvPr id="4" name="Table 4">
            <a:extLst>
              <a:ext uri="{FF2B5EF4-FFF2-40B4-BE49-F238E27FC236}">
                <a16:creationId xmlns:a16="http://schemas.microsoft.com/office/drawing/2014/main" id="{87D53E9B-6E74-451D-B747-FE93535DA8D9}"/>
              </a:ext>
            </a:extLst>
          </p:cNvPr>
          <p:cNvGraphicFramePr>
            <a:graphicFrameLocks noGrp="1"/>
          </p:cNvGraphicFramePr>
          <p:nvPr>
            <p:ph sz="quarter" idx="13"/>
            <p:extLst>
              <p:ext uri="{D42A27DB-BD31-4B8C-83A1-F6EECF244321}">
                <p14:modId xmlns:p14="http://schemas.microsoft.com/office/powerpoint/2010/main" val="2628820944"/>
              </p:ext>
            </p:extLst>
          </p:nvPr>
        </p:nvGraphicFramePr>
        <p:xfrm>
          <a:off x="457200" y="1554163"/>
          <a:ext cx="8232772" cy="4094816"/>
        </p:xfrm>
        <a:graphic>
          <a:graphicData uri="http://schemas.openxmlformats.org/drawingml/2006/table">
            <a:tbl>
              <a:tblPr firstRow="1" bandRow="1">
                <a:tableStyleId>{2D5ABB26-0587-4C30-8999-92F81FD0307C}</a:tableStyleId>
              </a:tblPr>
              <a:tblGrid>
                <a:gridCol w="805543">
                  <a:extLst>
                    <a:ext uri="{9D8B030D-6E8A-4147-A177-3AD203B41FA5}">
                      <a16:colId xmlns:a16="http://schemas.microsoft.com/office/drawing/2014/main" val="2865409491"/>
                    </a:ext>
                  </a:extLst>
                </a:gridCol>
                <a:gridCol w="740228">
                  <a:extLst>
                    <a:ext uri="{9D8B030D-6E8A-4147-A177-3AD203B41FA5}">
                      <a16:colId xmlns:a16="http://schemas.microsoft.com/office/drawing/2014/main" val="1083031478"/>
                    </a:ext>
                  </a:extLst>
                </a:gridCol>
                <a:gridCol w="1239850">
                  <a:extLst>
                    <a:ext uri="{9D8B030D-6E8A-4147-A177-3AD203B41FA5}">
                      <a16:colId xmlns:a16="http://schemas.microsoft.com/office/drawing/2014/main" val="1129900327"/>
                    </a:ext>
                  </a:extLst>
                </a:gridCol>
                <a:gridCol w="5447151">
                  <a:extLst>
                    <a:ext uri="{9D8B030D-6E8A-4147-A177-3AD203B41FA5}">
                      <a16:colId xmlns:a16="http://schemas.microsoft.com/office/drawing/2014/main" val="701439357"/>
                    </a:ext>
                  </a:extLst>
                </a:gridCol>
              </a:tblGrid>
              <a:tr h="529161">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Times New Roman" panose="02020603050405020304" pitchFamily="18" charset="0"/>
                        </a:rPr>
                        <a:t>p</a:t>
                      </a:r>
                      <a:r>
                        <a:rPr kumimoji="0" lang="en-US" sz="2000" b="1" i="0" u="none" strike="noStrike" cap="none" normalizeH="0" baseline="-25000" dirty="0">
                          <a:ln>
                            <a:noFill/>
                          </a:ln>
                          <a:solidFill>
                            <a:schemeClr val="tx1"/>
                          </a:solidFill>
                          <a:effectLst/>
                          <a:latin typeface="+mn-lt"/>
                          <a:cs typeface="Times New Roman" panose="02020603050405020304" pitchFamily="18" charset="0"/>
                        </a:rPr>
                        <a:t>1</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Times New Roman" panose="02020603050405020304" pitchFamily="18" charset="0"/>
                        </a:rPr>
                        <a:t>p</a:t>
                      </a:r>
                      <a:r>
                        <a:rPr kumimoji="0" lang="en-US" sz="2000" b="1" i="0" u="none" strike="noStrike" cap="none" normalizeH="0" baseline="-25000" dirty="0">
                          <a:ln>
                            <a:noFill/>
                          </a:ln>
                          <a:solidFill>
                            <a:schemeClr val="tx1"/>
                          </a:solidFill>
                          <a:effectLst/>
                          <a:latin typeface="+mn-lt"/>
                          <a:cs typeface="Times New Roman" panose="02020603050405020304" pitchFamily="18" charset="0"/>
                        </a:rPr>
                        <a:t>2</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Times New Roman" panose="02020603050405020304" pitchFamily="18" charset="0"/>
                        </a:rPr>
                        <a:t>p</a:t>
                      </a:r>
                      <a:r>
                        <a:rPr kumimoji="0" lang="en-US" sz="2000" b="1" i="0" u="none" strike="noStrike" cap="none" normalizeH="0" baseline="-25000" dirty="0">
                          <a:ln>
                            <a:noFill/>
                          </a:ln>
                          <a:solidFill>
                            <a:schemeClr val="tx1"/>
                          </a:solidFill>
                          <a:effectLst/>
                          <a:latin typeface="+mn-lt"/>
                          <a:cs typeface="Times New Roman" panose="02020603050405020304" pitchFamily="18" charset="0"/>
                        </a:rPr>
                        <a:t>1 </a:t>
                      </a:r>
                      <a:r>
                        <a:rPr kumimoji="0" lang="en-US" sz="2000" b="1" i="0" u="none" strike="noStrike" cap="none" normalizeH="0" baseline="0" dirty="0">
                          <a:ln>
                            <a:noFill/>
                          </a:ln>
                          <a:solidFill>
                            <a:schemeClr val="tx1"/>
                          </a:solidFill>
                          <a:effectLst/>
                          <a:latin typeface="+mn-lt"/>
                          <a:cs typeface="Times New Roman" panose="02020603050405020304" pitchFamily="18" charset="0"/>
                        </a:rPr>
                        <a:t>^</a:t>
                      </a:r>
                      <a:r>
                        <a:rPr kumimoji="0" lang="en-US" sz="2000" b="1" i="0" u="none" strike="noStrike" cap="none" normalizeH="0" baseline="-25000" dirty="0">
                          <a:ln>
                            <a:noFill/>
                          </a:ln>
                          <a:solidFill>
                            <a:schemeClr val="tx1"/>
                          </a:solidFill>
                          <a:effectLst/>
                          <a:latin typeface="+mn-lt"/>
                          <a:cs typeface="Times New Roman" panose="02020603050405020304" pitchFamily="18" charset="0"/>
                        </a:rPr>
                        <a:t> </a:t>
                      </a:r>
                      <a:r>
                        <a:rPr kumimoji="0" lang="en-US" sz="2000" b="1" i="0" u="none" strike="noStrike" cap="none" normalizeH="0" baseline="0" dirty="0">
                          <a:ln>
                            <a:noFill/>
                          </a:ln>
                          <a:solidFill>
                            <a:schemeClr val="tx1"/>
                          </a:solidFill>
                          <a:effectLst/>
                          <a:latin typeface="+mn-lt"/>
                          <a:cs typeface="Times New Roman" panose="02020603050405020304" pitchFamily="18" charset="0"/>
                        </a:rPr>
                        <a:t>p</a:t>
                      </a:r>
                      <a:r>
                        <a:rPr kumimoji="0" lang="en-US" sz="2000" b="1" i="0" u="none" strike="noStrike" cap="none" normalizeH="0" baseline="-25000" dirty="0">
                          <a:ln>
                            <a:noFill/>
                          </a:ln>
                          <a:solidFill>
                            <a:schemeClr val="tx1"/>
                          </a:solidFill>
                          <a:effectLst/>
                          <a:latin typeface="+mn-lt"/>
                          <a:cs typeface="Times New Roman" panose="02020603050405020304" pitchFamily="18" charset="0"/>
                        </a:rPr>
                        <a:t>2</a:t>
                      </a:r>
                      <a:endParaRPr kumimoji="0" lang="en-US" sz="2000" b="1" i="0" u="none" strike="noStrike" cap="none" normalizeH="0" baseline="0" dirty="0">
                        <a:ln>
                          <a:noFill/>
                        </a:ln>
                        <a:solidFill>
                          <a:schemeClr val="tx1"/>
                        </a:solidFill>
                        <a:effectLst/>
                        <a:latin typeface="+mn-lt"/>
                        <a:cs typeface="Times New Roman" panose="02020603050405020304" pitchFamily="18" charset="0"/>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dirty="0">
                          <a:ln>
                            <a:noFill/>
                          </a:ln>
                          <a:solidFill>
                            <a:schemeClr val="tx1"/>
                          </a:solidFill>
                          <a:effectLst/>
                          <a:latin typeface="+mn-lt"/>
                          <a:cs typeface="Times New Roman" panose="02020603050405020304" pitchFamily="18" charset="0"/>
                        </a:rPr>
                        <a:t>Example (assume age = 24, weight = 140)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0548014"/>
                  </a:ext>
                </a:extLst>
              </a:tr>
              <a:tr h="999241">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Times New Roman" panose="02020603050405020304" pitchFamily="18" charset="0"/>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Times New Roman" panose="02020603050405020304" pitchFamily="18" charset="0"/>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Times New Roman" panose="02020603050405020304" pitchFamily="18" charset="0"/>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defRPr/>
                      </a:pPr>
                      <a:r>
                        <a:rPr kumimoji="0" lang="en-US" sz="2000" b="0" i="0" u="none" strike="noStrike" cap="none" normalizeH="0" baseline="0" dirty="0">
                          <a:ln>
                            <a:noFill/>
                          </a:ln>
                          <a:solidFill>
                            <a:schemeClr val="tx1"/>
                          </a:solidFill>
                          <a:effectLst/>
                          <a:latin typeface="+mn-lt"/>
                          <a:cs typeface="Times New Roman" panose="02020603050405020304" pitchFamily="18" charset="0"/>
                        </a:rPr>
                        <a:t>(age &gt; 34) ^ (weight &gt; 140) is true, because (age &gt; 34) is false and (weight &gt; 140) is 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0674505"/>
                  </a:ext>
                </a:extLst>
              </a:tr>
              <a:tr h="970961">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Times New Roman" panose="02020603050405020304" pitchFamily="18" charset="0"/>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Times New Roman" panose="02020603050405020304" pitchFamily="18" charset="0"/>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Times New Roman" panose="02020603050405020304" pitchFamily="18" charset="0"/>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defRPr/>
                      </a:pPr>
                      <a:r>
                        <a:rPr kumimoji="0" lang="en-US" sz="2000" b="0" i="0" u="none" strike="noStrike" cap="none" normalizeH="0" baseline="0" dirty="0">
                          <a:ln>
                            <a:noFill/>
                          </a:ln>
                          <a:solidFill>
                            <a:schemeClr val="tx1"/>
                          </a:solidFill>
                          <a:effectLst/>
                          <a:latin typeface="+mn-lt"/>
                          <a:cs typeface="Times New Roman" panose="02020603050405020304" pitchFamily="18" charset="0"/>
                        </a:rPr>
                        <a:t> (age &gt; 34) ^ (weight &gt;= 140) is true, because (age &gt; 34) is false but (weight &gt;= 140) is 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4357823"/>
                  </a:ext>
                </a:extLst>
              </a:tr>
              <a:tr h="1055802">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Times New Roman" panose="02020603050405020304" pitchFamily="18" charset="0"/>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Times New Roman" panose="02020603050405020304" pitchFamily="18" charset="0"/>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Times New Roman" panose="02020603050405020304" pitchFamily="18" charset="0"/>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Times New Roman" panose="02020603050405020304" pitchFamily="18" charset="0"/>
                        </a:rPr>
                        <a:t>(age &gt; 14) ^ (weight &gt; 140) is true, because (age &gt; 14) is true and (weight &gt; 140) is 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6690180"/>
                  </a:ext>
                </a:extLst>
              </a:tr>
              <a:tr h="539651">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1" i="0" u="none" strike="noStrike" cap="none" normalizeH="0" baseline="0">
                          <a:ln>
                            <a:noFill/>
                          </a:ln>
                          <a:solidFill>
                            <a:schemeClr val="tx1"/>
                          </a:solidFill>
                          <a:effectLst/>
                          <a:latin typeface="+mn-lt"/>
                          <a:cs typeface="Times New Roman" panose="02020603050405020304" pitchFamily="18" charset="0"/>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a:ln>
                            <a:noFill/>
                          </a:ln>
                          <a:solidFill>
                            <a:schemeClr val="tx1"/>
                          </a:solidFill>
                          <a:effectLst/>
                          <a:latin typeface="+mn-lt"/>
                          <a:cs typeface="Times New Roman" panose="02020603050405020304" pitchFamily="18" charset="0"/>
                        </a:rPr>
                        <a:t>true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938213" algn="ctr"/>
                          <a:tab pos="2025650" algn="ctr"/>
                          <a:tab pos="3052763" algn="ctr"/>
                          <a:tab pos="4090988" algn="ctr"/>
                        </a:tabLst>
                      </a:pPr>
                      <a:r>
                        <a:rPr kumimoji="0" lang="en-US" sz="2000" b="0" i="0" u="none" strike="noStrike" cap="none" normalizeH="0" baseline="0" dirty="0">
                          <a:ln>
                            <a:noFill/>
                          </a:ln>
                          <a:solidFill>
                            <a:schemeClr val="tx1"/>
                          </a:solidFill>
                          <a:effectLst/>
                          <a:latin typeface="+mn-lt"/>
                          <a:cs typeface="Times New Roman" panose="02020603050405020304" pitchFamily="18" charset="0"/>
                        </a:rPr>
                        <a:t>false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 b="0" i="0" u="none" strike="noStrike" cap="none" normalizeH="0" baseline="0" dirty="0">
                          <a:ln>
                            <a:noFill/>
                          </a:ln>
                          <a:solidFill>
                            <a:schemeClr val="tx1"/>
                          </a:solidFill>
                          <a:effectLst/>
                          <a:latin typeface="+mn-lt"/>
                          <a:cs typeface="Times New Roman" panose="02020603050405020304" pitchFamily="18" charset="0"/>
                        </a:rPr>
                        <a:t> Blank</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9459632"/>
                  </a:ext>
                </a:extLst>
              </a:tr>
            </a:tbl>
          </a:graphicData>
        </a:graphic>
      </p:graphicFrame>
    </p:spTree>
    <p:extLst>
      <p:ext uri="{BB962C8B-B14F-4D97-AF65-F5344CB8AC3E}">
        <p14:creationId xmlns:p14="http://schemas.microsoft.com/office/powerpoint/2010/main" val="28702466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76FE0-E9FD-4621-8A6D-B29AE3EB50DB}"/>
              </a:ext>
            </a:extLst>
          </p:cNvPr>
          <p:cNvSpPr>
            <a:spLocks noGrp="1"/>
          </p:cNvSpPr>
          <p:nvPr>
            <p:ph type="title"/>
          </p:nvPr>
        </p:nvSpPr>
        <p:spPr/>
        <p:txBody>
          <a:bodyPr/>
          <a:lstStyle/>
          <a:p>
            <a:r>
              <a:rPr lang="en-IN" dirty="0"/>
              <a:t>Examples </a:t>
            </a:r>
            <a:r>
              <a:rPr lang="en-IN" sz="2000" b="0" dirty="0"/>
              <a:t>(1 of 2)</a:t>
            </a:r>
            <a:endParaRPr lang="en-IN" b="0" dirty="0"/>
          </a:p>
        </p:txBody>
      </p:sp>
      <p:sp>
        <p:nvSpPr>
          <p:cNvPr id="3" name="Content Placeholder 2">
            <a:extLst>
              <a:ext uri="{FF2B5EF4-FFF2-40B4-BE49-F238E27FC236}">
                <a16:creationId xmlns:a16="http://schemas.microsoft.com/office/drawing/2014/main" id="{C8DD9257-673A-4DA7-853F-507DF68F0805}"/>
              </a:ext>
            </a:extLst>
          </p:cNvPr>
          <p:cNvSpPr>
            <a:spLocks noGrp="1"/>
          </p:cNvSpPr>
          <p:nvPr>
            <p:ph sz="quarter" idx="13"/>
          </p:nvPr>
        </p:nvSpPr>
        <p:spPr>
          <a:xfrm>
            <a:off x="457200" y="1552576"/>
            <a:ext cx="8229600" cy="1422854"/>
          </a:xfrm>
        </p:spPr>
        <p:txBody>
          <a:bodyPr/>
          <a:lstStyle/>
          <a:p>
            <a:pPr marL="432" indent="0">
              <a:buNone/>
            </a:pPr>
            <a:r>
              <a:rPr lang="en-IN" dirty="0"/>
              <a:t>Here is a program that checks whether a number is divisible by </a:t>
            </a:r>
            <a:r>
              <a:rPr lang="en-IN" u="sng" dirty="0"/>
              <a:t>2</a:t>
            </a:r>
            <a:r>
              <a:rPr lang="en-IN" dirty="0"/>
              <a:t> and </a:t>
            </a:r>
            <a:r>
              <a:rPr lang="en-IN" u="sng" dirty="0"/>
              <a:t>3</a:t>
            </a:r>
            <a:r>
              <a:rPr lang="en-IN" dirty="0"/>
              <a:t>, whether a number is divisible by </a:t>
            </a:r>
            <a:r>
              <a:rPr lang="en-IN" u="sng" dirty="0"/>
              <a:t>2</a:t>
            </a:r>
            <a:r>
              <a:rPr lang="en-IN" dirty="0"/>
              <a:t> or </a:t>
            </a:r>
            <a:r>
              <a:rPr lang="en-IN" u="sng" dirty="0"/>
              <a:t>3</a:t>
            </a:r>
            <a:r>
              <a:rPr lang="en-IN" dirty="0"/>
              <a:t>, and whether a number is divisible by </a:t>
            </a:r>
            <a:r>
              <a:rPr lang="en-IN" u="sng" dirty="0"/>
              <a:t>2</a:t>
            </a:r>
            <a:r>
              <a:rPr lang="en-IN" dirty="0"/>
              <a:t> or </a:t>
            </a:r>
            <a:r>
              <a:rPr lang="en-IN" u="sng" dirty="0"/>
              <a:t>3</a:t>
            </a:r>
            <a:r>
              <a:rPr lang="en-IN" dirty="0"/>
              <a:t> but not both:</a:t>
            </a:r>
          </a:p>
        </p:txBody>
      </p:sp>
      <p:sp>
        <p:nvSpPr>
          <p:cNvPr id="10" name="Text Placeholder 9">
            <a:extLst>
              <a:ext uri="{FF2B5EF4-FFF2-40B4-BE49-F238E27FC236}">
                <a16:creationId xmlns:a16="http://schemas.microsoft.com/office/drawing/2014/main" id="{59F74CAB-9A37-4D0A-A489-107C97A03FB6}"/>
              </a:ext>
            </a:extLst>
          </p:cNvPr>
          <p:cNvSpPr>
            <a:spLocks noGrp="1"/>
          </p:cNvSpPr>
          <p:nvPr>
            <p:ph type="body" sz="quarter" idx="20"/>
          </p:nvPr>
        </p:nvSpPr>
        <p:spPr>
          <a:xfrm>
            <a:off x="5428343" y="5350669"/>
            <a:ext cx="3258457" cy="561747"/>
          </a:xfrm>
        </p:spPr>
        <p:txBody>
          <a:bodyPr/>
          <a:lstStyle/>
          <a:p>
            <a:pPr marL="432" indent="0" algn="ctr">
              <a:buNone/>
            </a:pPr>
            <a:r>
              <a:rPr lang="en-IN" dirty="0">
                <a:hlinkClick r:id="rId3" tooltip="https://liveexample.pearsoncmg.com/html/SubtractionQuiz.html"/>
              </a:rPr>
              <a:t>TestBooleanOperators</a:t>
            </a:r>
          </a:p>
        </p:txBody>
      </p:sp>
    </p:spTree>
    <p:extLst>
      <p:ext uri="{BB962C8B-B14F-4D97-AF65-F5344CB8AC3E}">
        <p14:creationId xmlns:p14="http://schemas.microsoft.com/office/powerpoint/2010/main" val="1272657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76FE0-E9FD-4621-8A6D-B29AE3EB50DB}"/>
              </a:ext>
            </a:extLst>
          </p:cNvPr>
          <p:cNvSpPr>
            <a:spLocks noGrp="1"/>
          </p:cNvSpPr>
          <p:nvPr>
            <p:ph type="title"/>
          </p:nvPr>
        </p:nvSpPr>
        <p:spPr/>
        <p:txBody>
          <a:bodyPr/>
          <a:lstStyle/>
          <a:p>
            <a:r>
              <a:rPr lang="en-IN" dirty="0"/>
              <a:t>Examples </a:t>
            </a:r>
            <a:r>
              <a:rPr lang="en-IN" sz="2000" b="0" dirty="0"/>
              <a:t>(2 of 2)</a:t>
            </a:r>
            <a:endParaRPr lang="en-IN" b="0" dirty="0"/>
          </a:p>
        </p:txBody>
      </p:sp>
      <p:sp>
        <p:nvSpPr>
          <p:cNvPr id="3" name="Content Placeholder 2">
            <a:extLst>
              <a:ext uri="{FF2B5EF4-FFF2-40B4-BE49-F238E27FC236}">
                <a16:creationId xmlns:a16="http://schemas.microsoft.com/office/drawing/2014/main" id="{C8DD9257-673A-4DA7-853F-507DF68F0805}"/>
              </a:ext>
            </a:extLst>
          </p:cNvPr>
          <p:cNvSpPr>
            <a:spLocks noGrp="1"/>
          </p:cNvSpPr>
          <p:nvPr>
            <p:ph sz="quarter" idx="13"/>
          </p:nvPr>
        </p:nvSpPr>
        <p:spPr>
          <a:xfrm>
            <a:off x="457199" y="1552576"/>
            <a:ext cx="8454572" cy="4078967"/>
          </a:xfrm>
        </p:spPr>
        <p:txBody>
          <a:bodyPr/>
          <a:lstStyle/>
          <a:p>
            <a:pPr marL="432" indent="0">
              <a:spcBef>
                <a:spcPts val="600"/>
              </a:spcBef>
              <a:buNone/>
            </a:pPr>
            <a:r>
              <a:rPr lang="en-IN" dirty="0" err="1"/>
              <a:t>System.out.println</a:t>
            </a:r>
            <a:r>
              <a:rPr lang="en-IN" dirty="0"/>
              <a:t>("Is " + number + " divisible by 2 and 3? " +</a:t>
            </a:r>
          </a:p>
          <a:p>
            <a:pPr marL="180000" indent="0">
              <a:spcBef>
                <a:spcPts val="600"/>
              </a:spcBef>
              <a:buNone/>
            </a:pPr>
            <a:r>
              <a:rPr lang="en-IN" dirty="0"/>
              <a:t>((number % 2 == 0) &amp;&amp; (number % 3 == 0)));</a:t>
            </a:r>
          </a:p>
          <a:p>
            <a:pPr marL="432" indent="0">
              <a:spcBef>
                <a:spcPts val="600"/>
              </a:spcBef>
              <a:buNone/>
            </a:pPr>
            <a:endParaRPr lang="en-IN" dirty="0"/>
          </a:p>
          <a:p>
            <a:pPr marL="432" indent="0">
              <a:spcBef>
                <a:spcPts val="600"/>
              </a:spcBef>
              <a:buNone/>
            </a:pPr>
            <a:r>
              <a:rPr lang="en-IN" dirty="0" err="1"/>
              <a:t>System.out.println</a:t>
            </a:r>
            <a:r>
              <a:rPr lang="en-IN" dirty="0"/>
              <a:t>("Is " + number + " divisible by 2 or 3? " +</a:t>
            </a:r>
          </a:p>
          <a:p>
            <a:pPr marL="180000" indent="0">
              <a:spcBef>
                <a:spcPts val="600"/>
              </a:spcBef>
              <a:buNone/>
            </a:pPr>
            <a:r>
              <a:rPr lang="en-IN" dirty="0"/>
              <a:t>((number % 2 == 0) || (number % 3 == 0)));</a:t>
            </a:r>
          </a:p>
          <a:p>
            <a:pPr marL="432" indent="0">
              <a:spcBef>
                <a:spcPts val="600"/>
              </a:spcBef>
              <a:buNone/>
            </a:pPr>
            <a:endParaRPr lang="en-IN" dirty="0"/>
          </a:p>
          <a:p>
            <a:pPr marL="432" indent="0">
              <a:spcBef>
                <a:spcPts val="600"/>
              </a:spcBef>
              <a:buNone/>
            </a:pPr>
            <a:r>
              <a:rPr lang="en-IN" dirty="0" err="1"/>
              <a:t>System.out.println</a:t>
            </a:r>
            <a:r>
              <a:rPr lang="en-IN" dirty="0"/>
              <a:t>("Is " + number +</a:t>
            </a:r>
          </a:p>
          <a:p>
            <a:pPr marL="432" indent="0">
              <a:spcBef>
                <a:spcPts val="600"/>
              </a:spcBef>
              <a:buNone/>
            </a:pPr>
            <a:r>
              <a:rPr lang="en-IN" dirty="0"/>
              <a:t>" divisible by 2 or 3, but not both? " +</a:t>
            </a:r>
          </a:p>
          <a:p>
            <a:pPr marL="180000" indent="0">
              <a:spcBef>
                <a:spcPts val="600"/>
              </a:spcBef>
              <a:buNone/>
            </a:pPr>
            <a:r>
              <a:rPr lang="en-IN" dirty="0"/>
              <a:t>((number % 2 == 0) ^ (number % 3 == 0)));</a:t>
            </a:r>
          </a:p>
        </p:txBody>
      </p:sp>
      <p:sp>
        <p:nvSpPr>
          <p:cNvPr id="10" name="Text Placeholder 9">
            <a:extLst>
              <a:ext uri="{FF2B5EF4-FFF2-40B4-BE49-F238E27FC236}">
                <a16:creationId xmlns:a16="http://schemas.microsoft.com/office/drawing/2014/main" id="{59F74CAB-9A37-4D0A-A489-107C97A03FB6}"/>
              </a:ext>
            </a:extLst>
          </p:cNvPr>
          <p:cNvSpPr>
            <a:spLocks noGrp="1"/>
          </p:cNvSpPr>
          <p:nvPr>
            <p:ph type="body" sz="quarter" idx="20"/>
          </p:nvPr>
        </p:nvSpPr>
        <p:spPr>
          <a:xfrm>
            <a:off x="5428343" y="5747659"/>
            <a:ext cx="3258457" cy="561747"/>
          </a:xfrm>
        </p:spPr>
        <p:txBody>
          <a:bodyPr/>
          <a:lstStyle/>
          <a:p>
            <a:pPr marL="432" indent="0" algn="ctr">
              <a:buNone/>
            </a:pPr>
            <a:r>
              <a:rPr lang="en-IN" dirty="0">
                <a:hlinkClick r:id="rId2" tooltip="https://liveexample.pearsoncmg.com/html/SubtractionQuiz.html"/>
              </a:rPr>
              <a:t>TestBooleanOperators</a:t>
            </a:r>
          </a:p>
        </p:txBody>
      </p:sp>
    </p:spTree>
    <p:extLst>
      <p:ext uri="{BB962C8B-B14F-4D97-AF65-F5344CB8AC3E}">
        <p14:creationId xmlns:p14="http://schemas.microsoft.com/office/powerpoint/2010/main" val="16052207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2BBE6-B448-4603-9574-9D74158ED1CE}"/>
              </a:ext>
            </a:extLst>
          </p:cNvPr>
          <p:cNvSpPr>
            <a:spLocks noGrp="1"/>
          </p:cNvSpPr>
          <p:nvPr>
            <p:ph type="title"/>
          </p:nvPr>
        </p:nvSpPr>
        <p:spPr/>
        <p:txBody>
          <a:bodyPr/>
          <a:lstStyle/>
          <a:p>
            <a:r>
              <a:rPr lang="en-IN" dirty="0"/>
              <a:t>The &amp; and | Operators </a:t>
            </a:r>
            <a:r>
              <a:rPr lang="en-IN" sz="2000" b="0" dirty="0"/>
              <a:t>(1 of 2)</a:t>
            </a:r>
            <a:endParaRPr lang="en-IN" b="0" dirty="0"/>
          </a:p>
        </p:txBody>
      </p:sp>
      <p:sp>
        <p:nvSpPr>
          <p:cNvPr id="10" name="Content Placeholder 9">
            <a:extLst>
              <a:ext uri="{FF2B5EF4-FFF2-40B4-BE49-F238E27FC236}">
                <a16:creationId xmlns:a16="http://schemas.microsoft.com/office/drawing/2014/main" id="{A0CAB14A-C274-4A40-93DA-F3CBFB2DE9EF}"/>
              </a:ext>
            </a:extLst>
          </p:cNvPr>
          <p:cNvSpPr>
            <a:spLocks noGrp="1"/>
          </p:cNvSpPr>
          <p:nvPr>
            <p:ph sz="quarter" idx="13"/>
          </p:nvPr>
        </p:nvSpPr>
        <p:spPr>
          <a:xfrm>
            <a:off x="457201" y="1554921"/>
            <a:ext cx="6364514" cy="680280"/>
          </a:xfrm>
        </p:spPr>
        <p:txBody>
          <a:bodyPr/>
          <a:lstStyle/>
          <a:p>
            <a:pPr marL="432" indent="0">
              <a:buNone/>
            </a:pPr>
            <a:r>
              <a:rPr lang="en-US" altLang="en-US" dirty="0"/>
              <a:t>Supplement III.B, “The &amp; and | Operators”</a:t>
            </a:r>
          </a:p>
        </p:txBody>
      </p:sp>
    </p:spTree>
    <p:extLst>
      <p:ext uri="{BB962C8B-B14F-4D97-AF65-F5344CB8AC3E}">
        <p14:creationId xmlns:p14="http://schemas.microsoft.com/office/powerpoint/2010/main" val="15718675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FE3E3-B7DD-4253-9DC0-C3019E14BE9D}"/>
              </a:ext>
            </a:extLst>
          </p:cNvPr>
          <p:cNvSpPr>
            <a:spLocks noGrp="1"/>
          </p:cNvSpPr>
          <p:nvPr>
            <p:ph type="title"/>
          </p:nvPr>
        </p:nvSpPr>
        <p:spPr/>
        <p:txBody>
          <a:bodyPr/>
          <a:lstStyle/>
          <a:p>
            <a:r>
              <a:rPr lang="en-IN" dirty="0"/>
              <a:t>The &amp; and | Operators </a:t>
            </a:r>
            <a:r>
              <a:rPr lang="en-IN" sz="2000" b="0" dirty="0"/>
              <a:t>(2 of 2)</a:t>
            </a:r>
            <a:endParaRPr lang="en-IN" b="0" dirty="0"/>
          </a:p>
        </p:txBody>
      </p:sp>
      <p:sp>
        <p:nvSpPr>
          <p:cNvPr id="3" name="Content Placeholder 2">
            <a:extLst>
              <a:ext uri="{FF2B5EF4-FFF2-40B4-BE49-F238E27FC236}">
                <a16:creationId xmlns:a16="http://schemas.microsoft.com/office/drawing/2014/main" id="{E792E171-5EEA-4364-AD16-731A7C0A677D}"/>
              </a:ext>
            </a:extLst>
          </p:cNvPr>
          <p:cNvSpPr>
            <a:spLocks noGrp="1"/>
          </p:cNvSpPr>
          <p:nvPr>
            <p:ph sz="quarter" idx="13"/>
          </p:nvPr>
        </p:nvSpPr>
        <p:spPr/>
        <p:txBody>
          <a:bodyPr/>
          <a:lstStyle/>
          <a:p>
            <a:pPr marL="432" indent="0">
              <a:buNone/>
            </a:pPr>
            <a:r>
              <a:rPr lang="en-IN" b="1" dirty="0">
                <a:latin typeface="Courier New" panose="02070309020205020404" pitchFamily="49" charset="0"/>
                <a:cs typeface="Courier New" panose="02070309020205020404" pitchFamily="49" charset="0"/>
              </a:rPr>
              <a:t>If x is 1, what is x after this expression?</a:t>
            </a:r>
          </a:p>
          <a:p>
            <a:pPr marL="432" indent="0">
              <a:buNone/>
            </a:pPr>
            <a:r>
              <a:rPr lang="en-IN" b="1" dirty="0">
                <a:latin typeface="Courier New" panose="02070309020205020404" pitchFamily="49" charset="0"/>
                <a:cs typeface="Courier New" panose="02070309020205020404" pitchFamily="49" charset="0"/>
              </a:rPr>
              <a:t>(x &gt; 1) &amp; (x++ &lt; 10)</a:t>
            </a:r>
          </a:p>
          <a:p>
            <a:pPr marL="432" indent="0">
              <a:buNone/>
            </a:pPr>
            <a:endParaRPr lang="en-IN" b="1" dirty="0">
              <a:latin typeface="Courier New" panose="02070309020205020404" pitchFamily="49" charset="0"/>
              <a:cs typeface="Courier New" panose="02070309020205020404" pitchFamily="49" charset="0"/>
            </a:endParaRPr>
          </a:p>
          <a:p>
            <a:pPr marL="432" indent="0">
              <a:buNone/>
            </a:pPr>
            <a:r>
              <a:rPr lang="en-IN" b="1" dirty="0">
                <a:latin typeface="Courier New" panose="02070309020205020404" pitchFamily="49" charset="0"/>
                <a:cs typeface="Courier New" panose="02070309020205020404" pitchFamily="49" charset="0"/>
              </a:rPr>
              <a:t>If x is 1, what is x after this expression?</a:t>
            </a:r>
          </a:p>
          <a:p>
            <a:pPr marL="432" indent="0">
              <a:buNone/>
            </a:pPr>
            <a:r>
              <a:rPr lang="en-IN" b="1" dirty="0">
                <a:latin typeface="Courier New" panose="02070309020205020404" pitchFamily="49" charset="0"/>
                <a:cs typeface="Courier New" panose="02070309020205020404" pitchFamily="49" charset="0"/>
              </a:rPr>
              <a:t>(1 &gt; x) &amp;&amp; ( 1 &gt; x++)</a:t>
            </a:r>
          </a:p>
          <a:p>
            <a:pPr marL="432" indent="0">
              <a:buNone/>
            </a:pPr>
            <a:endParaRPr lang="en-IN" b="1" dirty="0">
              <a:latin typeface="Courier New" panose="02070309020205020404" pitchFamily="49" charset="0"/>
              <a:cs typeface="Courier New" panose="02070309020205020404" pitchFamily="49" charset="0"/>
            </a:endParaRPr>
          </a:p>
          <a:p>
            <a:pPr marL="432" indent="0">
              <a:buNone/>
            </a:pPr>
            <a:r>
              <a:rPr lang="en-IN" b="1" dirty="0">
                <a:latin typeface="Courier New" panose="02070309020205020404" pitchFamily="49" charset="0"/>
                <a:cs typeface="Courier New" panose="02070309020205020404" pitchFamily="49" charset="0"/>
              </a:rPr>
              <a:t>How about (1 == x) | (10 &gt; x++)?</a:t>
            </a:r>
          </a:p>
          <a:p>
            <a:pPr marL="432" indent="0">
              <a:buNone/>
            </a:pPr>
            <a:r>
              <a:rPr lang="en-IN" b="1" dirty="0">
                <a:latin typeface="Courier New" panose="02070309020205020404" pitchFamily="49" charset="0"/>
                <a:cs typeface="Courier New" panose="02070309020205020404" pitchFamily="49" charset="0"/>
              </a:rPr>
              <a:t>(1 == x) || (10 &gt; x++)?</a:t>
            </a:r>
          </a:p>
        </p:txBody>
      </p:sp>
    </p:spTree>
    <p:extLst>
      <p:ext uri="{BB962C8B-B14F-4D97-AF65-F5344CB8AC3E}">
        <p14:creationId xmlns:p14="http://schemas.microsoft.com/office/powerpoint/2010/main" val="4169935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76FE0-E9FD-4621-8A6D-B29AE3EB50DB}"/>
              </a:ext>
            </a:extLst>
          </p:cNvPr>
          <p:cNvSpPr>
            <a:spLocks noGrp="1"/>
          </p:cNvSpPr>
          <p:nvPr>
            <p:ph type="title"/>
          </p:nvPr>
        </p:nvSpPr>
        <p:spPr/>
        <p:txBody>
          <a:bodyPr/>
          <a:lstStyle/>
          <a:p>
            <a:r>
              <a:rPr lang="en-IN" dirty="0"/>
              <a:t>Problem: Determining Leap Year?</a:t>
            </a:r>
          </a:p>
        </p:txBody>
      </p:sp>
      <p:sp>
        <p:nvSpPr>
          <p:cNvPr id="3" name="Content Placeholder 2">
            <a:extLst>
              <a:ext uri="{FF2B5EF4-FFF2-40B4-BE49-F238E27FC236}">
                <a16:creationId xmlns:a16="http://schemas.microsoft.com/office/drawing/2014/main" id="{C8DD9257-673A-4DA7-853F-507DF68F0805}"/>
              </a:ext>
            </a:extLst>
          </p:cNvPr>
          <p:cNvSpPr>
            <a:spLocks noGrp="1"/>
          </p:cNvSpPr>
          <p:nvPr>
            <p:ph sz="quarter" idx="13"/>
          </p:nvPr>
        </p:nvSpPr>
        <p:spPr>
          <a:xfrm>
            <a:off x="457199" y="1552576"/>
            <a:ext cx="8130620" cy="2698913"/>
          </a:xfrm>
        </p:spPr>
        <p:txBody>
          <a:bodyPr/>
          <a:lstStyle/>
          <a:p>
            <a:pPr marL="432" indent="0">
              <a:buNone/>
            </a:pPr>
            <a:r>
              <a:rPr lang="en-IN" dirty="0"/>
              <a:t>This program first prompts the user to enter a year as an int value and checks if it is a leap year.</a:t>
            </a:r>
          </a:p>
          <a:p>
            <a:pPr marL="432" indent="0">
              <a:buNone/>
            </a:pPr>
            <a:r>
              <a:rPr lang="en-IN" dirty="0"/>
              <a:t>A year is a leap year if it </a:t>
            </a:r>
            <a:r>
              <a:rPr lang="en-IN" dirty="0">
                <a:solidFill>
                  <a:srgbClr val="9A3A3A"/>
                </a:solidFill>
              </a:rPr>
              <a:t>is divisible by 4 </a:t>
            </a:r>
            <a:r>
              <a:rPr lang="en-IN" dirty="0"/>
              <a:t>but not by 100, or it is divisible by 400.</a:t>
            </a:r>
          </a:p>
          <a:p>
            <a:pPr marL="432" indent="0">
              <a:buNone/>
            </a:pPr>
            <a:r>
              <a:rPr lang="en-IN" dirty="0"/>
              <a:t>(</a:t>
            </a:r>
            <a:r>
              <a:rPr lang="en-IN" dirty="0">
                <a:solidFill>
                  <a:srgbClr val="9A3A3A"/>
                </a:solidFill>
              </a:rPr>
              <a:t>year % 4 == 0 </a:t>
            </a:r>
            <a:r>
              <a:rPr lang="en-IN" dirty="0"/>
              <a:t>&amp;&amp; year % 100 != 0) || (year % 400 == 0)</a:t>
            </a:r>
          </a:p>
        </p:txBody>
      </p:sp>
      <p:sp>
        <p:nvSpPr>
          <p:cNvPr id="10" name="Text Placeholder 9">
            <a:extLst>
              <a:ext uri="{FF2B5EF4-FFF2-40B4-BE49-F238E27FC236}">
                <a16:creationId xmlns:a16="http://schemas.microsoft.com/office/drawing/2014/main" id="{59F74CAB-9A37-4D0A-A489-107C97A03FB6}"/>
              </a:ext>
            </a:extLst>
          </p:cNvPr>
          <p:cNvSpPr>
            <a:spLocks noGrp="1"/>
          </p:cNvSpPr>
          <p:nvPr>
            <p:ph type="body" sz="quarter" idx="20"/>
          </p:nvPr>
        </p:nvSpPr>
        <p:spPr>
          <a:xfrm>
            <a:off x="6908800" y="5747659"/>
            <a:ext cx="1778000" cy="561747"/>
          </a:xfrm>
        </p:spPr>
        <p:txBody>
          <a:bodyPr/>
          <a:lstStyle/>
          <a:p>
            <a:pPr marL="432" indent="0" algn="ctr">
              <a:buNone/>
            </a:pPr>
            <a:r>
              <a:rPr lang="en-IN" dirty="0">
                <a:hlinkClick r:id="rId3" tooltip="https://liveexample.pearsoncmg.com/html/LeapYear.html"/>
              </a:rPr>
              <a:t>LeapYear</a:t>
            </a:r>
          </a:p>
        </p:txBody>
      </p:sp>
    </p:spTree>
    <p:extLst>
      <p:ext uri="{BB962C8B-B14F-4D97-AF65-F5344CB8AC3E}">
        <p14:creationId xmlns:p14="http://schemas.microsoft.com/office/powerpoint/2010/main" val="1795274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0517-CD59-49F4-9A19-3D14920CDED0}"/>
              </a:ext>
            </a:extLst>
          </p:cNvPr>
          <p:cNvSpPr>
            <a:spLocks noGrp="1"/>
          </p:cNvSpPr>
          <p:nvPr>
            <p:ph type="title"/>
          </p:nvPr>
        </p:nvSpPr>
        <p:spPr/>
        <p:txBody>
          <a:bodyPr/>
          <a:lstStyle/>
          <a:p>
            <a:r>
              <a:rPr lang="en-IN" dirty="0">
                <a:latin typeface="Courier New" panose="02070309020205020404" pitchFamily="49" charset="0"/>
                <a:cs typeface="Courier New" panose="02070309020205020404" pitchFamily="49" charset="0"/>
              </a:rPr>
              <a:t>switch</a:t>
            </a:r>
            <a:r>
              <a:rPr lang="en-IN" dirty="0"/>
              <a:t> Statements</a:t>
            </a:r>
          </a:p>
        </p:txBody>
      </p:sp>
      <p:sp>
        <p:nvSpPr>
          <p:cNvPr id="3" name="Content Placeholder 2">
            <a:extLst>
              <a:ext uri="{FF2B5EF4-FFF2-40B4-BE49-F238E27FC236}">
                <a16:creationId xmlns:a16="http://schemas.microsoft.com/office/drawing/2014/main" id="{CC04A575-9324-4FF5-8049-662836CD46CF}"/>
              </a:ext>
            </a:extLst>
          </p:cNvPr>
          <p:cNvSpPr>
            <a:spLocks noGrp="1"/>
          </p:cNvSpPr>
          <p:nvPr>
            <p:ph sz="quarter" idx="13"/>
          </p:nvPr>
        </p:nvSpPr>
        <p:spPr/>
        <p:txBody>
          <a:bodyPr/>
          <a:lstStyle/>
          <a:p>
            <a:pPr marL="432" indent="0">
              <a:spcBef>
                <a:spcPts val="600"/>
              </a:spcBef>
              <a:buNone/>
            </a:pPr>
            <a:r>
              <a:rPr lang="en-IN" sz="1800" b="1" dirty="0">
                <a:latin typeface="Courier New" panose="02070309020205020404" pitchFamily="49" charset="0"/>
                <a:cs typeface="Courier New" panose="02070309020205020404" pitchFamily="49" charset="0"/>
              </a:rPr>
              <a:t>switch (status) {</a:t>
            </a:r>
          </a:p>
          <a:p>
            <a:pPr marL="360000" indent="0">
              <a:spcBef>
                <a:spcPts val="600"/>
              </a:spcBef>
              <a:buNone/>
            </a:pPr>
            <a:r>
              <a:rPr lang="en-IN" sz="1800" b="1" dirty="0">
                <a:latin typeface="Courier New" panose="02070309020205020404" pitchFamily="49" charset="0"/>
                <a:cs typeface="Courier New" panose="02070309020205020404" pitchFamily="49" charset="0"/>
              </a:rPr>
              <a:t>case 0: compute taxes for single filers;</a:t>
            </a:r>
          </a:p>
          <a:p>
            <a:pPr marL="1800000" indent="0">
              <a:spcBef>
                <a:spcPts val="600"/>
              </a:spcBef>
              <a:buNone/>
            </a:pPr>
            <a:r>
              <a:rPr lang="en-IN" sz="1800" b="1" dirty="0">
                <a:latin typeface="Courier New" panose="02070309020205020404" pitchFamily="49" charset="0"/>
                <a:cs typeface="Courier New" panose="02070309020205020404" pitchFamily="49" charset="0"/>
              </a:rPr>
              <a:t>break;</a:t>
            </a:r>
          </a:p>
          <a:p>
            <a:pPr marL="360000" indent="0">
              <a:spcBef>
                <a:spcPts val="600"/>
              </a:spcBef>
              <a:buNone/>
            </a:pPr>
            <a:r>
              <a:rPr lang="en-IN" sz="1800" b="1" dirty="0">
                <a:latin typeface="Courier New" panose="02070309020205020404" pitchFamily="49" charset="0"/>
                <a:cs typeface="Courier New" panose="02070309020205020404" pitchFamily="49" charset="0"/>
              </a:rPr>
              <a:t>case 1: compute taxes for married file jointly;</a:t>
            </a:r>
          </a:p>
          <a:p>
            <a:pPr marL="1800000" indent="0">
              <a:spcBef>
                <a:spcPts val="600"/>
              </a:spcBef>
              <a:buNone/>
            </a:pPr>
            <a:r>
              <a:rPr lang="en-IN" sz="1800" b="1" dirty="0">
                <a:latin typeface="Courier New" panose="02070309020205020404" pitchFamily="49" charset="0"/>
                <a:cs typeface="Courier New" panose="02070309020205020404" pitchFamily="49" charset="0"/>
              </a:rPr>
              <a:t>break;</a:t>
            </a:r>
          </a:p>
          <a:p>
            <a:pPr marL="360000" indent="0">
              <a:spcBef>
                <a:spcPts val="600"/>
              </a:spcBef>
              <a:buNone/>
            </a:pPr>
            <a:r>
              <a:rPr lang="en-IN" sz="1800" b="1" dirty="0">
                <a:latin typeface="Courier New" panose="02070309020205020404" pitchFamily="49" charset="0"/>
                <a:cs typeface="Courier New" panose="02070309020205020404" pitchFamily="49" charset="0"/>
              </a:rPr>
              <a:t>case 2: compute taxes for married file separately;</a:t>
            </a:r>
          </a:p>
          <a:p>
            <a:pPr marL="1800000" indent="0">
              <a:spcBef>
                <a:spcPts val="600"/>
              </a:spcBef>
              <a:buNone/>
            </a:pPr>
            <a:r>
              <a:rPr lang="en-IN" sz="1800" b="1" dirty="0">
                <a:latin typeface="Courier New" panose="02070309020205020404" pitchFamily="49" charset="0"/>
                <a:cs typeface="Courier New" panose="02070309020205020404" pitchFamily="49" charset="0"/>
              </a:rPr>
              <a:t>break;</a:t>
            </a:r>
          </a:p>
          <a:p>
            <a:pPr marL="360000" indent="0">
              <a:spcBef>
                <a:spcPts val="600"/>
              </a:spcBef>
              <a:buNone/>
            </a:pPr>
            <a:r>
              <a:rPr lang="en-IN" sz="1800" b="1" dirty="0">
                <a:latin typeface="Courier New" panose="02070309020205020404" pitchFamily="49" charset="0"/>
                <a:cs typeface="Courier New" panose="02070309020205020404" pitchFamily="49" charset="0"/>
              </a:rPr>
              <a:t>case 3: compute taxes for head of household;</a:t>
            </a:r>
          </a:p>
          <a:p>
            <a:pPr marL="1800000" indent="0">
              <a:spcBef>
                <a:spcPts val="600"/>
              </a:spcBef>
              <a:buNone/>
            </a:pPr>
            <a:r>
              <a:rPr lang="en-IN" sz="1800" b="1" dirty="0">
                <a:latin typeface="Courier New" panose="02070309020205020404" pitchFamily="49" charset="0"/>
                <a:cs typeface="Courier New" panose="02070309020205020404" pitchFamily="49" charset="0"/>
              </a:rPr>
              <a:t>break;</a:t>
            </a:r>
          </a:p>
          <a:p>
            <a:pPr marL="360000" indent="0">
              <a:spcBef>
                <a:spcPts val="600"/>
              </a:spcBef>
              <a:buNone/>
            </a:pPr>
            <a:r>
              <a:rPr lang="en-IN" sz="1800" b="1" dirty="0">
                <a:latin typeface="Courier New" panose="02070309020205020404" pitchFamily="49" charset="0"/>
                <a:cs typeface="Courier New" panose="02070309020205020404" pitchFamily="49" charset="0"/>
              </a:rPr>
              <a:t>default: </a:t>
            </a:r>
            <a:r>
              <a:rPr lang="en-IN" sz="1800" b="1" dirty="0" err="1">
                <a:latin typeface="Courier New" panose="02070309020205020404" pitchFamily="49" charset="0"/>
                <a:cs typeface="Courier New" panose="02070309020205020404" pitchFamily="49" charset="0"/>
              </a:rPr>
              <a:t>System.out.println</a:t>
            </a:r>
            <a:r>
              <a:rPr lang="en-IN" sz="1800" b="1" dirty="0">
                <a:latin typeface="Courier New" panose="02070309020205020404" pitchFamily="49" charset="0"/>
                <a:cs typeface="Courier New" panose="02070309020205020404" pitchFamily="49" charset="0"/>
              </a:rPr>
              <a:t>("Errors: invalid status");</a:t>
            </a:r>
          </a:p>
          <a:p>
            <a:pPr marL="1800000" indent="0">
              <a:spcBef>
                <a:spcPts val="600"/>
              </a:spcBef>
              <a:buNone/>
            </a:pPr>
            <a:r>
              <a:rPr lang="en-IN" sz="1800" b="1" dirty="0" err="1">
                <a:latin typeface="Courier New" panose="02070309020205020404" pitchFamily="49" charset="0"/>
                <a:cs typeface="Courier New" panose="02070309020205020404" pitchFamily="49" charset="0"/>
              </a:rPr>
              <a:t>System.exit</a:t>
            </a:r>
            <a:r>
              <a:rPr lang="en-IN" sz="1800" b="1" dirty="0">
                <a:latin typeface="Courier New" panose="02070309020205020404" pitchFamily="49" charset="0"/>
                <a:cs typeface="Courier New" panose="02070309020205020404" pitchFamily="49" charset="0"/>
              </a:rPr>
              <a:t>(1);</a:t>
            </a:r>
          </a:p>
          <a:p>
            <a:pPr marL="432" indent="0">
              <a:spcBef>
                <a:spcPts val="600"/>
              </a:spcBef>
              <a:buNone/>
            </a:pPr>
            <a:r>
              <a:rPr lang="en-IN" sz="18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265689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2DEC3-DC42-477A-9276-5D27E9E4F668}"/>
              </a:ext>
            </a:extLst>
          </p:cNvPr>
          <p:cNvSpPr>
            <a:spLocks noGrp="1"/>
          </p:cNvSpPr>
          <p:nvPr>
            <p:ph type="title"/>
          </p:nvPr>
        </p:nvSpPr>
        <p:spPr/>
        <p:txBody>
          <a:bodyPr/>
          <a:lstStyle/>
          <a:p>
            <a:r>
              <a:rPr lang="en-IN" dirty="0">
                <a:latin typeface="Courier New" panose="02070309020205020404" pitchFamily="49" charset="0"/>
                <a:cs typeface="Courier New" panose="02070309020205020404" pitchFamily="49" charset="0"/>
              </a:rPr>
              <a:t>switch</a:t>
            </a:r>
            <a:r>
              <a:rPr lang="en-IN" dirty="0"/>
              <a:t> Statement Flow Chart</a:t>
            </a:r>
          </a:p>
        </p:txBody>
      </p:sp>
      <p:pic>
        <p:nvPicPr>
          <p:cNvPr id="4" name="Content Placeholder 3" descr="A flow chart shows Switch statement. For long description in Notes pane, press F6.">
            <a:extLst>
              <a:ext uri="{FF2B5EF4-FFF2-40B4-BE49-F238E27FC236}">
                <a16:creationId xmlns:a16="http://schemas.microsoft.com/office/drawing/2014/main" id="{3EDA1407-13B8-485C-90D3-8753A0111537}"/>
              </a:ext>
            </a:extLst>
          </p:cNvPr>
          <p:cNvPicPr>
            <a:picLocks noGrp="1" noChangeAspect="1"/>
          </p:cNvPicPr>
          <p:nvPr>
            <p:ph sz="quarter" idx="13"/>
          </p:nvPr>
        </p:nvPicPr>
        <p:blipFill>
          <a:blip r:embed="rId3"/>
          <a:stretch>
            <a:fillRect/>
          </a:stretch>
        </p:blipFill>
        <p:spPr>
          <a:xfrm>
            <a:off x="1051572" y="1554163"/>
            <a:ext cx="7044030" cy="4664075"/>
          </a:xfrm>
          <a:prstGeom prst="rect">
            <a:avLst/>
          </a:prstGeom>
        </p:spPr>
      </p:pic>
    </p:spTree>
    <p:extLst>
      <p:ext uri="{BB962C8B-B14F-4D97-AF65-F5344CB8AC3E}">
        <p14:creationId xmlns:p14="http://schemas.microsoft.com/office/powerpoint/2010/main" val="11079355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69511-6042-458A-A9E6-CED0D7697D40}"/>
              </a:ext>
            </a:extLst>
          </p:cNvPr>
          <p:cNvSpPr>
            <a:spLocks noGrp="1"/>
          </p:cNvSpPr>
          <p:nvPr>
            <p:ph type="title"/>
          </p:nvPr>
        </p:nvSpPr>
        <p:spPr/>
        <p:txBody>
          <a:bodyPr/>
          <a:lstStyle/>
          <a:p>
            <a:r>
              <a:rPr lang="en-IN" dirty="0">
                <a:latin typeface="Courier New" panose="02070309020205020404" pitchFamily="49" charset="0"/>
                <a:cs typeface="Courier New" panose="02070309020205020404" pitchFamily="49" charset="0"/>
              </a:rPr>
              <a:t>switch</a:t>
            </a:r>
            <a:r>
              <a:rPr lang="en-IN" dirty="0"/>
              <a:t> Statement Rules </a:t>
            </a:r>
            <a:r>
              <a:rPr lang="en-IN" sz="2000" b="0" dirty="0"/>
              <a:t>(1 of 2)</a:t>
            </a:r>
            <a:endParaRPr lang="en-IN" b="0" dirty="0"/>
          </a:p>
        </p:txBody>
      </p:sp>
      <p:pic>
        <p:nvPicPr>
          <p:cNvPr id="7" name="Content Placeholder 6" descr="The switch-expression must yield a value of char, byte, short, or int type and must always be enclosed in parentheses. For long description in Notes pane, press F6.">
            <a:extLst>
              <a:ext uri="{FF2B5EF4-FFF2-40B4-BE49-F238E27FC236}">
                <a16:creationId xmlns:a16="http://schemas.microsoft.com/office/drawing/2014/main" id="{57D65AAC-3A15-4EEC-83A2-BE2BD5E930C1}"/>
              </a:ext>
            </a:extLst>
          </p:cNvPr>
          <p:cNvPicPr>
            <a:picLocks noGrp="1" noChangeAspect="1"/>
          </p:cNvPicPr>
          <p:nvPr>
            <p:ph sz="quarter" idx="13"/>
          </p:nvPr>
        </p:nvPicPr>
        <p:blipFill rotWithShape="1">
          <a:blip r:embed="rId3"/>
          <a:srcRect b="6978"/>
          <a:stretch/>
        </p:blipFill>
        <p:spPr>
          <a:xfrm>
            <a:off x="1327723" y="1577252"/>
            <a:ext cx="6585999" cy="4295647"/>
          </a:xfrm>
        </p:spPr>
      </p:pic>
    </p:spTree>
    <p:extLst>
      <p:ext uri="{BB962C8B-B14F-4D97-AF65-F5344CB8AC3E}">
        <p14:creationId xmlns:p14="http://schemas.microsoft.com/office/powerpoint/2010/main" val="78074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3B1E1-15A5-49F3-B386-01AF4DB5B52F}"/>
              </a:ext>
            </a:extLst>
          </p:cNvPr>
          <p:cNvSpPr>
            <a:spLocks noGrp="1"/>
          </p:cNvSpPr>
          <p:nvPr>
            <p:ph type="title"/>
          </p:nvPr>
        </p:nvSpPr>
        <p:spPr/>
        <p:txBody>
          <a:bodyPr/>
          <a:lstStyle/>
          <a:p>
            <a:r>
              <a:rPr lang="en-IN" dirty="0">
                <a:latin typeface="Courier New" panose="02070309020205020404" pitchFamily="49" charset="0"/>
                <a:cs typeface="Courier New" panose="02070309020205020404" pitchFamily="49" charset="0"/>
              </a:rPr>
              <a:t>switch</a:t>
            </a:r>
            <a:r>
              <a:rPr lang="en-IN" dirty="0"/>
              <a:t> Statement Rules </a:t>
            </a:r>
            <a:r>
              <a:rPr lang="en-IN" sz="2000" b="0" dirty="0"/>
              <a:t>(2 of 2)</a:t>
            </a:r>
            <a:endParaRPr lang="en-IN" b="0" dirty="0"/>
          </a:p>
        </p:txBody>
      </p:sp>
      <p:pic>
        <p:nvPicPr>
          <p:cNvPr id="4" name="Content Placeholder 3" descr="A case of switch statement rules. For long description in Notes pane, press F6.">
            <a:extLst>
              <a:ext uri="{FF2B5EF4-FFF2-40B4-BE49-F238E27FC236}">
                <a16:creationId xmlns:a16="http://schemas.microsoft.com/office/drawing/2014/main" id="{C1B21B3E-8D24-47BA-B00E-CFA3049CF15A}"/>
              </a:ext>
            </a:extLst>
          </p:cNvPr>
          <p:cNvPicPr>
            <a:picLocks noGrp="1" noChangeAspect="1"/>
          </p:cNvPicPr>
          <p:nvPr>
            <p:ph sz="quarter" idx="13"/>
          </p:nvPr>
        </p:nvPicPr>
        <p:blipFill>
          <a:blip r:embed="rId3"/>
          <a:stretch>
            <a:fillRect/>
          </a:stretch>
        </p:blipFill>
        <p:spPr>
          <a:xfrm>
            <a:off x="729242" y="1554163"/>
            <a:ext cx="7688690" cy="4664075"/>
          </a:xfrm>
          <a:prstGeom prst="rect">
            <a:avLst/>
          </a:prstGeom>
        </p:spPr>
      </p:pic>
    </p:spTree>
    <p:extLst>
      <p:ext uri="{BB962C8B-B14F-4D97-AF65-F5344CB8AC3E}">
        <p14:creationId xmlns:p14="http://schemas.microsoft.com/office/powerpoint/2010/main" val="37759982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30B8-86E4-4A15-9BF1-775A3FEA7B6F}"/>
              </a:ext>
            </a:extLst>
          </p:cNvPr>
          <p:cNvSpPr>
            <a:spLocks noGrp="1"/>
          </p:cNvSpPr>
          <p:nvPr>
            <p:ph type="title"/>
          </p:nvPr>
        </p:nvSpPr>
        <p:spPr/>
        <p:txBody>
          <a:bodyPr/>
          <a:lstStyle/>
          <a:p>
            <a:r>
              <a:rPr lang="en-IN" dirty="0"/>
              <a:t>Trace switch Statement </a:t>
            </a:r>
            <a:r>
              <a:rPr lang="en-IN" sz="2000" b="0" dirty="0"/>
              <a:t>(1 of 7)</a:t>
            </a:r>
            <a:endParaRPr lang="en-IN" b="0" dirty="0"/>
          </a:p>
        </p:txBody>
      </p:sp>
      <p:pic>
        <p:nvPicPr>
          <p:cNvPr id="7" name="Content Placeholder 6" descr="An arrow labeled, Suppose day is 2, points to day in Switch day.">
            <a:extLst>
              <a:ext uri="{FF2B5EF4-FFF2-40B4-BE49-F238E27FC236}">
                <a16:creationId xmlns:a16="http://schemas.microsoft.com/office/drawing/2014/main" id="{5AB27776-DF31-4802-B11B-274D03D5CE56}"/>
              </a:ext>
            </a:extLst>
          </p:cNvPr>
          <p:cNvPicPr>
            <a:picLocks noGrp="1" noChangeAspect="1"/>
          </p:cNvPicPr>
          <p:nvPr>
            <p:ph sz="quarter" idx="13"/>
          </p:nvPr>
        </p:nvPicPr>
        <p:blipFill>
          <a:blip r:embed="rId2"/>
          <a:stretch>
            <a:fillRect/>
          </a:stretch>
        </p:blipFill>
        <p:spPr>
          <a:xfrm>
            <a:off x="461756" y="1603214"/>
            <a:ext cx="8223662" cy="4565973"/>
          </a:xfrm>
        </p:spPr>
      </p:pic>
    </p:spTree>
    <p:extLst>
      <p:ext uri="{BB962C8B-B14F-4D97-AF65-F5344CB8AC3E}">
        <p14:creationId xmlns:p14="http://schemas.microsoft.com/office/powerpoint/2010/main" val="2865586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30B8-86E4-4A15-9BF1-775A3FEA7B6F}"/>
              </a:ext>
            </a:extLst>
          </p:cNvPr>
          <p:cNvSpPr>
            <a:spLocks noGrp="1"/>
          </p:cNvSpPr>
          <p:nvPr>
            <p:ph type="title"/>
          </p:nvPr>
        </p:nvSpPr>
        <p:spPr/>
        <p:txBody>
          <a:bodyPr/>
          <a:lstStyle/>
          <a:p>
            <a:r>
              <a:rPr lang="en-IN" dirty="0"/>
              <a:t>Trace switch Statement </a:t>
            </a:r>
            <a:r>
              <a:rPr lang="en-IN" sz="2000" b="0" dirty="0"/>
              <a:t>(2 of 7)</a:t>
            </a:r>
            <a:endParaRPr lang="en-IN" b="0" dirty="0"/>
          </a:p>
        </p:txBody>
      </p:sp>
      <p:pic>
        <p:nvPicPr>
          <p:cNvPr id="5" name="Content Placeholder 4" descr="An arrow labeled, Match case 2, points to case 2.">
            <a:extLst>
              <a:ext uri="{FF2B5EF4-FFF2-40B4-BE49-F238E27FC236}">
                <a16:creationId xmlns:a16="http://schemas.microsoft.com/office/drawing/2014/main" id="{C15F6765-13E0-4931-8C9B-A664B0EEED94}"/>
              </a:ext>
            </a:extLst>
          </p:cNvPr>
          <p:cNvPicPr>
            <a:picLocks noGrp="1" noChangeAspect="1"/>
          </p:cNvPicPr>
          <p:nvPr>
            <p:ph sz="quarter" idx="13"/>
          </p:nvPr>
        </p:nvPicPr>
        <p:blipFill>
          <a:blip r:embed="rId2"/>
          <a:stretch>
            <a:fillRect/>
          </a:stretch>
        </p:blipFill>
        <p:spPr>
          <a:xfrm>
            <a:off x="457200" y="1603640"/>
            <a:ext cx="8232775" cy="4565121"/>
          </a:xfrm>
          <a:prstGeom prst="rect">
            <a:avLst/>
          </a:prstGeom>
        </p:spPr>
      </p:pic>
    </p:spTree>
    <p:extLst>
      <p:ext uri="{BB962C8B-B14F-4D97-AF65-F5344CB8AC3E}">
        <p14:creationId xmlns:p14="http://schemas.microsoft.com/office/powerpoint/2010/main" val="16223637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30B8-86E4-4A15-9BF1-775A3FEA7B6F}"/>
              </a:ext>
            </a:extLst>
          </p:cNvPr>
          <p:cNvSpPr>
            <a:spLocks noGrp="1"/>
          </p:cNvSpPr>
          <p:nvPr>
            <p:ph type="title"/>
          </p:nvPr>
        </p:nvSpPr>
        <p:spPr/>
        <p:txBody>
          <a:bodyPr/>
          <a:lstStyle/>
          <a:p>
            <a:r>
              <a:rPr lang="en-IN" dirty="0"/>
              <a:t>Trace switch Statement </a:t>
            </a:r>
            <a:r>
              <a:rPr lang="en-IN" sz="2000" b="0" dirty="0"/>
              <a:t>(3 of 7)</a:t>
            </a:r>
            <a:endParaRPr lang="en-IN" b="0" dirty="0"/>
          </a:p>
        </p:txBody>
      </p:sp>
      <p:pic>
        <p:nvPicPr>
          <p:cNvPr id="6" name="Content Placeholder 5" descr="An arrow labeled, Fall through case 3, points to case 3.">
            <a:extLst>
              <a:ext uri="{FF2B5EF4-FFF2-40B4-BE49-F238E27FC236}">
                <a16:creationId xmlns:a16="http://schemas.microsoft.com/office/drawing/2014/main" id="{D3600F87-CCC1-41FD-8605-E63F4B233DE2}"/>
              </a:ext>
            </a:extLst>
          </p:cNvPr>
          <p:cNvPicPr>
            <a:picLocks noGrp="1" noChangeAspect="1"/>
          </p:cNvPicPr>
          <p:nvPr>
            <p:ph sz="quarter" idx="13"/>
          </p:nvPr>
        </p:nvPicPr>
        <p:blipFill>
          <a:blip r:embed="rId2"/>
          <a:stretch>
            <a:fillRect/>
          </a:stretch>
        </p:blipFill>
        <p:spPr>
          <a:xfrm>
            <a:off x="457200" y="1603640"/>
            <a:ext cx="8232775" cy="4565121"/>
          </a:xfrm>
          <a:prstGeom prst="rect">
            <a:avLst/>
          </a:prstGeom>
        </p:spPr>
      </p:pic>
    </p:spTree>
    <p:extLst>
      <p:ext uri="{BB962C8B-B14F-4D97-AF65-F5344CB8AC3E}">
        <p14:creationId xmlns:p14="http://schemas.microsoft.com/office/powerpoint/2010/main" val="37173294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30B8-86E4-4A15-9BF1-775A3FEA7B6F}"/>
              </a:ext>
            </a:extLst>
          </p:cNvPr>
          <p:cNvSpPr>
            <a:spLocks noGrp="1"/>
          </p:cNvSpPr>
          <p:nvPr>
            <p:ph type="title"/>
          </p:nvPr>
        </p:nvSpPr>
        <p:spPr/>
        <p:txBody>
          <a:bodyPr/>
          <a:lstStyle/>
          <a:p>
            <a:r>
              <a:rPr lang="en-IN" dirty="0"/>
              <a:t>Trace switch Statement </a:t>
            </a:r>
            <a:r>
              <a:rPr lang="en-IN" sz="2000" b="0" dirty="0"/>
              <a:t>(4 of 7)</a:t>
            </a:r>
            <a:endParaRPr lang="en-IN" b="0" dirty="0"/>
          </a:p>
        </p:txBody>
      </p:sp>
      <p:pic>
        <p:nvPicPr>
          <p:cNvPr id="5" name="Content Placeholder 4" descr="An arrow labeled, Fall through case 4, points to case 4.">
            <a:extLst>
              <a:ext uri="{FF2B5EF4-FFF2-40B4-BE49-F238E27FC236}">
                <a16:creationId xmlns:a16="http://schemas.microsoft.com/office/drawing/2014/main" id="{2CD7CB27-30E2-453A-8D29-F01A607109F6}"/>
              </a:ext>
            </a:extLst>
          </p:cNvPr>
          <p:cNvPicPr>
            <a:picLocks noGrp="1" noChangeAspect="1"/>
          </p:cNvPicPr>
          <p:nvPr>
            <p:ph sz="quarter" idx="13"/>
          </p:nvPr>
        </p:nvPicPr>
        <p:blipFill>
          <a:blip r:embed="rId2"/>
          <a:stretch>
            <a:fillRect/>
          </a:stretch>
        </p:blipFill>
        <p:spPr>
          <a:xfrm>
            <a:off x="457200" y="1613800"/>
            <a:ext cx="8232775" cy="4565121"/>
          </a:xfrm>
          <a:prstGeom prst="rect">
            <a:avLst/>
          </a:prstGeom>
        </p:spPr>
      </p:pic>
    </p:spTree>
    <p:extLst>
      <p:ext uri="{BB962C8B-B14F-4D97-AF65-F5344CB8AC3E}">
        <p14:creationId xmlns:p14="http://schemas.microsoft.com/office/powerpoint/2010/main" val="28993591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30B8-86E4-4A15-9BF1-775A3FEA7B6F}"/>
              </a:ext>
            </a:extLst>
          </p:cNvPr>
          <p:cNvSpPr>
            <a:spLocks noGrp="1"/>
          </p:cNvSpPr>
          <p:nvPr>
            <p:ph type="title"/>
          </p:nvPr>
        </p:nvSpPr>
        <p:spPr/>
        <p:txBody>
          <a:bodyPr/>
          <a:lstStyle/>
          <a:p>
            <a:r>
              <a:rPr lang="en-IN" dirty="0"/>
              <a:t>Trace switch Statement </a:t>
            </a:r>
            <a:r>
              <a:rPr lang="en-IN" sz="2000" b="0" dirty="0"/>
              <a:t>(5 of 7)</a:t>
            </a:r>
            <a:endParaRPr lang="en-IN" b="0" dirty="0"/>
          </a:p>
        </p:txBody>
      </p:sp>
      <p:pic>
        <p:nvPicPr>
          <p:cNvPr id="6" name="Content Placeholder 5" descr="An arrow labeled, Fall through case 5, points to case 5.">
            <a:extLst>
              <a:ext uri="{FF2B5EF4-FFF2-40B4-BE49-F238E27FC236}">
                <a16:creationId xmlns:a16="http://schemas.microsoft.com/office/drawing/2014/main" id="{C01E36BA-F01B-4464-B03E-6E300C89690B}"/>
              </a:ext>
            </a:extLst>
          </p:cNvPr>
          <p:cNvPicPr>
            <a:picLocks noGrp="1" noChangeAspect="1"/>
          </p:cNvPicPr>
          <p:nvPr>
            <p:ph sz="quarter" idx="13"/>
          </p:nvPr>
        </p:nvPicPr>
        <p:blipFill>
          <a:blip r:embed="rId2"/>
          <a:stretch>
            <a:fillRect/>
          </a:stretch>
        </p:blipFill>
        <p:spPr>
          <a:xfrm>
            <a:off x="457200" y="1603640"/>
            <a:ext cx="8232775" cy="4565121"/>
          </a:xfrm>
          <a:prstGeom prst="rect">
            <a:avLst/>
          </a:prstGeom>
        </p:spPr>
      </p:pic>
    </p:spTree>
    <p:extLst>
      <p:ext uri="{BB962C8B-B14F-4D97-AF65-F5344CB8AC3E}">
        <p14:creationId xmlns:p14="http://schemas.microsoft.com/office/powerpoint/2010/main" val="11443799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30B8-86E4-4A15-9BF1-775A3FEA7B6F}"/>
              </a:ext>
            </a:extLst>
          </p:cNvPr>
          <p:cNvSpPr>
            <a:spLocks noGrp="1"/>
          </p:cNvSpPr>
          <p:nvPr>
            <p:ph type="title"/>
          </p:nvPr>
        </p:nvSpPr>
        <p:spPr/>
        <p:txBody>
          <a:bodyPr/>
          <a:lstStyle/>
          <a:p>
            <a:r>
              <a:rPr lang="en-IN" dirty="0"/>
              <a:t>Trace switch Statement </a:t>
            </a:r>
            <a:r>
              <a:rPr lang="en-IN" sz="2000" b="0" dirty="0"/>
              <a:t>(6 of 7)</a:t>
            </a:r>
            <a:endParaRPr lang="en-IN" b="0" dirty="0"/>
          </a:p>
        </p:txBody>
      </p:sp>
      <p:pic>
        <p:nvPicPr>
          <p:cNvPr id="6" name="Content Placeholder 5" descr="An arrow labeled, Encounter break, points to break, after case 5.">
            <a:extLst>
              <a:ext uri="{FF2B5EF4-FFF2-40B4-BE49-F238E27FC236}">
                <a16:creationId xmlns:a16="http://schemas.microsoft.com/office/drawing/2014/main" id="{C430DEB7-73D6-4065-89A3-CCB161F853F9}"/>
              </a:ext>
            </a:extLst>
          </p:cNvPr>
          <p:cNvPicPr>
            <a:picLocks noGrp="1" noChangeAspect="1"/>
          </p:cNvPicPr>
          <p:nvPr>
            <p:ph sz="quarter" idx="13"/>
          </p:nvPr>
        </p:nvPicPr>
        <p:blipFill>
          <a:blip r:embed="rId2"/>
          <a:stretch>
            <a:fillRect/>
          </a:stretch>
        </p:blipFill>
        <p:spPr>
          <a:xfrm>
            <a:off x="457200" y="1603640"/>
            <a:ext cx="8232775" cy="4565121"/>
          </a:xfrm>
          <a:prstGeom prst="rect">
            <a:avLst/>
          </a:prstGeom>
        </p:spPr>
      </p:pic>
    </p:spTree>
    <p:extLst>
      <p:ext uri="{BB962C8B-B14F-4D97-AF65-F5344CB8AC3E}">
        <p14:creationId xmlns:p14="http://schemas.microsoft.com/office/powerpoint/2010/main" val="2008812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C30B8-86E4-4A15-9BF1-775A3FEA7B6F}"/>
              </a:ext>
            </a:extLst>
          </p:cNvPr>
          <p:cNvSpPr>
            <a:spLocks noGrp="1"/>
          </p:cNvSpPr>
          <p:nvPr>
            <p:ph type="title"/>
          </p:nvPr>
        </p:nvSpPr>
        <p:spPr/>
        <p:txBody>
          <a:bodyPr/>
          <a:lstStyle/>
          <a:p>
            <a:r>
              <a:rPr lang="en-IN" dirty="0"/>
              <a:t>Trace switch Statement </a:t>
            </a:r>
            <a:r>
              <a:rPr lang="en-IN" sz="2000" b="0" dirty="0"/>
              <a:t>(7 of 7)</a:t>
            </a:r>
            <a:endParaRPr lang="en-IN" b="0" dirty="0"/>
          </a:p>
        </p:txBody>
      </p:sp>
      <p:pic>
        <p:nvPicPr>
          <p:cNvPr id="9" name="Content Placeholder 8" descr="An arrow labeled, Exit the statement, points to the space after case 6.">
            <a:extLst>
              <a:ext uri="{FF2B5EF4-FFF2-40B4-BE49-F238E27FC236}">
                <a16:creationId xmlns:a16="http://schemas.microsoft.com/office/drawing/2014/main" id="{6D510198-A44A-436A-8563-BF99343EAACD}"/>
              </a:ext>
            </a:extLst>
          </p:cNvPr>
          <p:cNvPicPr>
            <a:picLocks noGrp="1" noChangeAspect="1"/>
          </p:cNvPicPr>
          <p:nvPr>
            <p:ph sz="quarter" idx="13"/>
          </p:nvPr>
        </p:nvPicPr>
        <p:blipFill>
          <a:blip r:embed="rId2"/>
          <a:stretch>
            <a:fillRect/>
          </a:stretch>
        </p:blipFill>
        <p:spPr>
          <a:xfrm>
            <a:off x="457200" y="1603640"/>
            <a:ext cx="8232775" cy="4565121"/>
          </a:xfrm>
          <a:prstGeom prst="rect">
            <a:avLst/>
          </a:prstGeom>
        </p:spPr>
      </p:pic>
    </p:spTree>
    <p:extLst>
      <p:ext uri="{BB962C8B-B14F-4D97-AF65-F5344CB8AC3E}">
        <p14:creationId xmlns:p14="http://schemas.microsoft.com/office/powerpoint/2010/main" val="2312425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6A8DC-5400-4592-9805-42C3311EA75B}"/>
              </a:ext>
            </a:extLst>
          </p:cNvPr>
          <p:cNvSpPr>
            <a:spLocks noGrp="1"/>
          </p:cNvSpPr>
          <p:nvPr>
            <p:ph type="title"/>
          </p:nvPr>
        </p:nvSpPr>
        <p:spPr/>
        <p:txBody>
          <a:bodyPr/>
          <a:lstStyle/>
          <a:p>
            <a:r>
              <a:rPr lang="en-IN" dirty="0"/>
              <a:t>Conditional Operators</a:t>
            </a:r>
          </a:p>
        </p:txBody>
      </p:sp>
      <p:sp>
        <p:nvSpPr>
          <p:cNvPr id="4" name="Content Placeholder 3">
            <a:extLst>
              <a:ext uri="{FF2B5EF4-FFF2-40B4-BE49-F238E27FC236}">
                <a16:creationId xmlns:a16="http://schemas.microsoft.com/office/drawing/2014/main" id="{8E32E4E0-6FBA-44C5-A680-76A81CDA8CF8}"/>
              </a:ext>
            </a:extLst>
          </p:cNvPr>
          <p:cNvSpPr>
            <a:spLocks noGrp="1"/>
          </p:cNvSpPr>
          <p:nvPr>
            <p:ph sz="quarter" idx="13"/>
          </p:nvPr>
        </p:nvSpPr>
        <p:spPr>
          <a:xfrm>
            <a:off x="457200" y="1552575"/>
            <a:ext cx="8229600" cy="1541146"/>
          </a:xfrm>
        </p:spPr>
        <p:txBody>
          <a:bodyPr/>
          <a:lstStyle/>
          <a:p>
            <a:pPr marL="432" indent="0">
              <a:spcBef>
                <a:spcPts val="600"/>
              </a:spcBef>
              <a:buNone/>
            </a:pPr>
            <a:r>
              <a:rPr lang="en-IN" sz="1800" dirty="0"/>
              <a:t>if (x &gt; 0)</a:t>
            </a:r>
          </a:p>
          <a:p>
            <a:pPr marL="0" indent="182563">
              <a:spcBef>
                <a:spcPts val="600"/>
              </a:spcBef>
              <a:buNone/>
            </a:pPr>
            <a:r>
              <a:rPr lang="en-IN" sz="1800" dirty="0"/>
              <a:t>y = 1</a:t>
            </a:r>
          </a:p>
          <a:p>
            <a:pPr marL="432" indent="0">
              <a:spcBef>
                <a:spcPts val="600"/>
              </a:spcBef>
              <a:buNone/>
            </a:pPr>
            <a:r>
              <a:rPr lang="en-IN" sz="1800" dirty="0"/>
              <a:t>else</a:t>
            </a:r>
          </a:p>
          <a:p>
            <a:pPr marL="0" indent="92075">
              <a:spcBef>
                <a:spcPts val="600"/>
              </a:spcBef>
              <a:buNone/>
            </a:pPr>
            <a:r>
              <a:rPr lang="en-US" altLang="en-US" sz="1800" dirty="0"/>
              <a:t>y = -1;</a:t>
            </a:r>
          </a:p>
        </p:txBody>
      </p:sp>
      <p:sp>
        <p:nvSpPr>
          <p:cNvPr id="5" name="Content Placeholder 4">
            <a:extLst>
              <a:ext uri="{FF2B5EF4-FFF2-40B4-BE49-F238E27FC236}">
                <a16:creationId xmlns:a16="http://schemas.microsoft.com/office/drawing/2014/main" id="{371079ED-EDD8-4ADC-9E4D-6D6AEE62E20F}"/>
              </a:ext>
            </a:extLst>
          </p:cNvPr>
          <p:cNvSpPr>
            <a:spLocks noGrp="1"/>
          </p:cNvSpPr>
          <p:nvPr>
            <p:ph sz="quarter" idx="14"/>
          </p:nvPr>
        </p:nvSpPr>
        <p:spPr>
          <a:xfrm>
            <a:off x="457200" y="3345997"/>
            <a:ext cx="1899501" cy="481285"/>
          </a:xfrm>
        </p:spPr>
        <p:txBody>
          <a:bodyPr rIns="0"/>
          <a:lstStyle/>
          <a:p>
            <a:pPr marL="432" indent="0">
              <a:spcBef>
                <a:spcPts val="600"/>
              </a:spcBef>
              <a:buNone/>
            </a:pPr>
            <a:r>
              <a:rPr lang="en-IN" sz="1800" dirty="0"/>
              <a:t>is equivalent to</a:t>
            </a:r>
          </a:p>
        </p:txBody>
      </p:sp>
      <p:sp>
        <p:nvSpPr>
          <p:cNvPr id="6" name="Content Placeholder 5">
            <a:extLst>
              <a:ext uri="{FF2B5EF4-FFF2-40B4-BE49-F238E27FC236}">
                <a16:creationId xmlns:a16="http://schemas.microsoft.com/office/drawing/2014/main" id="{17379198-33F2-468F-B255-88C2D62187DC}"/>
              </a:ext>
            </a:extLst>
          </p:cNvPr>
          <p:cNvSpPr>
            <a:spLocks noGrp="1"/>
          </p:cNvSpPr>
          <p:nvPr>
            <p:ph sz="quarter" idx="15"/>
          </p:nvPr>
        </p:nvSpPr>
        <p:spPr>
          <a:xfrm>
            <a:off x="457202" y="3923030"/>
            <a:ext cx="7121950" cy="2421209"/>
          </a:xfrm>
        </p:spPr>
        <p:txBody>
          <a:bodyPr/>
          <a:lstStyle/>
          <a:p>
            <a:pPr marL="432" indent="0">
              <a:spcBef>
                <a:spcPts val="600"/>
              </a:spcBef>
              <a:buNone/>
            </a:pPr>
            <a:r>
              <a:rPr lang="en-US" altLang="en-US" sz="1800" dirty="0"/>
              <a:t>y = (x &gt; 0) ? 1 : -1;</a:t>
            </a:r>
            <a:endParaRPr lang="en-IN" sz="1800" dirty="0"/>
          </a:p>
          <a:p>
            <a:pPr marL="432" indent="0">
              <a:spcBef>
                <a:spcPts val="600"/>
              </a:spcBef>
              <a:buNone/>
            </a:pPr>
            <a:r>
              <a:rPr lang="en-IN" sz="1800" dirty="0"/>
              <a:t>(</a:t>
            </a:r>
            <a:r>
              <a:rPr lang="en-IN" sz="1800" dirty="0" err="1"/>
              <a:t>boolean</a:t>
            </a:r>
            <a:r>
              <a:rPr lang="en-IN" sz="1800" dirty="0"/>
              <a:t>-expression) ? expression1 : expression2</a:t>
            </a:r>
          </a:p>
          <a:p>
            <a:pPr marL="432" indent="0">
              <a:buNone/>
            </a:pPr>
            <a:r>
              <a:rPr lang="en-IN" sz="1800" dirty="0"/>
              <a:t>Ternary operator</a:t>
            </a:r>
          </a:p>
          <a:p>
            <a:pPr marL="432" indent="0">
              <a:spcBef>
                <a:spcPts val="600"/>
              </a:spcBef>
              <a:buNone/>
            </a:pPr>
            <a:r>
              <a:rPr lang="en-IN" sz="1800" dirty="0"/>
              <a:t>Binary operator</a:t>
            </a:r>
          </a:p>
          <a:p>
            <a:pPr marL="432" indent="0">
              <a:spcBef>
                <a:spcPts val="600"/>
              </a:spcBef>
              <a:buNone/>
            </a:pPr>
            <a:r>
              <a:rPr lang="en-IN" sz="1800" dirty="0"/>
              <a:t>Unary operator</a:t>
            </a:r>
          </a:p>
        </p:txBody>
      </p:sp>
    </p:spTree>
    <p:extLst>
      <p:ext uri="{BB962C8B-B14F-4D97-AF65-F5344CB8AC3E}">
        <p14:creationId xmlns:p14="http://schemas.microsoft.com/office/powerpoint/2010/main" val="31898856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DF527-D89E-4946-BB37-BADD6A478C6E}"/>
              </a:ext>
            </a:extLst>
          </p:cNvPr>
          <p:cNvSpPr>
            <a:spLocks noGrp="1"/>
          </p:cNvSpPr>
          <p:nvPr>
            <p:ph type="title"/>
          </p:nvPr>
        </p:nvSpPr>
        <p:spPr/>
        <p:txBody>
          <a:bodyPr/>
          <a:lstStyle/>
          <a:p>
            <a:r>
              <a:rPr lang="en-IN" dirty="0"/>
              <a:t>Conditional Operator </a:t>
            </a:r>
            <a:r>
              <a:rPr lang="en-IN" sz="2000" b="0" dirty="0"/>
              <a:t>(1 of 2)</a:t>
            </a:r>
            <a:endParaRPr lang="en-IN" b="0" dirty="0"/>
          </a:p>
        </p:txBody>
      </p:sp>
      <p:sp>
        <p:nvSpPr>
          <p:cNvPr id="3" name="Content Placeholder 2">
            <a:extLst>
              <a:ext uri="{FF2B5EF4-FFF2-40B4-BE49-F238E27FC236}">
                <a16:creationId xmlns:a16="http://schemas.microsoft.com/office/drawing/2014/main" id="{37441F3E-5B00-41D5-8499-38EDA5D8A6EF}"/>
              </a:ext>
            </a:extLst>
          </p:cNvPr>
          <p:cNvSpPr>
            <a:spLocks noGrp="1"/>
          </p:cNvSpPr>
          <p:nvPr>
            <p:ph sz="quarter" idx="13"/>
          </p:nvPr>
        </p:nvSpPr>
        <p:spPr/>
        <p:txBody>
          <a:bodyPr/>
          <a:lstStyle/>
          <a:p>
            <a:pPr marL="432" indent="0">
              <a:buNone/>
            </a:pPr>
            <a:r>
              <a:rPr lang="en-IN" b="1" dirty="0">
                <a:latin typeface="Courier New" panose="02070309020205020404" pitchFamily="49" charset="0"/>
                <a:cs typeface="Courier New" panose="02070309020205020404" pitchFamily="49" charset="0"/>
              </a:rPr>
              <a:t>if (</a:t>
            </a:r>
            <a:r>
              <a:rPr lang="en-IN" b="1" dirty="0" err="1">
                <a:latin typeface="Courier New" panose="02070309020205020404" pitchFamily="49" charset="0"/>
                <a:cs typeface="Courier New" panose="02070309020205020404" pitchFamily="49" charset="0"/>
              </a:rPr>
              <a:t>num</a:t>
            </a:r>
            <a:r>
              <a:rPr lang="en-IN" b="1" dirty="0">
                <a:latin typeface="Courier New" panose="02070309020205020404" pitchFamily="49" charset="0"/>
                <a:cs typeface="Courier New" panose="02070309020205020404" pitchFamily="49" charset="0"/>
              </a:rPr>
              <a:t> % 2 == 0)</a:t>
            </a:r>
          </a:p>
          <a:p>
            <a:pPr marL="360000" indent="0">
              <a:buNone/>
            </a:pPr>
            <a:r>
              <a:rPr lang="en-IN" b="1" dirty="0" err="1">
                <a:latin typeface="Courier New" panose="02070309020205020404" pitchFamily="49" charset="0"/>
                <a:cs typeface="Courier New" panose="02070309020205020404" pitchFamily="49" charset="0"/>
              </a:rPr>
              <a:t>System.out.println</a:t>
            </a:r>
            <a:r>
              <a:rPr lang="en-IN" b="1" dirty="0">
                <a:latin typeface="Courier New" panose="02070309020205020404" pitchFamily="49" charset="0"/>
                <a:cs typeface="Courier New" panose="02070309020205020404" pitchFamily="49" charset="0"/>
              </a:rPr>
              <a:t>(</a:t>
            </a:r>
            <a:r>
              <a:rPr lang="en-IN" b="1" dirty="0" err="1">
                <a:latin typeface="Courier New" panose="02070309020205020404" pitchFamily="49" charset="0"/>
                <a:cs typeface="Courier New" panose="02070309020205020404" pitchFamily="49" charset="0"/>
              </a:rPr>
              <a:t>num</a:t>
            </a:r>
            <a:r>
              <a:rPr lang="en-IN" b="1" dirty="0">
                <a:latin typeface="Courier New" panose="02070309020205020404" pitchFamily="49" charset="0"/>
                <a:cs typeface="Courier New" panose="02070309020205020404" pitchFamily="49" charset="0"/>
              </a:rPr>
              <a:t> + “is even”);</a:t>
            </a:r>
          </a:p>
          <a:p>
            <a:pPr marL="432" indent="0">
              <a:buNone/>
            </a:pPr>
            <a:r>
              <a:rPr lang="en-IN" b="1" dirty="0">
                <a:latin typeface="Courier New" panose="02070309020205020404" pitchFamily="49" charset="0"/>
                <a:cs typeface="Courier New" panose="02070309020205020404" pitchFamily="49" charset="0"/>
              </a:rPr>
              <a:t>else</a:t>
            </a:r>
          </a:p>
          <a:p>
            <a:pPr marL="360000" indent="0">
              <a:buNone/>
            </a:pPr>
            <a:r>
              <a:rPr lang="en-IN" b="1" dirty="0" err="1">
                <a:latin typeface="Courier New" panose="02070309020205020404" pitchFamily="49" charset="0"/>
                <a:cs typeface="Courier New" panose="02070309020205020404" pitchFamily="49" charset="0"/>
              </a:rPr>
              <a:t>System.out.println</a:t>
            </a:r>
            <a:r>
              <a:rPr lang="en-IN" b="1" dirty="0">
                <a:latin typeface="Courier New" panose="02070309020205020404" pitchFamily="49" charset="0"/>
                <a:cs typeface="Courier New" panose="02070309020205020404" pitchFamily="49" charset="0"/>
              </a:rPr>
              <a:t>(</a:t>
            </a:r>
            <a:r>
              <a:rPr lang="en-IN" b="1" dirty="0" err="1">
                <a:latin typeface="Courier New" panose="02070309020205020404" pitchFamily="49" charset="0"/>
                <a:cs typeface="Courier New" panose="02070309020205020404" pitchFamily="49" charset="0"/>
              </a:rPr>
              <a:t>num</a:t>
            </a:r>
            <a:r>
              <a:rPr lang="en-IN" b="1" dirty="0">
                <a:latin typeface="Courier New" panose="02070309020205020404" pitchFamily="49" charset="0"/>
                <a:cs typeface="Courier New" panose="02070309020205020404" pitchFamily="49" charset="0"/>
              </a:rPr>
              <a:t> + “is odd”);</a:t>
            </a:r>
          </a:p>
          <a:p>
            <a:pPr marL="432" indent="0">
              <a:buNone/>
            </a:pPr>
            <a:endParaRPr lang="en-IN" b="1" dirty="0">
              <a:latin typeface="Courier New" panose="02070309020205020404" pitchFamily="49" charset="0"/>
              <a:cs typeface="Courier New" panose="02070309020205020404" pitchFamily="49" charset="0"/>
            </a:endParaRPr>
          </a:p>
          <a:p>
            <a:pPr marL="432" indent="0">
              <a:buNone/>
            </a:pPr>
            <a:r>
              <a:rPr lang="en-IN" b="1" dirty="0" err="1">
                <a:latin typeface="Courier New" panose="02070309020205020404" pitchFamily="49" charset="0"/>
                <a:cs typeface="Courier New" panose="02070309020205020404" pitchFamily="49" charset="0"/>
              </a:rPr>
              <a:t>System.out.println</a:t>
            </a:r>
            <a:r>
              <a:rPr lang="en-IN" b="1" dirty="0">
                <a:latin typeface="Courier New" panose="02070309020205020404" pitchFamily="49" charset="0"/>
                <a:cs typeface="Courier New" panose="02070309020205020404" pitchFamily="49" charset="0"/>
              </a:rPr>
              <a:t>(</a:t>
            </a:r>
          </a:p>
          <a:p>
            <a:pPr marL="360000" indent="0">
              <a:buNone/>
            </a:pPr>
            <a:r>
              <a:rPr lang="en-IN" b="1" dirty="0">
                <a:latin typeface="Courier New" panose="02070309020205020404" pitchFamily="49" charset="0"/>
                <a:cs typeface="Courier New" panose="02070309020205020404" pitchFamily="49" charset="0"/>
              </a:rPr>
              <a:t>(</a:t>
            </a:r>
            <a:r>
              <a:rPr lang="en-IN" b="1" dirty="0" err="1">
                <a:latin typeface="Courier New" panose="02070309020205020404" pitchFamily="49" charset="0"/>
                <a:cs typeface="Courier New" panose="02070309020205020404" pitchFamily="49" charset="0"/>
              </a:rPr>
              <a:t>num</a:t>
            </a:r>
            <a:r>
              <a:rPr lang="en-IN" b="1" dirty="0">
                <a:latin typeface="Courier New" panose="02070309020205020404" pitchFamily="49" charset="0"/>
                <a:cs typeface="Courier New" panose="02070309020205020404" pitchFamily="49" charset="0"/>
              </a:rPr>
              <a:t> % 2 == 0)? </a:t>
            </a:r>
            <a:r>
              <a:rPr lang="en-IN" b="1" dirty="0" err="1">
                <a:latin typeface="Courier New" panose="02070309020205020404" pitchFamily="49" charset="0"/>
                <a:cs typeface="Courier New" panose="02070309020205020404" pitchFamily="49" charset="0"/>
              </a:rPr>
              <a:t>num</a:t>
            </a:r>
            <a:r>
              <a:rPr lang="en-IN" b="1" dirty="0">
                <a:latin typeface="Courier New" panose="02070309020205020404" pitchFamily="49" charset="0"/>
                <a:cs typeface="Courier New" panose="02070309020205020404" pitchFamily="49" charset="0"/>
              </a:rPr>
              <a:t> + “is even” :</a:t>
            </a:r>
          </a:p>
          <a:p>
            <a:pPr marL="360000" indent="0">
              <a:buNone/>
            </a:pPr>
            <a:r>
              <a:rPr lang="en-IN" b="1" dirty="0" err="1">
                <a:latin typeface="Courier New" panose="02070309020205020404" pitchFamily="49" charset="0"/>
                <a:cs typeface="Courier New" panose="02070309020205020404" pitchFamily="49" charset="0"/>
              </a:rPr>
              <a:t>num</a:t>
            </a:r>
            <a:r>
              <a:rPr lang="en-IN" b="1" dirty="0">
                <a:latin typeface="Courier New" panose="02070309020205020404" pitchFamily="49" charset="0"/>
                <a:cs typeface="Courier New" panose="02070309020205020404" pitchFamily="49" charset="0"/>
              </a:rPr>
              <a:t> + “is odd”);</a:t>
            </a:r>
          </a:p>
        </p:txBody>
      </p:sp>
    </p:spTree>
    <p:extLst>
      <p:ext uri="{BB962C8B-B14F-4D97-AF65-F5344CB8AC3E}">
        <p14:creationId xmlns:p14="http://schemas.microsoft.com/office/powerpoint/2010/main" val="32457569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DF527-D89E-4946-BB37-BADD6A478C6E}"/>
              </a:ext>
            </a:extLst>
          </p:cNvPr>
          <p:cNvSpPr>
            <a:spLocks noGrp="1"/>
          </p:cNvSpPr>
          <p:nvPr>
            <p:ph type="title"/>
          </p:nvPr>
        </p:nvSpPr>
        <p:spPr/>
        <p:txBody>
          <a:bodyPr/>
          <a:lstStyle/>
          <a:p>
            <a:r>
              <a:rPr lang="en-IN" dirty="0"/>
              <a:t>Conditional Operator </a:t>
            </a:r>
            <a:r>
              <a:rPr lang="en-IN" sz="2000" b="0" dirty="0"/>
              <a:t>(2 of 2)</a:t>
            </a:r>
            <a:endParaRPr lang="en-IN" b="0" dirty="0"/>
          </a:p>
        </p:txBody>
      </p:sp>
      <p:sp>
        <p:nvSpPr>
          <p:cNvPr id="3" name="Content Placeholder 2">
            <a:extLst>
              <a:ext uri="{FF2B5EF4-FFF2-40B4-BE49-F238E27FC236}">
                <a16:creationId xmlns:a16="http://schemas.microsoft.com/office/drawing/2014/main" id="{37441F3E-5B00-41D5-8499-38EDA5D8A6EF}"/>
              </a:ext>
            </a:extLst>
          </p:cNvPr>
          <p:cNvSpPr>
            <a:spLocks noGrp="1"/>
          </p:cNvSpPr>
          <p:nvPr>
            <p:ph sz="quarter" idx="13"/>
          </p:nvPr>
        </p:nvSpPr>
        <p:spPr/>
        <p:txBody>
          <a:bodyPr/>
          <a:lstStyle/>
          <a:p>
            <a:pPr marL="432" indent="0">
              <a:buNone/>
            </a:pPr>
            <a:r>
              <a:rPr lang="en-IN" b="1" dirty="0" err="1">
                <a:latin typeface="Courier New" panose="02070309020205020404" pitchFamily="49" charset="0"/>
                <a:cs typeface="Courier New" panose="02070309020205020404" pitchFamily="49" charset="0"/>
              </a:rPr>
              <a:t>boolean</a:t>
            </a:r>
            <a:r>
              <a:rPr lang="en-IN" b="1" dirty="0">
                <a:latin typeface="Courier New" panose="02070309020205020404" pitchFamily="49" charset="0"/>
                <a:cs typeface="Courier New" panose="02070309020205020404" pitchFamily="49" charset="0"/>
              </a:rPr>
              <a:t>-expression ? exp1 : exp2</a:t>
            </a:r>
          </a:p>
        </p:txBody>
      </p:sp>
    </p:spTree>
    <p:extLst>
      <p:ext uri="{BB962C8B-B14F-4D97-AF65-F5344CB8AC3E}">
        <p14:creationId xmlns:p14="http://schemas.microsoft.com/office/powerpoint/2010/main" val="29979187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C7686-639C-4BD9-813F-B6119FB23E7E}"/>
              </a:ext>
            </a:extLst>
          </p:cNvPr>
          <p:cNvSpPr>
            <a:spLocks noGrp="1"/>
          </p:cNvSpPr>
          <p:nvPr>
            <p:ph type="title"/>
          </p:nvPr>
        </p:nvSpPr>
        <p:spPr/>
        <p:txBody>
          <a:bodyPr/>
          <a:lstStyle/>
          <a:p>
            <a:r>
              <a:rPr lang="en-IN" dirty="0"/>
              <a:t>Operator Precedence</a:t>
            </a:r>
          </a:p>
        </p:txBody>
      </p:sp>
      <p:sp>
        <p:nvSpPr>
          <p:cNvPr id="3" name="Content Placeholder 2">
            <a:extLst>
              <a:ext uri="{FF2B5EF4-FFF2-40B4-BE49-F238E27FC236}">
                <a16:creationId xmlns:a16="http://schemas.microsoft.com/office/drawing/2014/main" id="{C965239B-621C-452E-97DA-D643D5130A4E}"/>
              </a:ext>
            </a:extLst>
          </p:cNvPr>
          <p:cNvSpPr>
            <a:spLocks noGrp="1"/>
          </p:cNvSpPr>
          <p:nvPr>
            <p:ph sz="quarter" idx="13"/>
          </p:nvPr>
        </p:nvSpPr>
        <p:spPr>
          <a:xfrm>
            <a:off x="457200" y="1554920"/>
            <a:ext cx="8232775" cy="4663335"/>
          </a:xfrm>
        </p:spPr>
        <p:txBody>
          <a:bodyPr/>
          <a:lstStyle/>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var++, var--</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 - (Unary plus and minus), ++var,--var</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(type) Casting</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 (Not)</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 /, % (Multiplication, division, and remainder)</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 - (Binary addition and subtraction)</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&lt;, &lt;=, &gt;, &gt;= (Relational operators)</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 !=; (Equality)</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 (Exclusive OR)</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&amp;&amp; (Conditional AND) Short-circuit AND</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 (Conditional OR) Short-circuit OR</a:t>
            </a:r>
          </a:p>
          <a:p>
            <a:pPr algn="just">
              <a:spcBef>
                <a:spcPts val="600"/>
              </a:spcBef>
              <a:defRPr/>
            </a:pPr>
            <a:r>
              <a:rPr lang="en-US" sz="2000" b="1" dirty="0">
                <a:solidFill>
                  <a:schemeClr val="tx1"/>
                </a:solidFill>
                <a:latin typeface="Courier New" panose="02070309020205020404" pitchFamily="49" charset="0"/>
                <a:cs typeface="Courier New" panose="02070309020205020404" pitchFamily="49" charset="0"/>
              </a:rPr>
              <a:t>=, +=, -=, *=, /=, %= (Assignment operator)</a:t>
            </a:r>
          </a:p>
        </p:txBody>
      </p:sp>
    </p:spTree>
    <p:extLst>
      <p:ext uri="{BB962C8B-B14F-4D97-AF65-F5344CB8AC3E}">
        <p14:creationId xmlns:p14="http://schemas.microsoft.com/office/powerpoint/2010/main" val="2686542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E97D6-D117-4FEB-9D6E-674BA38E6278}"/>
              </a:ext>
            </a:extLst>
          </p:cNvPr>
          <p:cNvSpPr>
            <a:spLocks noGrp="1"/>
          </p:cNvSpPr>
          <p:nvPr>
            <p:ph type="title"/>
          </p:nvPr>
        </p:nvSpPr>
        <p:spPr/>
        <p:txBody>
          <a:bodyPr/>
          <a:lstStyle/>
          <a:p>
            <a:r>
              <a:rPr lang="en-IN" sz="3200" dirty="0"/>
              <a:t>Operator Precedence and Associativity</a:t>
            </a:r>
          </a:p>
        </p:txBody>
      </p:sp>
      <p:sp>
        <p:nvSpPr>
          <p:cNvPr id="3" name="Content Placeholder 2">
            <a:extLst>
              <a:ext uri="{FF2B5EF4-FFF2-40B4-BE49-F238E27FC236}">
                <a16:creationId xmlns:a16="http://schemas.microsoft.com/office/drawing/2014/main" id="{B2146B11-3EAB-47CF-911A-58B520071079}"/>
              </a:ext>
            </a:extLst>
          </p:cNvPr>
          <p:cNvSpPr>
            <a:spLocks noGrp="1"/>
          </p:cNvSpPr>
          <p:nvPr>
            <p:ph sz="quarter" idx="13"/>
          </p:nvPr>
        </p:nvSpPr>
        <p:spPr/>
        <p:txBody>
          <a:bodyPr/>
          <a:lstStyle/>
          <a:p>
            <a:pPr marL="432" indent="0">
              <a:buNone/>
            </a:pPr>
            <a:r>
              <a:rPr lang="en-IN" dirty="0"/>
              <a:t>The expression in the parentheses is evaluated first. (Parentheses can be nested, in which case the expression in the inner parentheses is executed first.) When evaluating an expression without parentheses, the operators are applied according to the precedence rule and the associativity rule.</a:t>
            </a:r>
          </a:p>
          <a:p>
            <a:pPr marL="432" indent="0">
              <a:buNone/>
            </a:pPr>
            <a:r>
              <a:rPr lang="en-IN" dirty="0"/>
              <a:t>If operators with the same precedence are next to each other, their associativity determines the order of evaluation. All binary operators except assignment operators are left-associative.</a:t>
            </a:r>
          </a:p>
        </p:txBody>
      </p:sp>
    </p:spTree>
    <p:extLst>
      <p:ext uri="{BB962C8B-B14F-4D97-AF65-F5344CB8AC3E}">
        <p14:creationId xmlns:p14="http://schemas.microsoft.com/office/powerpoint/2010/main" val="18345296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2EC75-590A-405D-8C04-C7FFFFCC6352}"/>
              </a:ext>
            </a:extLst>
          </p:cNvPr>
          <p:cNvSpPr>
            <a:spLocks noGrp="1"/>
          </p:cNvSpPr>
          <p:nvPr>
            <p:ph type="title"/>
          </p:nvPr>
        </p:nvSpPr>
        <p:spPr/>
        <p:txBody>
          <a:bodyPr/>
          <a:lstStyle/>
          <a:p>
            <a:r>
              <a:rPr lang="en-IN" dirty="0"/>
              <a:t>Operator Associativity</a:t>
            </a:r>
          </a:p>
        </p:txBody>
      </p:sp>
      <p:sp>
        <p:nvSpPr>
          <p:cNvPr id="3" name="Content Placeholder 2">
            <a:extLst>
              <a:ext uri="{FF2B5EF4-FFF2-40B4-BE49-F238E27FC236}">
                <a16:creationId xmlns:a16="http://schemas.microsoft.com/office/drawing/2014/main" id="{B49A0907-7C7D-4028-ADDB-50A1A67F002E}"/>
              </a:ext>
            </a:extLst>
          </p:cNvPr>
          <p:cNvSpPr>
            <a:spLocks noGrp="1"/>
          </p:cNvSpPr>
          <p:nvPr>
            <p:ph sz="quarter" idx="13"/>
          </p:nvPr>
        </p:nvSpPr>
        <p:spPr>
          <a:xfrm>
            <a:off x="457200" y="1552574"/>
            <a:ext cx="8229600" cy="1626055"/>
          </a:xfrm>
        </p:spPr>
        <p:txBody>
          <a:bodyPr/>
          <a:lstStyle/>
          <a:p>
            <a:pPr marL="432" indent="0">
              <a:buNone/>
            </a:pPr>
            <a:r>
              <a:rPr lang="en-IN" dirty="0"/>
              <a:t>When two operators with the same precedence are evaluated, the </a:t>
            </a:r>
            <a:r>
              <a:rPr lang="en-IN" b="1" dirty="0"/>
              <a:t>associativity</a:t>
            </a:r>
            <a:r>
              <a:rPr lang="en-IN" dirty="0"/>
              <a:t> of the operators determines the order of evaluation. All binary operators except assignment operators are</a:t>
            </a:r>
            <a:r>
              <a:rPr lang="en-IN" b="1" dirty="0"/>
              <a:t> left-associative</a:t>
            </a:r>
            <a:r>
              <a:rPr lang="en-IN" dirty="0"/>
              <a:t>.</a:t>
            </a:r>
          </a:p>
        </p:txBody>
      </p:sp>
      <p:graphicFrame>
        <p:nvGraphicFramePr>
          <p:cNvPr id="17" name="Object 16" descr="a minus b + c minus d">
            <a:extLst>
              <a:ext uri="{FF2B5EF4-FFF2-40B4-BE49-F238E27FC236}">
                <a16:creationId xmlns:a16="http://schemas.microsoft.com/office/drawing/2014/main" id="{E2DF7B26-4FBA-4025-BD48-83679C34863D}"/>
              </a:ext>
            </a:extLst>
          </p:cNvPr>
          <p:cNvGraphicFramePr>
            <a:graphicFrameLocks noChangeAspect="1"/>
          </p:cNvGraphicFramePr>
          <p:nvPr>
            <p:extLst>
              <p:ext uri="{D42A27DB-BD31-4B8C-83A1-F6EECF244321}">
                <p14:modId xmlns:p14="http://schemas.microsoft.com/office/powerpoint/2010/main" val="1446202125"/>
              </p:ext>
            </p:extLst>
          </p:nvPr>
        </p:nvGraphicFramePr>
        <p:xfrm>
          <a:off x="541565" y="3297464"/>
          <a:ext cx="1536700" cy="292100"/>
        </p:xfrm>
        <a:graphic>
          <a:graphicData uri="http://schemas.openxmlformats.org/presentationml/2006/ole">
            <mc:AlternateContent xmlns:mc="http://schemas.openxmlformats.org/markup-compatibility/2006">
              <mc:Choice xmlns:v="urn:schemas-microsoft-com:vml" Requires="v">
                <p:oleObj spid="_x0000_s3090" name="Equation" r:id="rId3" imgW="1536480" imgH="291960" progId="Equation.DSMT4">
                  <p:embed/>
                </p:oleObj>
              </mc:Choice>
              <mc:Fallback>
                <p:oleObj name="Equation" r:id="rId3" imgW="1536480" imgH="291960" progId="Equation.DSMT4">
                  <p:embed/>
                  <p:pic>
                    <p:nvPicPr>
                      <p:cNvPr id="0" name=""/>
                      <p:cNvPicPr/>
                      <p:nvPr/>
                    </p:nvPicPr>
                    <p:blipFill>
                      <a:blip r:embed="rId4"/>
                      <a:stretch>
                        <a:fillRect/>
                      </a:stretch>
                    </p:blipFill>
                    <p:spPr>
                      <a:xfrm>
                        <a:off x="541565" y="3297464"/>
                        <a:ext cx="1536700" cy="292100"/>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4AACB146-4D78-4CB2-B4A3-4AC373CD76E9}"/>
              </a:ext>
            </a:extLst>
          </p:cNvPr>
          <p:cNvSpPr>
            <a:spLocks noGrp="1"/>
          </p:cNvSpPr>
          <p:nvPr>
            <p:ph sz="quarter" idx="14"/>
          </p:nvPr>
        </p:nvSpPr>
        <p:spPr>
          <a:xfrm>
            <a:off x="2165352" y="3257226"/>
            <a:ext cx="2217962" cy="414887"/>
          </a:xfrm>
        </p:spPr>
        <p:txBody>
          <a:bodyPr lIns="0" tIns="0" rIns="0"/>
          <a:lstStyle/>
          <a:p>
            <a:pPr marL="432" indent="0">
              <a:buNone/>
            </a:pPr>
            <a:r>
              <a:rPr lang="en-IN" dirty="0"/>
              <a:t>is equivalent to</a:t>
            </a:r>
          </a:p>
        </p:txBody>
      </p:sp>
      <p:graphicFrame>
        <p:nvGraphicFramePr>
          <p:cNvPr id="20" name="Object 19" descr="Left parenthesis, left parenthesis a minus b right parenthesis + c right parenthesis minus d">
            <a:extLst>
              <a:ext uri="{FF2B5EF4-FFF2-40B4-BE49-F238E27FC236}">
                <a16:creationId xmlns:a16="http://schemas.microsoft.com/office/drawing/2014/main" id="{475AA071-BE88-4E51-972C-85DD327457A1}"/>
              </a:ext>
            </a:extLst>
          </p:cNvPr>
          <p:cNvGraphicFramePr>
            <a:graphicFrameLocks noChangeAspect="1"/>
          </p:cNvGraphicFramePr>
          <p:nvPr>
            <p:extLst>
              <p:ext uri="{D42A27DB-BD31-4B8C-83A1-F6EECF244321}">
                <p14:modId xmlns:p14="http://schemas.microsoft.com/office/powerpoint/2010/main" val="100157884"/>
              </p:ext>
            </p:extLst>
          </p:nvPr>
        </p:nvGraphicFramePr>
        <p:xfrm>
          <a:off x="4470398" y="3275692"/>
          <a:ext cx="1905000" cy="342900"/>
        </p:xfrm>
        <a:graphic>
          <a:graphicData uri="http://schemas.openxmlformats.org/presentationml/2006/ole">
            <mc:AlternateContent xmlns:mc="http://schemas.openxmlformats.org/markup-compatibility/2006">
              <mc:Choice xmlns:v="urn:schemas-microsoft-com:vml" Requires="v">
                <p:oleObj spid="_x0000_s3091" name="Equation" r:id="rId5" imgW="1904760" imgH="342720" progId="Equation.DSMT4">
                  <p:embed/>
                </p:oleObj>
              </mc:Choice>
              <mc:Fallback>
                <p:oleObj name="Equation" r:id="rId5" imgW="1904760" imgH="342720" progId="Equation.DSMT4">
                  <p:embed/>
                  <p:pic>
                    <p:nvPicPr>
                      <p:cNvPr id="0" name=""/>
                      <p:cNvPicPr/>
                      <p:nvPr/>
                    </p:nvPicPr>
                    <p:blipFill>
                      <a:blip r:embed="rId6"/>
                      <a:stretch>
                        <a:fillRect/>
                      </a:stretch>
                    </p:blipFill>
                    <p:spPr>
                      <a:xfrm>
                        <a:off x="4470398" y="3275692"/>
                        <a:ext cx="1905000" cy="3429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98D0995F-9F56-4B60-902B-BB7C5EACA9CD}"/>
              </a:ext>
            </a:extLst>
          </p:cNvPr>
          <p:cNvSpPr>
            <a:spLocks noGrp="1"/>
          </p:cNvSpPr>
          <p:nvPr>
            <p:ph sz="quarter" idx="15"/>
          </p:nvPr>
        </p:nvSpPr>
        <p:spPr>
          <a:xfrm>
            <a:off x="541565" y="3754987"/>
            <a:ext cx="8145235" cy="889584"/>
          </a:xfrm>
        </p:spPr>
        <p:txBody>
          <a:bodyPr/>
          <a:lstStyle/>
          <a:p>
            <a:pPr marL="432" indent="0">
              <a:buNone/>
            </a:pPr>
            <a:r>
              <a:rPr lang="en-IN" dirty="0"/>
              <a:t>Assignment operators are </a:t>
            </a:r>
            <a:r>
              <a:rPr lang="en-IN" b="1" dirty="0"/>
              <a:t>right-associative</a:t>
            </a:r>
            <a:r>
              <a:rPr lang="en-IN" dirty="0"/>
              <a:t>. Therefore, the expression</a:t>
            </a:r>
          </a:p>
        </p:txBody>
      </p:sp>
      <p:graphicFrame>
        <p:nvGraphicFramePr>
          <p:cNvPr id="21" name="Object 20" descr="a = b + = c = 5">
            <a:extLst>
              <a:ext uri="{FF2B5EF4-FFF2-40B4-BE49-F238E27FC236}">
                <a16:creationId xmlns:a16="http://schemas.microsoft.com/office/drawing/2014/main" id="{246E9BF1-9CED-4767-BB8F-080510C1AE29}"/>
              </a:ext>
            </a:extLst>
          </p:cNvPr>
          <p:cNvGraphicFramePr>
            <a:graphicFrameLocks noChangeAspect="1"/>
          </p:cNvGraphicFramePr>
          <p:nvPr>
            <p:extLst>
              <p:ext uri="{D42A27DB-BD31-4B8C-83A1-F6EECF244321}">
                <p14:modId xmlns:p14="http://schemas.microsoft.com/office/powerpoint/2010/main" val="313689680"/>
              </p:ext>
            </p:extLst>
          </p:nvPr>
        </p:nvGraphicFramePr>
        <p:xfrm>
          <a:off x="541565" y="4864100"/>
          <a:ext cx="1892300" cy="292100"/>
        </p:xfrm>
        <a:graphic>
          <a:graphicData uri="http://schemas.openxmlformats.org/presentationml/2006/ole">
            <mc:AlternateContent xmlns:mc="http://schemas.openxmlformats.org/markup-compatibility/2006">
              <mc:Choice xmlns:v="urn:schemas-microsoft-com:vml" Requires="v">
                <p:oleObj spid="_x0000_s3092" name="Equation" r:id="rId7" imgW="1892160" imgH="291960" progId="Equation.DSMT4">
                  <p:embed/>
                </p:oleObj>
              </mc:Choice>
              <mc:Fallback>
                <p:oleObj name="Equation" r:id="rId7" imgW="1892160" imgH="291960" progId="Equation.DSMT4">
                  <p:embed/>
                  <p:pic>
                    <p:nvPicPr>
                      <p:cNvPr id="17" name="Object 16">
                        <a:extLst>
                          <a:ext uri="{FF2B5EF4-FFF2-40B4-BE49-F238E27FC236}">
                            <a16:creationId xmlns:a16="http://schemas.microsoft.com/office/drawing/2014/main" id="{E2DF7B26-4FBA-4025-BD48-83679C34863D}"/>
                          </a:ext>
                        </a:extLst>
                      </p:cNvPr>
                      <p:cNvPicPr/>
                      <p:nvPr/>
                    </p:nvPicPr>
                    <p:blipFill>
                      <a:blip r:embed="rId8"/>
                      <a:stretch>
                        <a:fillRect/>
                      </a:stretch>
                    </p:blipFill>
                    <p:spPr>
                      <a:xfrm>
                        <a:off x="541565" y="4864100"/>
                        <a:ext cx="1892300" cy="2921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A43B1C43-76C6-4305-A561-D7CEC000860D}"/>
              </a:ext>
            </a:extLst>
          </p:cNvPr>
          <p:cNvSpPr>
            <a:spLocks noGrp="1"/>
          </p:cNvSpPr>
          <p:nvPr>
            <p:ph sz="quarter" idx="16"/>
          </p:nvPr>
        </p:nvSpPr>
        <p:spPr>
          <a:xfrm>
            <a:off x="2492186" y="4711081"/>
            <a:ext cx="2268502" cy="498995"/>
          </a:xfrm>
        </p:spPr>
        <p:txBody>
          <a:bodyPr/>
          <a:lstStyle/>
          <a:p>
            <a:pPr marL="432" indent="0">
              <a:buNone/>
            </a:pPr>
            <a:r>
              <a:rPr lang="en-IN" dirty="0"/>
              <a:t>is equivalent to</a:t>
            </a:r>
          </a:p>
        </p:txBody>
      </p:sp>
      <p:graphicFrame>
        <p:nvGraphicFramePr>
          <p:cNvPr id="22" name="Object 21" descr="a = left parenthesis b + = left parenthesis c = 5 right parenthesis">
            <a:extLst>
              <a:ext uri="{FF2B5EF4-FFF2-40B4-BE49-F238E27FC236}">
                <a16:creationId xmlns:a16="http://schemas.microsoft.com/office/drawing/2014/main" id="{28636DD6-7FCB-4C98-A836-E935B0945A5B}"/>
              </a:ext>
            </a:extLst>
          </p:cNvPr>
          <p:cNvGraphicFramePr>
            <a:graphicFrameLocks noChangeAspect="1"/>
          </p:cNvGraphicFramePr>
          <p:nvPr>
            <p:extLst>
              <p:ext uri="{D42A27DB-BD31-4B8C-83A1-F6EECF244321}">
                <p14:modId xmlns:p14="http://schemas.microsoft.com/office/powerpoint/2010/main" val="438181734"/>
              </p:ext>
            </p:extLst>
          </p:nvPr>
        </p:nvGraphicFramePr>
        <p:xfrm>
          <a:off x="4847772" y="4827003"/>
          <a:ext cx="2286000" cy="342900"/>
        </p:xfrm>
        <a:graphic>
          <a:graphicData uri="http://schemas.openxmlformats.org/presentationml/2006/ole">
            <mc:AlternateContent xmlns:mc="http://schemas.openxmlformats.org/markup-compatibility/2006">
              <mc:Choice xmlns:v="urn:schemas-microsoft-com:vml" Requires="v">
                <p:oleObj spid="_x0000_s3093" name="Equation" r:id="rId9" imgW="2286000" imgH="342720" progId="Equation.DSMT4">
                  <p:embed/>
                </p:oleObj>
              </mc:Choice>
              <mc:Fallback>
                <p:oleObj name="Equation" r:id="rId9" imgW="2286000" imgH="342720" progId="Equation.DSMT4">
                  <p:embed/>
                  <p:pic>
                    <p:nvPicPr>
                      <p:cNvPr id="21" name="Object 20">
                        <a:extLst>
                          <a:ext uri="{FF2B5EF4-FFF2-40B4-BE49-F238E27FC236}">
                            <a16:creationId xmlns:a16="http://schemas.microsoft.com/office/drawing/2014/main" id="{246E9BF1-9CED-4767-BB8F-080510C1AE29}"/>
                          </a:ext>
                        </a:extLst>
                      </p:cNvPr>
                      <p:cNvPicPr/>
                      <p:nvPr/>
                    </p:nvPicPr>
                    <p:blipFill>
                      <a:blip r:embed="rId10"/>
                      <a:stretch>
                        <a:fillRect/>
                      </a:stretch>
                    </p:blipFill>
                    <p:spPr>
                      <a:xfrm>
                        <a:off x="4847772" y="4827003"/>
                        <a:ext cx="2286000" cy="342900"/>
                      </a:xfrm>
                      <a:prstGeom prst="rect">
                        <a:avLst/>
                      </a:prstGeom>
                    </p:spPr>
                  </p:pic>
                </p:oleObj>
              </mc:Fallback>
            </mc:AlternateContent>
          </a:graphicData>
        </a:graphic>
      </p:graphicFrame>
    </p:spTree>
    <p:extLst>
      <p:ext uri="{BB962C8B-B14F-4D97-AF65-F5344CB8AC3E}">
        <p14:creationId xmlns:p14="http://schemas.microsoft.com/office/powerpoint/2010/main" val="18660568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2DA97-CA9B-48AD-B006-017FDD6C50E9}"/>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C8B734FD-6499-4BEC-BFC4-05D9078DF619}"/>
              </a:ext>
            </a:extLst>
          </p:cNvPr>
          <p:cNvSpPr>
            <a:spLocks noGrp="1"/>
          </p:cNvSpPr>
          <p:nvPr>
            <p:ph sz="quarter" idx="13"/>
          </p:nvPr>
        </p:nvSpPr>
        <p:spPr>
          <a:xfrm>
            <a:off x="457200" y="1552575"/>
            <a:ext cx="8229600" cy="469408"/>
          </a:xfrm>
        </p:spPr>
        <p:txBody>
          <a:bodyPr lIns="90000" tIns="90000" rIns="90000" bIns="0"/>
          <a:lstStyle/>
          <a:p>
            <a:pPr marL="432" indent="0">
              <a:buNone/>
            </a:pPr>
            <a:r>
              <a:rPr lang="en-IN" dirty="0"/>
              <a:t>Applying the operator precedence and associativity rule,</a:t>
            </a:r>
          </a:p>
        </p:txBody>
      </p:sp>
      <p:sp>
        <p:nvSpPr>
          <p:cNvPr id="4" name="Content Placeholder 3">
            <a:extLst>
              <a:ext uri="{FF2B5EF4-FFF2-40B4-BE49-F238E27FC236}">
                <a16:creationId xmlns:a16="http://schemas.microsoft.com/office/drawing/2014/main" id="{181B7E10-5BB3-43DB-B676-A4E04967A0D5}"/>
              </a:ext>
            </a:extLst>
          </p:cNvPr>
          <p:cNvSpPr>
            <a:spLocks noGrp="1"/>
          </p:cNvSpPr>
          <p:nvPr>
            <p:ph sz="quarter" idx="14"/>
          </p:nvPr>
        </p:nvSpPr>
        <p:spPr>
          <a:xfrm>
            <a:off x="457200" y="2071009"/>
            <a:ext cx="2242457" cy="425450"/>
          </a:xfrm>
        </p:spPr>
        <p:txBody>
          <a:bodyPr tIns="0" rIns="0" bIns="0"/>
          <a:lstStyle/>
          <a:p>
            <a:pPr marL="432" indent="0">
              <a:buNone/>
            </a:pPr>
            <a:r>
              <a:rPr lang="en-IN" dirty="0"/>
              <a:t>the expression</a:t>
            </a:r>
          </a:p>
        </p:txBody>
      </p:sp>
      <p:graphicFrame>
        <p:nvGraphicFramePr>
          <p:cNvPr id="17" name="Object 16" descr="3 + 4 times 4 is greater than 5 times left parenthesis 4 + 3 right parenthesis minus ">
            <a:extLst>
              <a:ext uri="{FF2B5EF4-FFF2-40B4-BE49-F238E27FC236}">
                <a16:creationId xmlns:a16="http://schemas.microsoft.com/office/drawing/2014/main" id="{A90700CB-D8A6-4351-B9B5-54A6BF30E723}"/>
              </a:ext>
            </a:extLst>
          </p:cNvPr>
          <p:cNvGraphicFramePr>
            <a:graphicFrameLocks noChangeAspect="1"/>
          </p:cNvGraphicFramePr>
          <p:nvPr>
            <p:extLst>
              <p:ext uri="{D42A27DB-BD31-4B8C-83A1-F6EECF244321}">
                <p14:modId xmlns:p14="http://schemas.microsoft.com/office/powerpoint/2010/main" val="4264217104"/>
              </p:ext>
            </p:extLst>
          </p:nvPr>
        </p:nvGraphicFramePr>
        <p:xfrm>
          <a:off x="2772227" y="2110019"/>
          <a:ext cx="2997200" cy="342900"/>
        </p:xfrm>
        <a:graphic>
          <a:graphicData uri="http://schemas.openxmlformats.org/presentationml/2006/ole">
            <mc:AlternateContent xmlns:mc="http://schemas.openxmlformats.org/markup-compatibility/2006">
              <mc:Choice xmlns:v="urn:schemas-microsoft-com:vml" Requires="v">
                <p:oleObj spid="_x0000_s4102" name="Equation" r:id="rId4" imgW="2997000" imgH="342720" progId="Equation.DSMT4">
                  <p:embed/>
                </p:oleObj>
              </mc:Choice>
              <mc:Fallback>
                <p:oleObj name="Equation" r:id="rId4" imgW="2997000" imgH="342720" progId="Equation.DSMT4">
                  <p:embed/>
                  <p:pic>
                    <p:nvPicPr>
                      <p:cNvPr id="0" name=""/>
                      <p:cNvPicPr/>
                      <p:nvPr/>
                    </p:nvPicPr>
                    <p:blipFill>
                      <a:blip r:embed="rId5"/>
                      <a:stretch>
                        <a:fillRect/>
                      </a:stretch>
                    </p:blipFill>
                    <p:spPr>
                      <a:xfrm>
                        <a:off x="2772227" y="2110019"/>
                        <a:ext cx="2997200" cy="342900"/>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A14F944-6E18-4CA6-9F11-89FF0C70E4E9}"/>
              </a:ext>
            </a:extLst>
          </p:cNvPr>
          <p:cNvSpPr>
            <a:spLocks noGrp="1"/>
          </p:cNvSpPr>
          <p:nvPr>
            <p:ph sz="quarter" idx="15"/>
          </p:nvPr>
        </p:nvSpPr>
        <p:spPr>
          <a:xfrm>
            <a:off x="5856511" y="2071014"/>
            <a:ext cx="2685143" cy="457380"/>
          </a:xfrm>
        </p:spPr>
        <p:txBody>
          <a:bodyPr tIns="0" bIns="0"/>
          <a:lstStyle/>
          <a:p>
            <a:pPr marL="432" indent="0">
              <a:buNone/>
            </a:pPr>
            <a:r>
              <a:rPr lang="en-IN" dirty="0"/>
              <a:t>is evaluated as</a:t>
            </a:r>
          </a:p>
        </p:txBody>
      </p:sp>
      <p:sp>
        <p:nvSpPr>
          <p:cNvPr id="6" name="Content Placeholder 5">
            <a:extLst>
              <a:ext uri="{FF2B5EF4-FFF2-40B4-BE49-F238E27FC236}">
                <a16:creationId xmlns:a16="http://schemas.microsoft.com/office/drawing/2014/main" id="{461568D0-78B8-408E-82E1-6EE200B01F25}"/>
              </a:ext>
            </a:extLst>
          </p:cNvPr>
          <p:cNvSpPr>
            <a:spLocks noGrp="1"/>
          </p:cNvSpPr>
          <p:nvPr>
            <p:ph sz="quarter" idx="16"/>
          </p:nvPr>
        </p:nvSpPr>
        <p:spPr>
          <a:xfrm>
            <a:off x="457201" y="2555467"/>
            <a:ext cx="1270000" cy="419962"/>
          </a:xfrm>
        </p:spPr>
        <p:txBody>
          <a:bodyPr lIns="90000" tIns="0" bIns="0"/>
          <a:lstStyle/>
          <a:p>
            <a:pPr marL="432" indent="0">
              <a:buNone/>
            </a:pPr>
            <a:r>
              <a:rPr lang="en-IN" dirty="0"/>
              <a:t>follows:</a:t>
            </a:r>
          </a:p>
        </p:txBody>
      </p:sp>
      <p:pic>
        <p:nvPicPr>
          <p:cNvPr id="21" name="Content Placeholder 20" descr="An example shows the application of operator precedence and associativity rule. For long description in Notes pane, press F6.">
            <a:extLst>
              <a:ext uri="{FF2B5EF4-FFF2-40B4-BE49-F238E27FC236}">
                <a16:creationId xmlns:a16="http://schemas.microsoft.com/office/drawing/2014/main" id="{8D798D30-1B1E-4B5C-9AA4-3E848E71DECA}"/>
              </a:ext>
            </a:extLst>
          </p:cNvPr>
          <p:cNvPicPr>
            <a:picLocks noGrp="1" noChangeAspect="1"/>
          </p:cNvPicPr>
          <p:nvPr>
            <p:ph sz="quarter" idx="17"/>
          </p:nvPr>
        </p:nvPicPr>
        <p:blipFill>
          <a:blip r:embed="rId6"/>
          <a:stretch>
            <a:fillRect/>
          </a:stretch>
        </p:blipFill>
        <p:spPr>
          <a:xfrm>
            <a:off x="1329550" y="3110917"/>
            <a:ext cx="6484898" cy="3061496"/>
          </a:xfrm>
          <a:prstGeom prst="rect">
            <a:avLst/>
          </a:prstGeom>
        </p:spPr>
      </p:pic>
    </p:spTree>
    <p:extLst>
      <p:ext uri="{BB962C8B-B14F-4D97-AF65-F5344CB8AC3E}">
        <p14:creationId xmlns:p14="http://schemas.microsoft.com/office/powerpoint/2010/main" val="25971274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73E73E-49E4-4845-8371-1BA709EE5139}"/>
              </a:ext>
            </a:extLst>
          </p:cNvPr>
          <p:cNvSpPr>
            <a:spLocks noGrp="1"/>
          </p:cNvSpPr>
          <p:nvPr>
            <p:ph type="title"/>
          </p:nvPr>
        </p:nvSpPr>
        <p:spPr/>
        <p:txBody>
          <a:bodyPr/>
          <a:lstStyle/>
          <a:p>
            <a:r>
              <a:rPr lang="en-IN" dirty="0"/>
              <a:t>Operand Evaluation Order</a:t>
            </a:r>
          </a:p>
        </p:txBody>
      </p:sp>
      <p:sp>
        <p:nvSpPr>
          <p:cNvPr id="13" name="Content Placeholder 12">
            <a:extLst>
              <a:ext uri="{FF2B5EF4-FFF2-40B4-BE49-F238E27FC236}">
                <a16:creationId xmlns:a16="http://schemas.microsoft.com/office/drawing/2014/main" id="{2537E8E5-54FA-4882-8677-0615E187D56C}"/>
              </a:ext>
            </a:extLst>
          </p:cNvPr>
          <p:cNvSpPr>
            <a:spLocks noGrp="1"/>
          </p:cNvSpPr>
          <p:nvPr>
            <p:ph sz="quarter" idx="13"/>
          </p:nvPr>
        </p:nvSpPr>
        <p:spPr/>
        <p:txBody>
          <a:bodyPr/>
          <a:lstStyle/>
          <a:p>
            <a:pPr marL="432" indent="0">
              <a:buNone/>
            </a:pPr>
            <a:r>
              <a:rPr lang="en-US" altLang="en-US" dirty="0">
                <a:cs typeface="Times New Roman" panose="02020603050405020304" pitchFamily="18" charset="0"/>
              </a:rPr>
              <a:t>Supplement III.A, “Advanced discussions on how an expression is evaluated in the J</a:t>
            </a:r>
            <a:r>
              <a:rPr lang="en-US" altLang="en-US" sz="100" dirty="0">
                <a:cs typeface="Times New Roman" panose="02020603050405020304" pitchFamily="18" charset="0"/>
              </a:rPr>
              <a:t> </a:t>
            </a:r>
            <a:r>
              <a:rPr lang="en-US" altLang="en-US" dirty="0">
                <a:cs typeface="Times New Roman" panose="02020603050405020304" pitchFamily="18" charset="0"/>
              </a:rPr>
              <a:t>V</a:t>
            </a:r>
            <a:r>
              <a:rPr lang="en-US" altLang="en-US" sz="100" dirty="0">
                <a:cs typeface="Times New Roman" panose="02020603050405020304" pitchFamily="18" charset="0"/>
              </a:rPr>
              <a:t> </a:t>
            </a:r>
            <a:r>
              <a:rPr lang="en-US" altLang="en-US" dirty="0">
                <a:cs typeface="Times New Roman" panose="02020603050405020304" pitchFamily="18" charset="0"/>
              </a:rPr>
              <a:t>M.”</a:t>
            </a:r>
          </a:p>
        </p:txBody>
      </p:sp>
    </p:spTree>
    <p:extLst>
      <p:ext uri="{BB962C8B-B14F-4D97-AF65-F5344CB8AC3E}">
        <p14:creationId xmlns:p14="http://schemas.microsoft.com/office/powerpoint/2010/main" val="4559064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A1D0B-0277-4C43-A57B-C7C5FF1B32CA}"/>
              </a:ext>
            </a:extLst>
          </p:cNvPr>
          <p:cNvSpPr>
            <a:spLocks noGrp="1"/>
          </p:cNvSpPr>
          <p:nvPr>
            <p:ph type="title"/>
          </p:nvPr>
        </p:nvSpPr>
        <p:spPr/>
        <p:txBody>
          <a:bodyPr/>
          <a:lstStyle/>
          <a:p>
            <a:r>
              <a:rPr lang="en-IN" dirty="0"/>
              <a:t>Debugging</a:t>
            </a:r>
          </a:p>
        </p:txBody>
      </p:sp>
      <p:sp>
        <p:nvSpPr>
          <p:cNvPr id="3" name="Content Placeholder 2">
            <a:extLst>
              <a:ext uri="{FF2B5EF4-FFF2-40B4-BE49-F238E27FC236}">
                <a16:creationId xmlns:a16="http://schemas.microsoft.com/office/drawing/2014/main" id="{39AEB16D-19B8-46AB-8DFC-186D9DFEDED3}"/>
              </a:ext>
            </a:extLst>
          </p:cNvPr>
          <p:cNvSpPr>
            <a:spLocks noGrp="1"/>
          </p:cNvSpPr>
          <p:nvPr>
            <p:ph sz="quarter" idx="13"/>
          </p:nvPr>
        </p:nvSpPr>
        <p:spPr/>
        <p:txBody>
          <a:bodyPr/>
          <a:lstStyle/>
          <a:p>
            <a:pPr marL="432" indent="0">
              <a:buNone/>
            </a:pPr>
            <a:r>
              <a:rPr lang="en-IN" dirty="0"/>
              <a:t>Logic errors are called </a:t>
            </a:r>
            <a:r>
              <a:rPr lang="en-IN" b="1" dirty="0"/>
              <a:t>bugs</a:t>
            </a:r>
            <a:r>
              <a:rPr lang="en-IN" dirty="0"/>
              <a:t>. The process of finding and correcting errors is called debugging. A common approach to debugging is to use a combination of methods to narrow down to the part of the program where the bug is located. You can hand-trace the program (i.e., catch errors by reading the program), or you can insert print statements in order to show the values of the variables or the execution flow of the program. This approach might work for a short, simple program. But for a large, complex program, the most effective approach for debugging is to use a debugger utility.</a:t>
            </a:r>
          </a:p>
        </p:txBody>
      </p:sp>
    </p:spTree>
    <p:extLst>
      <p:ext uri="{BB962C8B-B14F-4D97-AF65-F5344CB8AC3E}">
        <p14:creationId xmlns:p14="http://schemas.microsoft.com/office/powerpoint/2010/main" val="17600853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448E1-5E04-41DC-BDD2-B852C6A79C14}"/>
              </a:ext>
            </a:extLst>
          </p:cNvPr>
          <p:cNvSpPr>
            <a:spLocks noGrp="1"/>
          </p:cNvSpPr>
          <p:nvPr>
            <p:ph type="title"/>
          </p:nvPr>
        </p:nvSpPr>
        <p:spPr/>
        <p:txBody>
          <a:bodyPr/>
          <a:lstStyle/>
          <a:p>
            <a:r>
              <a:rPr lang="en-IN" dirty="0"/>
              <a:t>Debugger</a:t>
            </a:r>
          </a:p>
        </p:txBody>
      </p:sp>
      <p:sp>
        <p:nvSpPr>
          <p:cNvPr id="3" name="Content Placeholder 2">
            <a:extLst>
              <a:ext uri="{FF2B5EF4-FFF2-40B4-BE49-F238E27FC236}">
                <a16:creationId xmlns:a16="http://schemas.microsoft.com/office/drawing/2014/main" id="{331CAC8C-115C-43B6-BCB4-CA72CD94CDA4}"/>
              </a:ext>
            </a:extLst>
          </p:cNvPr>
          <p:cNvSpPr>
            <a:spLocks noGrp="1"/>
          </p:cNvSpPr>
          <p:nvPr>
            <p:ph sz="quarter" idx="13"/>
          </p:nvPr>
        </p:nvSpPr>
        <p:spPr/>
        <p:txBody>
          <a:bodyPr/>
          <a:lstStyle/>
          <a:p>
            <a:pPr marL="432" indent="0">
              <a:buNone/>
            </a:pPr>
            <a:r>
              <a:rPr lang="en-IN" dirty="0"/>
              <a:t>Debugger is a program that facilitates debugging. You can use a debugger to</a:t>
            </a:r>
          </a:p>
          <a:p>
            <a:r>
              <a:rPr lang="en-IN" dirty="0"/>
              <a:t>Execute a single statement at a time.</a:t>
            </a:r>
          </a:p>
          <a:p>
            <a:r>
              <a:rPr lang="en-IN" dirty="0"/>
              <a:t>Trace into or stepping over a method.</a:t>
            </a:r>
          </a:p>
          <a:p>
            <a:r>
              <a:rPr lang="en-IN" dirty="0"/>
              <a:t>Set breakpoints.</a:t>
            </a:r>
          </a:p>
          <a:p>
            <a:r>
              <a:rPr lang="en-IN" dirty="0"/>
              <a:t>Display variables.</a:t>
            </a:r>
          </a:p>
          <a:p>
            <a:r>
              <a:rPr lang="en-IN" dirty="0"/>
              <a:t>Display call stack.</a:t>
            </a:r>
          </a:p>
          <a:p>
            <a:r>
              <a:rPr lang="en-IN" dirty="0"/>
              <a:t>Modify variables.</a:t>
            </a:r>
          </a:p>
        </p:txBody>
      </p:sp>
    </p:spTree>
    <p:extLst>
      <p:ext uri="{BB962C8B-B14F-4D97-AF65-F5344CB8AC3E}">
        <p14:creationId xmlns:p14="http://schemas.microsoft.com/office/powerpoint/2010/main" val="37294250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73E73E-49E4-4845-8371-1BA709EE5139}"/>
              </a:ext>
            </a:extLst>
          </p:cNvPr>
          <p:cNvSpPr>
            <a:spLocks noGrp="1"/>
          </p:cNvSpPr>
          <p:nvPr>
            <p:ph type="title"/>
          </p:nvPr>
        </p:nvSpPr>
        <p:spPr/>
        <p:txBody>
          <a:bodyPr/>
          <a:lstStyle/>
          <a:p>
            <a:r>
              <a:rPr lang="en-IN" dirty="0"/>
              <a:t>Debugging in NetBeans</a:t>
            </a:r>
          </a:p>
        </p:txBody>
      </p:sp>
      <p:sp>
        <p:nvSpPr>
          <p:cNvPr id="10" name="Content Placeholder 9">
            <a:extLst>
              <a:ext uri="{FF2B5EF4-FFF2-40B4-BE49-F238E27FC236}">
                <a16:creationId xmlns:a16="http://schemas.microsoft.com/office/drawing/2014/main" id="{E9555A00-D111-4D9A-B4FE-7A9129B44179}"/>
              </a:ext>
            </a:extLst>
          </p:cNvPr>
          <p:cNvSpPr>
            <a:spLocks noGrp="1"/>
          </p:cNvSpPr>
          <p:nvPr>
            <p:ph sz="quarter" idx="13"/>
          </p:nvPr>
        </p:nvSpPr>
        <p:spPr>
          <a:xfrm>
            <a:off x="457200" y="1554920"/>
            <a:ext cx="8232775" cy="651251"/>
          </a:xfrm>
        </p:spPr>
        <p:txBody>
          <a:bodyPr/>
          <a:lstStyle/>
          <a:p>
            <a:pPr marL="432" indent="0">
              <a:buNone/>
            </a:pPr>
            <a:r>
              <a:rPr lang="en-US" altLang="en-US" dirty="0">
                <a:cs typeface="Times New Roman" panose="02020603050405020304" pitchFamily="18" charset="0"/>
              </a:rPr>
              <a:t>Supplement II.E, Learning Java Effectively with NetBeans</a:t>
            </a:r>
          </a:p>
        </p:txBody>
      </p:sp>
    </p:spTree>
    <p:extLst>
      <p:ext uri="{BB962C8B-B14F-4D97-AF65-F5344CB8AC3E}">
        <p14:creationId xmlns:p14="http://schemas.microsoft.com/office/powerpoint/2010/main" val="2978122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73E73E-49E4-4845-8371-1BA709EE5139}"/>
              </a:ext>
            </a:extLst>
          </p:cNvPr>
          <p:cNvSpPr>
            <a:spLocks noGrp="1"/>
          </p:cNvSpPr>
          <p:nvPr>
            <p:ph type="title"/>
          </p:nvPr>
        </p:nvSpPr>
        <p:spPr/>
        <p:txBody>
          <a:bodyPr/>
          <a:lstStyle/>
          <a:p>
            <a:r>
              <a:rPr lang="en-IN" dirty="0"/>
              <a:t>Debugging in Eclipse</a:t>
            </a:r>
          </a:p>
        </p:txBody>
      </p:sp>
      <p:sp>
        <p:nvSpPr>
          <p:cNvPr id="10" name="Content Placeholder 9">
            <a:extLst>
              <a:ext uri="{FF2B5EF4-FFF2-40B4-BE49-F238E27FC236}">
                <a16:creationId xmlns:a16="http://schemas.microsoft.com/office/drawing/2014/main" id="{B4822556-21D6-44C0-AF1C-E539980621D2}"/>
              </a:ext>
            </a:extLst>
          </p:cNvPr>
          <p:cNvSpPr>
            <a:spLocks noGrp="1"/>
          </p:cNvSpPr>
          <p:nvPr>
            <p:ph sz="quarter" idx="13"/>
          </p:nvPr>
        </p:nvSpPr>
        <p:spPr>
          <a:xfrm>
            <a:off x="457200" y="1554921"/>
            <a:ext cx="8232775" cy="897994"/>
          </a:xfrm>
        </p:spPr>
        <p:txBody>
          <a:bodyPr/>
          <a:lstStyle/>
          <a:p>
            <a:pPr marL="432" indent="0">
              <a:buNone/>
            </a:pPr>
            <a:r>
              <a:rPr lang="en-US" altLang="en-US" dirty="0">
                <a:cs typeface="Times New Roman" panose="02020603050405020304" pitchFamily="18" charset="0"/>
              </a:rPr>
              <a:t>Supplement II.G, Learning Java Effectively with Eclipse</a:t>
            </a:r>
          </a:p>
        </p:txBody>
      </p:sp>
    </p:spTree>
    <p:extLst>
      <p:ext uri="{BB962C8B-B14F-4D97-AF65-F5344CB8AC3E}">
        <p14:creationId xmlns:p14="http://schemas.microsoft.com/office/powerpoint/2010/main" val="4952898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Props1.xml><?xml version="1.0" encoding="utf-8"?>
<ds:datastoreItem xmlns:ds="http://schemas.openxmlformats.org/officeDocument/2006/customXml" ds:itemID="{4055B196-B820-4990-B993-15EA34C710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3C25696-744A-42BE-9CAD-E37A6B432F61}">
  <ds:schemaRefs>
    <ds:schemaRef ds:uri="http://schemas.microsoft.com/sharepoint/v3/contenttype/forms"/>
  </ds:schemaRefs>
</ds:datastoreItem>
</file>

<file path=customXml/itemProps3.xml><?xml version="1.0" encoding="utf-8"?>
<ds:datastoreItem xmlns:ds="http://schemas.openxmlformats.org/officeDocument/2006/customXml" ds:itemID="{36985D8D-5E6C-4B0E-8B5E-1D162B94079C}">
  <ds:schemaRefs>
    <ds:schemaRef ds:uri="2b22d00c-ba54-415e-ac47-142f0dfcf7e9"/>
    <ds:schemaRef ds:uri="http://schemas.microsoft.com/office/2006/documentManagement/types"/>
    <ds:schemaRef ds:uri="http://purl.org/dc/dcmitype/"/>
    <ds:schemaRef ds:uri="http://purl.org/dc/elements/1.1/"/>
    <ds:schemaRef ds:uri="http://schemas.microsoft.com/office/2006/metadata/properties"/>
    <ds:schemaRef ds:uri="bde507ab-19d9-42c9-b69f-59bb821f2f61"/>
    <ds:schemaRef ds:uri="http://purl.org/dc/term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146992</TotalTime>
  <Words>4381</Words>
  <Application>Microsoft Office PowerPoint</Application>
  <PresentationFormat>On-screen Show (4:3)</PresentationFormat>
  <Paragraphs>503</Paragraphs>
  <Slides>62</Slides>
  <Notes>21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62</vt:i4>
      </vt:variant>
    </vt:vector>
  </HeadingPairs>
  <TitlesOfParts>
    <vt:vector size="70" baseType="lpstr">
      <vt:lpstr>Arial</vt:lpstr>
      <vt:lpstr>Times New Roman</vt:lpstr>
      <vt:lpstr>Noto Sans Symbols</vt:lpstr>
      <vt:lpstr>Courier New</vt:lpstr>
      <vt:lpstr>Verdana</vt:lpstr>
      <vt:lpstr>USHE</vt:lpstr>
      <vt:lpstr>USHE_slide options</vt:lpstr>
      <vt:lpstr>Equation</vt:lpstr>
      <vt:lpstr>Introduction to Java Programming and Data Structures</vt:lpstr>
      <vt:lpstr>Motivations</vt:lpstr>
      <vt:lpstr>Objectives (1 of 2)</vt:lpstr>
      <vt:lpstr>Objectives (2 of 2)</vt:lpstr>
      <vt:lpstr>The boolean Type and Operators</vt:lpstr>
      <vt:lpstr>Relational Operators</vt:lpstr>
      <vt:lpstr>Problem: A Simple Math Learning Tool</vt:lpstr>
      <vt:lpstr>One-Way if Statements</vt:lpstr>
      <vt:lpstr>Note</vt:lpstr>
      <vt:lpstr>Simple if Demo</vt:lpstr>
      <vt:lpstr>The Two-Way if Statement</vt:lpstr>
      <vt:lpstr>if-else Example</vt:lpstr>
      <vt:lpstr>Multiple Alternative if Statements</vt:lpstr>
      <vt:lpstr>Multi-Way if-else Statements</vt:lpstr>
      <vt:lpstr>Trace if-else Statement (1 of 5)</vt:lpstr>
      <vt:lpstr>Trace if-else Statement (2 of 5)</vt:lpstr>
      <vt:lpstr>Trace if-else Statement (3 of 5)</vt:lpstr>
      <vt:lpstr>Trace if-else Statement (4 of 5)</vt:lpstr>
      <vt:lpstr>Trace if-else Statement (5 of 5)</vt:lpstr>
      <vt:lpstr>Note (1 of 2)</vt:lpstr>
      <vt:lpstr>Note (2 of 2)</vt:lpstr>
      <vt:lpstr>Common Errors</vt:lpstr>
      <vt:lpstr>TIP</vt:lpstr>
      <vt:lpstr>CAUTION</vt:lpstr>
      <vt:lpstr>Problem: An Improved Math Learning Tool</vt:lpstr>
      <vt:lpstr>Problem: Body Mass Index</vt:lpstr>
      <vt:lpstr>Problem: Computing Taxes (1 of 2)</vt:lpstr>
      <vt:lpstr>Problem: Computing Taxes (2 of 2)</vt:lpstr>
      <vt:lpstr>Logical Operators</vt:lpstr>
      <vt:lpstr>Truth Table for Operator !</vt:lpstr>
      <vt:lpstr>Truth Table for Operator &amp;&amp;</vt:lpstr>
      <vt:lpstr>Truth Table for Operator ||</vt:lpstr>
      <vt:lpstr>Truth Table for Operator ^</vt:lpstr>
      <vt:lpstr>Examples (1 of 2)</vt:lpstr>
      <vt:lpstr>Examples (2 of 2)</vt:lpstr>
      <vt:lpstr>The &amp; and | Operators (1 of 2)</vt:lpstr>
      <vt:lpstr>The &amp; and | Operators (2 of 2)</vt:lpstr>
      <vt:lpstr>Problem: Determining Leap Year?</vt:lpstr>
      <vt:lpstr>switch Statements</vt:lpstr>
      <vt:lpstr>switch Statement Flow Chart</vt:lpstr>
      <vt:lpstr>switch Statement Rules (1 of 2)</vt:lpstr>
      <vt:lpstr>switch Statement Rules (2 of 2)</vt:lpstr>
      <vt:lpstr>Trace switch Statement (1 of 7)</vt:lpstr>
      <vt:lpstr>Trace switch Statement (2 of 7)</vt:lpstr>
      <vt:lpstr>Trace switch Statement (3 of 7)</vt:lpstr>
      <vt:lpstr>Trace switch Statement (4 of 7)</vt:lpstr>
      <vt:lpstr>Trace switch Statement (5 of 7)</vt:lpstr>
      <vt:lpstr>Trace switch Statement (6 of 7)</vt:lpstr>
      <vt:lpstr>Trace switch Statement (7 of 7)</vt:lpstr>
      <vt:lpstr>Conditional Operators</vt:lpstr>
      <vt:lpstr>Conditional Operator (1 of 2)</vt:lpstr>
      <vt:lpstr>Conditional Operator (2 of 2)</vt:lpstr>
      <vt:lpstr>Operator Precedence</vt:lpstr>
      <vt:lpstr>Operator Precedence and Associativity</vt:lpstr>
      <vt:lpstr>Operator Associativity</vt:lpstr>
      <vt:lpstr>Example</vt:lpstr>
      <vt:lpstr>Operand Evaluation Order</vt:lpstr>
      <vt:lpstr>Debugging</vt:lpstr>
      <vt:lpstr>Debugger</vt:lpstr>
      <vt:lpstr>Debugging in NetBeans</vt:lpstr>
      <vt:lpstr>Debugging in Eclipse</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Twelfth Edition, Chapter 3, Selections</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عادل بن ابراهيم بن عبدالله بن سالم</cp:lastModifiedBy>
  <cp:revision>848</cp:revision>
  <dcterms:modified xsi:type="dcterms:W3CDTF">2023-12-10T06:50:44Z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